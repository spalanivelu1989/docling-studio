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42" Type="http://schemas.openxmlformats.org/officeDocument/2006/relationships/slide" Target="slides/slide37.xml"/><Relationship Id="rId21" Type="http://schemas.openxmlformats.org/officeDocument/2006/relationships/slide" Target="slides/slide16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63" Type="http://schemas.openxmlformats.org/officeDocument/2006/relationships/slide" Target="slides/slide58.xml"/><Relationship Id="rId107" Type="http://schemas.openxmlformats.org/officeDocument/2006/relationships/slide" Target="slides/slide102.xml"/><Relationship Id="rId32" Type="http://schemas.openxmlformats.org/officeDocument/2006/relationships/slide" Target="slides/slide27.xml"/><Relationship Id="rId128" Type="http://schemas.openxmlformats.org/officeDocument/2006/relationships/slide" Target="slides/slide123.xml"/><Relationship Id="rId11" Type="http://schemas.openxmlformats.org/officeDocument/2006/relationships/slide" Target="slides/slide6.xml"/><Relationship Id="rId149" Type="http://schemas.openxmlformats.org/officeDocument/2006/relationships/slide" Target="slides/slide144.xml"/><Relationship Id="rId74" Type="http://schemas.openxmlformats.org/officeDocument/2006/relationships/slide" Target="slides/slide69.xml"/><Relationship Id="rId53" Type="http://schemas.openxmlformats.org/officeDocument/2006/relationships/slide" Target="slides/slide48.xml"/><Relationship Id="rId95" Type="http://schemas.openxmlformats.org/officeDocument/2006/relationships/slide" Target="slides/slide90.xml"/><Relationship Id="rId5" Type="http://schemas.openxmlformats.org/officeDocument/2006/relationships/notesMaster" Target="notesMasters/notesMaster1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18" Type="http://schemas.openxmlformats.org/officeDocument/2006/relationships/slide" Target="slides/slide113.xml"/><Relationship Id="rId113" Type="http://schemas.openxmlformats.org/officeDocument/2006/relationships/slide" Target="slides/slide108.xml"/><Relationship Id="rId139" Type="http://schemas.openxmlformats.org/officeDocument/2006/relationships/slide" Target="slides/slide134.xml"/><Relationship Id="rId134" Type="http://schemas.openxmlformats.org/officeDocument/2006/relationships/slide" Target="slides/slide129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5" Type="http://schemas.openxmlformats.org/officeDocument/2006/relationships/slide" Target="slides/slide80.xml"/><Relationship Id="rId80" Type="http://schemas.openxmlformats.org/officeDocument/2006/relationships/slide" Target="slides/slide75.xml"/><Relationship Id="rId150" Type="http://schemas.openxmlformats.org/officeDocument/2006/relationships/customXml" Target="../customXml/item1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129" Type="http://schemas.openxmlformats.org/officeDocument/2006/relationships/slide" Target="slides/slide124.xml"/><Relationship Id="rId124" Type="http://schemas.openxmlformats.org/officeDocument/2006/relationships/slide" Target="slides/slide119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59" Type="http://schemas.openxmlformats.org/officeDocument/2006/relationships/slide" Target="slides/slide54.xml"/><Relationship Id="rId96" Type="http://schemas.openxmlformats.org/officeDocument/2006/relationships/slide" Target="slides/slide91.xml"/><Relationship Id="rId91" Type="http://schemas.openxmlformats.org/officeDocument/2006/relationships/slide" Target="slides/slide86.xml"/><Relationship Id="rId140" Type="http://schemas.openxmlformats.org/officeDocument/2006/relationships/slide" Target="slides/slide135.xml"/><Relationship Id="rId145" Type="http://schemas.openxmlformats.org/officeDocument/2006/relationships/slide" Target="slides/slide140.xml"/><Relationship Id="rId75" Type="http://schemas.openxmlformats.org/officeDocument/2006/relationships/slide" Target="slides/slide70.xml"/><Relationship Id="rId70" Type="http://schemas.openxmlformats.org/officeDocument/2006/relationships/slide" Target="slides/slide65.xml"/><Relationship Id="rId54" Type="http://schemas.openxmlformats.org/officeDocument/2006/relationships/slide" Target="slides/slide49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19" Type="http://schemas.openxmlformats.org/officeDocument/2006/relationships/slide" Target="slides/slide114.xml"/><Relationship Id="rId114" Type="http://schemas.openxmlformats.org/officeDocument/2006/relationships/slide" Target="slides/slide109.xml"/><Relationship Id="rId44" Type="http://schemas.openxmlformats.org/officeDocument/2006/relationships/slide" Target="slides/slide39.xml"/><Relationship Id="rId86" Type="http://schemas.openxmlformats.org/officeDocument/2006/relationships/slide" Target="slides/slide81.xml"/><Relationship Id="rId81" Type="http://schemas.openxmlformats.org/officeDocument/2006/relationships/slide" Target="slides/slide76.xml"/><Relationship Id="rId130" Type="http://schemas.openxmlformats.org/officeDocument/2006/relationships/slide" Target="slides/slide125.xml"/><Relationship Id="rId135" Type="http://schemas.openxmlformats.org/officeDocument/2006/relationships/slide" Target="slides/slide130.xml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151" Type="http://schemas.openxmlformats.org/officeDocument/2006/relationships/customXml" Target="../customXml/item2.xml"/><Relationship Id="rId109" Type="http://schemas.openxmlformats.org/officeDocument/2006/relationships/slide" Target="slides/slide10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104" Type="http://schemas.openxmlformats.org/officeDocument/2006/relationships/slide" Target="slides/slide99.xml"/><Relationship Id="rId34" Type="http://schemas.openxmlformats.org/officeDocument/2006/relationships/slide" Target="slides/slide2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97" Type="http://schemas.openxmlformats.org/officeDocument/2006/relationships/slide" Target="slides/slide92.xml"/><Relationship Id="rId141" Type="http://schemas.openxmlformats.org/officeDocument/2006/relationships/slide" Target="slides/slide136.xml"/><Relationship Id="rId146" Type="http://schemas.openxmlformats.org/officeDocument/2006/relationships/slide" Target="slides/slide141.xml"/><Relationship Id="rId76" Type="http://schemas.openxmlformats.org/officeDocument/2006/relationships/slide" Target="slides/slide71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92" Type="http://schemas.openxmlformats.org/officeDocument/2006/relationships/slide" Target="slides/slide87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9" Type="http://schemas.openxmlformats.org/officeDocument/2006/relationships/slide" Target="slides/slide24.xml"/><Relationship Id="rId2" Type="http://schemas.openxmlformats.org/officeDocument/2006/relationships/viewProps" Target="viewProps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24" Type="http://schemas.openxmlformats.org/officeDocument/2006/relationships/slide" Target="slides/slide19.xml"/><Relationship Id="rId115" Type="http://schemas.openxmlformats.org/officeDocument/2006/relationships/slide" Target="slides/slide110.xml"/><Relationship Id="rId110" Type="http://schemas.openxmlformats.org/officeDocument/2006/relationships/slide" Target="slides/slide105.xml"/><Relationship Id="rId87" Type="http://schemas.openxmlformats.org/officeDocument/2006/relationships/slide" Target="slides/slide82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66" Type="http://schemas.openxmlformats.org/officeDocument/2006/relationships/slide" Target="slides/slide61.xml"/><Relationship Id="rId82" Type="http://schemas.openxmlformats.org/officeDocument/2006/relationships/slide" Target="slides/slide77.xml"/><Relationship Id="rId61" Type="http://schemas.openxmlformats.org/officeDocument/2006/relationships/slide" Target="slides/slide56.xml"/><Relationship Id="rId152" Type="http://schemas.openxmlformats.org/officeDocument/2006/relationships/customXml" Target="../customXml/item3.xml"/><Relationship Id="rId19" Type="http://schemas.openxmlformats.org/officeDocument/2006/relationships/slide" Target="slides/slide14.xml"/><Relationship Id="rId105" Type="http://schemas.openxmlformats.org/officeDocument/2006/relationships/slide" Target="slides/slide100.xml"/><Relationship Id="rId100" Type="http://schemas.openxmlformats.org/officeDocument/2006/relationships/slide" Target="slides/slide95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126" Type="http://schemas.openxmlformats.org/officeDocument/2006/relationships/slide" Target="slides/slide121.xml"/><Relationship Id="rId14" Type="http://schemas.openxmlformats.org/officeDocument/2006/relationships/slide" Target="slides/slide9.xml"/><Relationship Id="rId147" Type="http://schemas.openxmlformats.org/officeDocument/2006/relationships/slide" Target="slides/slide142.xml"/><Relationship Id="rId77" Type="http://schemas.openxmlformats.org/officeDocument/2006/relationships/slide" Target="slides/slide72.xml"/><Relationship Id="rId56" Type="http://schemas.openxmlformats.org/officeDocument/2006/relationships/slide" Target="slides/slide51.xml"/><Relationship Id="rId121" Type="http://schemas.openxmlformats.org/officeDocument/2006/relationships/slide" Target="slides/slide116.xml"/><Relationship Id="rId98" Type="http://schemas.openxmlformats.org/officeDocument/2006/relationships/slide" Target="slides/slide93.xml"/><Relationship Id="rId93" Type="http://schemas.openxmlformats.org/officeDocument/2006/relationships/slide" Target="slides/slide88.xml"/><Relationship Id="rId142" Type="http://schemas.openxmlformats.org/officeDocument/2006/relationships/slide" Target="slides/slide137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25" Type="http://schemas.openxmlformats.org/officeDocument/2006/relationships/slide" Target="slides/slide20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67" Type="http://schemas.openxmlformats.org/officeDocument/2006/relationships/slide" Target="slides/slide6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111" Type="http://schemas.openxmlformats.org/officeDocument/2006/relationships/slide" Target="slides/slide106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32" Type="http://schemas.openxmlformats.org/officeDocument/2006/relationships/slide" Target="slides/slide127.xml"/><Relationship Id="rId62" Type="http://schemas.openxmlformats.org/officeDocument/2006/relationships/slide" Target="slides/slide57.xml"/><Relationship Id="rId106" Type="http://schemas.openxmlformats.org/officeDocument/2006/relationships/slide" Target="slides/slide101.xml"/><Relationship Id="rId36" Type="http://schemas.openxmlformats.org/officeDocument/2006/relationships/slide" Target="slides/slide31.xml"/><Relationship Id="rId127" Type="http://schemas.openxmlformats.org/officeDocument/2006/relationships/slide" Target="slides/slide122.xml"/><Relationship Id="rId15" Type="http://schemas.openxmlformats.org/officeDocument/2006/relationships/slide" Target="slides/slide10.xml"/><Relationship Id="rId57" Type="http://schemas.openxmlformats.org/officeDocument/2006/relationships/slide" Target="slides/slide52.xml"/><Relationship Id="rId101" Type="http://schemas.openxmlformats.org/officeDocument/2006/relationships/slide" Target="slides/slide96.xml"/><Relationship Id="rId31" Type="http://schemas.openxmlformats.org/officeDocument/2006/relationships/slide" Target="slides/slide26.xml"/><Relationship Id="rId122" Type="http://schemas.openxmlformats.org/officeDocument/2006/relationships/slide" Target="slides/slide117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148" Type="http://schemas.openxmlformats.org/officeDocument/2006/relationships/slide" Target="slides/slide143.xml"/><Relationship Id="rId143" Type="http://schemas.openxmlformats.org/officeDocument/2006/relationships/slide" Target="slides/slide138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52" Type="http://schemas.openxmlformats.org/officeDocument/2006/relationships/slide" Target="slides/slide4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112" Type="http://schemas.openxmlformats.org/officeDocument/2006/relationships/slide" Target="slides/slide107.xml"/><Relationship Id="rId89" Type="http://schemas.openxmlformats.org/officeDocument/2006/relationships/slide" Target="slides/slide84.xml"/><Relationship Id="rId133" Type="http://schemas.openxmlformats.org/officeDocument/2006/relationships/slide" Target="slides/slide12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02" Type="http://schemas.openxmlformats.org/officeDocument/2006/relationships/slide" Target="slides/slide97.xml"/><Relationship Id="rId37" Type="http://schemas.openxmlformats.org/officeDocument/2006/relationships/slide" Target="slides/slide32.xml"/><Relationship Id="rId123" Type="http://schemas.openxmlformats.org/officeDocument/2006/relationships/slide" Target="slides/slide118.xml"/><Relationship Id="rId144" Type="http://schemas.openxmlformats.org/officeDocument/2006/relationships/slide" Target="slides/slide139.xml"/><Relationship Id="rId79" Type="http://schemas.openxmlformats.org/officeDocument/2006/relationships/slide" Target="slides/slide74.xml"/><Relationship Id="rId58" Type="http://schemas.openxmlformats.org/officeDocument/2006/relationships/slide" Target="slides/slide53.xml"/><Relationship Id="rId90" Type="http://schemas.openxmlformats.org/officeDocument/2006/relationships/slide" Target="slides/slide8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a75b5ad5b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a75b5ad5b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75b5ad5b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a75b5ad5b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a75b5ad5b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a75b5ad5b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a75b5ad5b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a75b5ad5b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a75b5ad5b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a75b5ad5b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to put in celonis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a75b5ad5b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a75b5ad5b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a75b5ad5b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a75b5ad5b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306979daf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306979daf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3391b4c98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3391b4c98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ee21158f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ee21158f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3391b4c98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3391b4c98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df749efc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df749efc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a75b5ad5b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a75b5ad5b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3391b4c9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63391b4c9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EBR receives all the information from this process,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2740badb0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2740badb0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a75b5ad5b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a75b5ad5b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a75b5ad5b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a75b5ad5b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a75b5ad5b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6a75b5ad5b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a75b5ad5b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6a75b5ad5b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a75b5ad5b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6a75b5ad5b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a75b5ad5b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6a75b5ad5b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6a75b5ad5b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6a75b5ad5b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6a75b5ad5b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6a75b5ad5b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6a75b5ad5b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6a75b5ad5b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a75b5ad5b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6a75b5ad5b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6a75b5ad5b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6a75b5ad5b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6a75b5ad5b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6a75b5ad5b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6a75b5ad5b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6a75b5ad5b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6a75b5ad5b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6a75b5ad5b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6ee21158f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6ee21158f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6a75b5ad5b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6a75b5ad5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6a75b5ad5b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6a75b5ad5b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6a75b5ad5b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6a75b5ad5b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6a75b5ad5b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6a75b5ad5b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 cases for pack materials: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Automatic goods movement (is present)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EWM will post goods receipt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And the consumption if there are any ewm components present in the process order.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MES (libra) post confirmation + component details (goods issue) + goods receipt details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a75b5ad5b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6a75b5ad5b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6a75b5ad5b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6a75b5ad5b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6a75b5ad5b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6a75b5ad5b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6a75b5ad5b_0_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6a75b5ad5b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6a75b5ad5b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6a75b5ad5b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63391b4c98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63391b4c98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63391b4c98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63391b4c98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63391b4c9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63391b4c9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63391b4c98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63391b4c98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63391b4c98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63391b4c9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63391b4c9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63391b4c9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6a75b5ad5b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6a75b5ad5b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UD 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6a75b5ad5b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6a75b5ad5b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6a75b5ad5b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6a75b5ad5b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Rosignano peroxide: cobo bilance is external system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6a75b5ad5b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36a75b5ad5b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71d1865203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71d1865203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71d186520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71d186520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master, bom, bom comparison, resource, recipe, pv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71d1865203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371d186520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71d1865203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71d1865203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71d1865203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371d1865203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71d186520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71d186520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6a75b5ad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36a75b5ad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63391b4c98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363391b4c98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63391b4c98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363391b4c9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63391b4c98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363391b4c98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63391b4c9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363391b4c9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63391b4c98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363391b4c98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363391b4c98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363391b4c98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63391b4c98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363391b4c98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63391b4c98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363391b4c98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63391b4c98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363391b4c98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63391b4c98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363391b4c98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36a75b5ad5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36a75b5ad5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6a75b5ad5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36a75b5ad5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36a75b5ad5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36a75b5ad5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6a75b5ad5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6a75b5ad5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36a21a8d2b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36a21a8d2b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36a21a8d2b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36a21a8d2b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6a75b5ad5b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36a75b5ad5b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6ddb451d7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36ddb451d7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363391b4c98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363391b4c98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6a21a8d2b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36a21a8d2b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box for review (mmbe)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6a75b5ad5b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36a75b5ad5b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6a21a8d2b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36a21a8d2b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36a21a8d2b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36a21a8d2b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deleted?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36a21a8d2b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36a21a8d2b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deleted?</a:t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36a21a8d2b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36a21a8d2b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36a21a8d2b8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36a21a8d2b8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36a21a8d2b8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36a21a8d2b8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370446c2ce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370446c2ce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36a21a8d2b8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36a21a8d2b8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 because in previous flow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g36a21a8d2b8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9" name="Google Shape;1799;g36a21a8d2b8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363391b4c98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363391b4c98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to upload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363391b4c98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363391b4c98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36a21a8d2b8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36a21a8d2b8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 because merged into other flow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36a21a8d2b8_2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36a21a8d2b8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Qm usage decision QA11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derivation = ‘execute manual derivation app’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Goods receipt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order release 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36a75b5ad5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36a75b5ad5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363391b4c98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363391b4c98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363391b4c98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363391b4c98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363391b4c98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7" name="Google Shape;2037;g363391b4c98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363391b4c98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363391b4c98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36a75b5ad5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36a75b5ad5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36a75b5ad5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36a75b5ad5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36a75b5ad5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36a75b5ad5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36a75b5ad5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36a75b5ad5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g36a75b5ad5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36a75b5ad5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6a75b5ad5b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8" name="Google Shape;2298;g36a75b5ad5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g36a75b5ad5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9" name="Google Shape;2309;g36a75b5ad5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g36a75b5ad5b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7" name="Google Shape;2327;g36a75b5ad5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confirmed.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g36a75b5ad5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8" name="Google Shape;2338;g36a75b5ad5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g36a75b5ad5b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4" name="Google Shape;2374;g36a75b5ad5b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g36a75b5ad5b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6" name="Google Shape;2386;g36a75b5ad5b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g36a75b5ad5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0" name="Google Shape;2400;g36a75b5ad5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g36a75b5ad5b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4" name="Google Shape;2424;g36a75b5ad5b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g36a75b5ad5b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1" name="Google Shape;2431;g36a75b5ad5b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g36a75b5ad5b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6" name="Google Shape;2456;g36a75b5ad5b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36a75b5ad5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36a75b5ad5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2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g36a75b5ad5b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4" name="Google Shape;2494;g36a75b5ad5b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g371781f47e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0" name="Google Shape;2500;g371781f47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3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g363391b4c98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5" name="Google Shape;2545;g363391b4c98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g371c6fe76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1" name="Google Shape;2581;g371c6fe76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g36ddb451d7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9" name="Google Shape;2629;g36ddb451d7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LIMS activated for that material then record results in LIMS, if not then SAP (QA32 or manage inspection lots) 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g36a75b5ad5b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6" name="Google Shape;2656;g36a75b5ad5b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Is it created at order release?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If yes hen order release step (placeholder)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If not under release then what i have now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If after release applicable to lims then add lims flow</a:t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g363391b4c98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0" name="Google Shape;2680;g363391b4c98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4" name="Shape 2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Google Shape;2685;g363391b4c98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6" name="Google Shape;2686;g363391b4c98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8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g363391b4c98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0" name="Google Shape;2710;g363391b4c98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4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Google Shape;2745;g363391b4c9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6" name="Google Shape;2746;g363391b4c9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g36a191735c8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9" name="Google Shape;2789;g36a191735c8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g36a191735c8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5" name="Google Shape;2795;g36a191735c8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g36a191735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9" name="Google Shape;2849;g36a191735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g36a191735c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4" name="Google Shape;2934;g36a191735c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6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g36a191735c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8" name="Google Shape;2958;g36a191735c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5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g36977bb7ab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7" name="Google Shape;3037;g36977bb7ab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5" name="Shape 3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Google Shape;3076;g36a191735c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7" name="Google Shape;3077;g36a191735c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9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g36a191735c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1" name="Google Shape;3121;g36a191735c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7" name="Shape 3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Google Shape;3168;g36a191735c8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9" name="Google Shape;3169;g36a191735c8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7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Google Shape;3208;g36a191735c8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9" name="Google Shape;3209;g36a191735c8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1" name="Shape 3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2" name="Google Shape;3232;g36a191735c8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3" name="Google Shape;3233;g36a191735c8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</a:t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5" name="Shape 3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" name="Google Shape;3246;g36a191735c8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7" name="Google Shape;3247;g36a191735c8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Google Shape;3292;g36a191735c8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3" name="Google Shape;3293;g36a191735c8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4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g36a191735c8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6" name="Google Shape;3306;g36a191735c8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g36a191735c8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0" name="Google Shape;3330;g36a191735c8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2" name="Shape 3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3" name="Google Shape;3383;g36a191735c8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4" name="Google Shape;3384;g36a191735c8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it for quality</a:t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5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g36a191735c8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7" name="Google Shape;3427;g36a191735c8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9" name="Shape 3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0" name="Google Shape;3470;g36a191735c8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1" name="Google Shape;3471;g36a191735c8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5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g363391b4c98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7" name="Google Shape;3477;g363391b4c9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0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363391b4c98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2" name="Google Shape;3522;g363391b4c98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g36a191735c8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8" name="Google Shape;3528;g36a191735c8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2" name="Shape 3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Google Shape;3603;g36b283a73b5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4" name="Google Shape;3604;g36b283a73b5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2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7.1.1 Manage BOM Inventory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M-090-010: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Check for Material Availability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Supervisor - Process Manufacturing</a:t>
            </a:r>
            <a:endParaRPr sz="1520"/>
          </a:p>
        </p:txBody>
      </p:sp>
      <p:sp>
        <p:nvSpPr>
          <p:cNvPr id="61" name="Google Shape;61;p14"/>
          <p:cNvSpPr/>
          <p:nvPr/>
        </p:nvSpPr>
        <p:spPr>
          <a:xfrm>
            <a:off x="151900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check material availability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8159600" y="2202000"/>
            <a:ext cx="8778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Material Availability is checked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63" name="Google Shape;63;p14"/>
          <p:cNvCxnSpPr>
            <a:stCxn id="61" idx="6"/>
            <a:endCxn id="64" idx="1"/>
          </p:cNvCxnSpPr>
          <p:nvPr/>
        </p:nvCxnSpPr>
        <p:spPr>
          <a:xfrm>
            <a:off x="967900" y="2571750"/>
            <a:ext cx="222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4"/>
          <p:cNvCxnSpPr>
            <a:stCxn id="64" idx="3"/>
            <a:endCxn id="66" idx="1"/>
          </p:cNvCxnSpPr>
          <p:nvPr/>
        </p:nvCxnSpPr>
        <p:spPr>
          <a:xfrm>
            <a:off x="4256212" y="2571750"/>
            <a:ext cx="9708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" name="Google Shape;64;p14"/>
          <p:cNvSpPr/>
          <p:nvPr/>
        </p:nvSpPr>
        <p:spPr>
          <a:xfrm>
            <a:off x="3189712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check material availability (Automatic)</a:t>
            </a:r>
            <a:endParaRPr sz="900"/>
          </a:p>
        </p:txBody>
      </p:sp>
      <p:sp>
        <p:nvSpPr>
          <p:cNvPr id="67" name="Google Shape;67;p14"/>
          <p:cNvSpPr/>
          <p:nvPr/>
        </p:nvSpPr>
        <p:spPr>
          <a:xfrm>
            <a:off x="1262249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create process order</a:t>
            </a:r>
            <a:endParaRPr sz="900"/>
          </a:p>
        </p:txBody>
      </p:sp>
      <p:sp>
        <p:nvSpPr>
          <p:cNvPr id="68" name="Google Shape;68;p14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69" name="Google Shape;69;p14"/>
          <p:cNvSpPr/>
          <p:nvPr/>
        </p:nvSpPr>
        <p:spPr>
          <a:xfrm>
            <a:off x="2448588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2554964" y="23719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4458088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564464" y="23719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3189712" y="3230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check material availability (Collective) (Automatic)</a:t>
            </a:r>
            <a:endParaRPr sz="900"/>
          </a:p>
        </p:txBody>
      </p:sp>
      <p:cxnSp>
        <p:nvCxnSpPr>
          <p:cNvPr id="74" name="Google Shape;74;p14"/>
          <p:cNvCxnSpPr>
            <a:stCxn id="69" idx="2"/>
            <a:endCxn id="73" idx="1"/>
          </p:cNvCxnSpPr>
          <p:nvPr/>
        </p:nvCxnSpPr>
        <p:spPr>
          <a:xfrm flipH="1" rot="-5400000">
            <a:off x="2635338" y="3010206"/>
            <a:ext cx="658800" cy="449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4"/>
          <p:cNvCxnSpPr>
            <a:stCxn id="73" idx="3"/>
            <a:endCxn id="71" idx="2"/>
          </p:cNvCxnSpPr>
          <p:nvPr/>
        </p:nvCxnSpPr>
        <p:spPr>
          <a:xfrm flipH="1" rot="10800000">
            <a:off x="4256212" y="2905800"/>
            <a:ext cx="493200" cy="658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p14"/>
          <p:cNvSpPr txBox="1"/>
          <p:nvPr/>
        </p:nvSpPr>
        <p:spPr>
          <a:xfrm>
            <a:off x="2886625" y="1719700"/>
            <a:ext cx="983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One Material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448600" y="3643750"/>
            <a:ext cx="983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multiple Material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5226888" y="22473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5333264" y="23813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6713913" y="22473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6820289" y="23813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5920004" y="1449200"/>
            <a:ext cx="71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Expedite missing materials</a:t>
            </a:r>
            <a:endParaRPr sz="900"/>
          </a:p>
        </p:txBody>
      </p:sp>
      <p:cxnSp>
        <p:nvCxnSpPr>
          <p:cNvPr id="83" name="Google Shape;83;p14"/>
          <p:cNvCxnSpPr>
            <a:stCxn id="66" idx="0"/>
            <a:endCxn id="82" idx="1"/>
          </p:cNvCxnSpPr>
          <p:nvPr/>
        </p:nvCxnSpPr>
        <p:spPr>
          <a:xfrm rot="-5400000">
            <a:off x="5486988" y="1814431"/>
            <a:ext cx="464100" cy="401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4"/>
          <p:cNvCxnSpPr>
            <a:stCxn id="82" idx="3"/>
            <a:endCxn id="80" idx="0"/>
          </p:cNvCxnSpPr>
          <p:nvPr/>
        </p:nvCxnSpPr>
        <p:spPr>
          <a:xfrm>
            <a:off x="6637304" y="1783100"/>
            <a:ext cx="367800" cy="464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4"/>
          <p:cNvCxnSpPr>
            <a:stCxn id="66" idx="3"/>
            <a:endCxn id="80" idx="1"/>
          </p:cNvCxnSpPr>
          <p:nvPr/>
        </p:nvCxnSpPr>
        <p:spPr>
          <a:xfrm>
            <a:off x="5809488" y="2581231"/>
            <a:ext cx="90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4"/>
          <p:cNvCxnSpPr>
            <a:stCxn id="80" idx="3"/>
            <a:endCxn id="62" idx="2"/>
          </p:cNvCxnSpPr>
          <p:nvPr/>
        </p:nvCxnSpPr>
        <p:spPr>
          <a:xfrm flipH="1" rot="10800000">
            <a:off x="7296513" y="2571631"/>
            <a:ext cx="8631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4"/>
          <p:cNvSpPr txBox="1"/>
          <p:nvPr/>
        </p:nvSpPr>
        <p:spPr>
          <a:xfrm>
            <a:off x="4606475" y="1449200"/>
            <a:ext cx="11430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Missing parts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5699838" y="2781000"/>
            <a:ext cx="11430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No Missing parts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M-090-040: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Expedite missing materials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Supervisor - Process Manufacturing</a:t>
            </a:r>
            <a:endParaRPr sz="1520"/>
          </a:p>
        </p:txBody>
      </p:sp>
      <p:sp>
        <p:nvSpPr>
          <p:cNvPr id="94" name="Google Shape;94;p15"/>
          <p:cNvSpPr/>
          <p:nvPr/>
        </p:nvSpPr>
        <p:spPr>
          <a:xfrm>
            <a:off x="1691625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Parts are missing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7935100" y="22378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missing materials expedited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2885199" y="22378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missing material</a:t>
            </a:r>
            <a:endParaRPr sz="900"/>
          </a:p>
        </p:txBody>
      </p:sp>
      <p:cxnSp>
        <p:nvCxnSpPr>
          <p:cNvPr id="97" name="Google Shape;97;p15"/>
          <p:cNvCxnSpPr>
            <a:stCxn id="94" idx="6"/>
            <a:endCxn id="96" idx="1"/>
          </p:cNvCxnSpPr>
          <p:nvPr/>
        </p:nvCxnSpPr>
        <p:spPr>
          <a:xfrm>
            <a:off x="2507625" y="2571750"/>
            <a:ext cx="37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5"/>
          <p:cNvCxnSpPr>
            <a:stCxn id="96" idx="3"/>
            <a:endCxn id="99" idx="1"/>
          </p:cNvCxnSpPr>
          <p:nvPr/>
        </p:nvCxnSpPr>
        <p:spPr>
          <a:xfrm>
            <a:off x="3951699" y="2571725"/>
            <a:ext cx="50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5"/>
          <p:cNvCxnSpPr>
            <a:stCxn id="99" idx="3"/>
            <a:endCxn id="95" idx="2"/>
          </p:cNvCxnSpPr>
          <p:nvPr/>
        </p:nvCxnSpPr>
        <p:spPr>
          <a:xfrm>
            <a:off x="6666100" y="2607600"/>
            <a:ext cx="126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5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02" name="Google Shape;102;p15"/>
          <p:cNvSpPr/>
          <p:nvPr/>
        </p:nvSpPr>
        <p:spPr>
          <a:xfrm>
            <a:off x="2815625" y="18735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Monitor product availability</a:t>
            </a:r>
            <a:endParaRPr sz="1000"/>
          </a:p>
        </p:txBody>
      </p:sp>
      <p:sp>
        <p:nvSpPr>
          <p:cNvPr id="103" name="Google Shape;103;p15"/>
          <p:cNvSpPr/>
          <p:nvPr/>
        </p:nvSpPr>
        <p:spPr>
          <a:xfrm>
            <a:off x="5223249" y="14079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Purchase Order</a:t>
            </a:r>
            <a:endParaRPr sz="900"/>
          </a:p>
        </p:txBody>
      </p:sp>
      <p:sp>
        <p:nvSpPr>
          <p:cNvPr id="104" name="Google Shape;104;p15"/>
          <p:cNvSpPr/>
          <p:nvPr/>
        </p:nvSpPr>
        <p:spPr>
          <a:xfrm>
            <a:off x="5175550" y="10070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Purchase Order</a:t>
            </a:r>
            <a:endParaRPr sz="1000"/>
          </a:p>
        </p:txBody>
      </p:sp>
      <p:sp>
        <p:nvSpPr>
          <p:cNvPr id="105" name="Google Shape;105;p15"/>
          <p:cNvSpPr/>
          <p:nvPr/>
        </p:nvSpPr>
        <p:spPr>
          <a:xfrm>
            <a:off x="4227888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4334264" y="23719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577913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6684289" y="23719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223262" y="22250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Stock Transport Order</a:t>
            </a:r>
            <a:endParaRPr sz="900"/>
          </a:p>
        </p:txBody>
      </p:sp>
      <p:sp>
        <p:nvSpPr>
          <p:cNvPr id="110" name="Google Shape;110;p15"/>
          <p:cNvSpPr/>
          <p:nvPr/>
        </p:nvSpPr>
        <p:spPr>
          <a:xfrm>
            <a:off x="5223262" y="30951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Process Order</a:t>
            </a:r>
            <a:endParaRPr sz="900"/>
          </a:p>
        </p:txBody>
      </p:sp>
      <p:sp>
        <p:nvSpPr>
          <p:cNvPr id="111" name="Google Shape;111;p15"/>
          <p:cNvSpPr/>
          <p:nvPr/>
        </p:nvSpPr>
        <p:spPr>
          <a:xfrm>
            <a:off x="5175550" y="20510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Purchase Order</a:t>
            </a:r>
            <a:endParaRPr sz="1000"/>
          </a:p>
        </p:txBody>
      </p:sp>
      <p:sp>
        <p:nvSpPr>
          <p:cNvPr id="112" name="Google Shape;112;p15"/>
          <p:cNvSpPr/>
          <p:nvPr/>
        </p:nvSpPr>
        <p:spPr>
          <a:xfrm>
            <a:off x="5223250" y="29709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Process Order</a:t>
            </a:r>
            <a:endParaRPr sz="1000"/>
          </a:p>
        </p:txBody>
      </p:sp>
      <p:sp>
        <p:nvSpPr>
          <p:cNvPr id="113" name="Google Shape;113;p1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cxnSp>
        <p:nvCxnSpPr>
          <p:cNvPr id="114" name="Google Shape;114;p15"/>
          <p:cNvCxnSpPr>
            <a:stCxn id="105" idx="0"/>
            <a:endCxn id="103" idx="1"/>
          </p:cNvCxnSpPr>
          <p:nvPr/>
        </p:nvCxnSpPr>
        <p:spPr>
          <a:xfrm rot="-5400000">
            <a:off x="4623288" y="1637856"/>
            <a:ext cx="495900" cy="704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5"/>
          <p:cNvCxnSpPr>
            <a:stCxn id="105" idx="2"/>
            <a:endCxn id="110" idx="1"/>
          </p:cNvCxnSpPr>
          <p:nvPr/>
        </p:nvCxnSpPr>
        <p:spPr>
          <a:xfrm flipH="1" rot="-5400000">
            <a:off x="4609488" y="2815356"/>
            <a:ext cx="523500" cy="704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5"/>
          <p:cNvCxnSpPr>
            <a:stCxn id="110" idx="3"/>
            <a:endCxn id="107" idx="2"/>
          </p:cNvCxnSpPr>
          <p:nvPr/>
        </p:nvCxnSpPr>
        <p:spPr>
          <a:xfrm flipH="1" rot="10800000">
            <a:off x="6289762" y="2905525"/>
            <a:ext cx="579600" cy="523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5"/>
          <p:cNvCxnSpPr>
            <a:stCxn id="103" idx="3"/>
            <a:endCxn id="107" idx="0"/>
          </p:cNvCxnSpPr>
          <p:nvPr/>
        </p:nvCxnSpPr>
        <p:spPr>
          <a:xfrm>
            <a:off x="6289749" y="1741875"/>
            <a:ext cx="579600" cy="49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5"/>
          <p:cNvCxnSpPr>
            <a:stCxn id="105" idx="3"/>
            <a:endCxn id="109" idx="1"/>
          </p:cNvCxnSpPr>
          <p:nvPr/>
        </p:nvCxnSpPr>
        <p:spPr>
          <a:xfrm flipH="1" rot="10800000">
            <a:off x="4810488" y="2558856"/>
            <a:ext cx="4128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5"/>
          <p:cNvCxnSpPr>
            <a:stCxn id="109" idx="3"/>
            <a:endCxn id="107" idx="1"/>
          </p:cNvCxnSpPr>
          <p:nvPr/>
        </p:nvCxnSpPr>
        <p:spPr>
          <a:xfrm>
            <a:off x="6289762" y="2558925"/>
            <a:ext cx="2883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M-090-090: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Schedule Consumable Material Requirements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Supervisor - Process Manufacturing</a:t>
            </a:r>
            <a:endParaRPr sz="1520"/>
          </a:p>
        </p:txBody>
      </p:sp>
      <p:sp>
        <p:nvSpPr>
          <p:cNvPr id="125" name="Google Shape;125;p16"/>
          <p:cNvSpPr/>
          <p:nvPr/>
        </p:nvSpPr>
        <p:spPr>
          <a:xfrm>
            <a:off x="2785563" y="23592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schedule consumable material requirements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480938" y="23886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consumable material requirements scheduled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27" name="Google Shape;127;p16"/>
          <p:cNvCxnSpPr>
            <a:stCxn id="125" idx="6"/>
            <a:endCxn id="128" idx="1"/>
          </p:cNvCxnSpPr>
          <p:nvPr/>
        </p:nvCxnSpPr>
        <p:spPr>
          <a:xfrm>
            <a:off x="3601563" y="2758350"/>
            <a:ext cx="33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6"/>
          <p:cNvSpPr/>
          <p:nvPr/>
        </p:nvSpPr>
        <p:spPr>
          <a:xfrm>
            <a:off x="3935962" y="24244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Purchase Requisition</a:t>
            </a:r>
            <a:endParaRPr sz="900"/>
          </a:p>
        </p:txBody>
      </p:sp>
      <p:cxnSp>
        <p:nvCxnSpPr>
          <p:cNvPr id="129" name="Google Shape;129;p16"/>
          <p:cNvCxnSpPr>
            <a:stCxn id="128" idx="3"/>
            <a:endCxn id="126" idx="2"/>
          </p:cNvCxnSpPr>
          <p:nvPr/>
        </p:nvCxnSpPr>
        <p:spPr>
          <a:xfrm>
            <a:off x="5002462" y="2758350"/>
            <a:ext cx="4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6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31" name="Google Shape;131;p16"/>
          <p:cNvSpPr/>
          <p:nvPr/>
        </p:nvSpPr>
        <p:spPr>
          <a:xfrm>
            <a:off x="3888250" y="32194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Purchase Requisition</a:t>
            </a:r>
            <a:endParaRPr sz="1000"/>
          </a:p>
        </p:txBody>
      </p:sp>
      <p:sp>
        <p:nvSpPr>
          <p:cNvPr id="132" name="Google Shape;132;p16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138" name="Google Shape;138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7.1.10 Waste Management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Scrap management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44" name="Google Shape;144;p18"/>
          <p:cNvSpPr/>
          <p:nvPr/>
        </p:nvSpPr>
        <p:spPr>
          <a:xfrm>
            <a:off x="479375" y="17340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Need to scrap stock after quality inspection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7439275" y="17634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Stock Scrapped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47" name="Google Shape;147;p18"/>
          <p:cNvSpPr/>
          <p:nvPr/>
        </p:nvSpPr>
        <p:spPr>
          <a:xfrm>
            <a:off x="1503762" y="17992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the stock that needs to be scrapped</a:t>
            </a:r>
            <a:endParaRPr sz="900"/>
          </a:p>
        </p:txBody>
      </p:sp>
      <p:sp>
        <p:nvSpPr>
          <p:cNvPr id="148" name="Google Shape;148;p18"/>
          <p:cNvSpPr/>
          <p:nvPr/>
        </p:nvSpPr>
        <p:spPr>
          <a:xfrm>
            <a:off x="2812437" y="17992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Select the amount of stock to be scrapped</a:t>
            </a:r>
            <a:endParaRPr sz="900"/>
          </a:p>
        </p:txBody>
      </p:sp>
      <p:sp>
        <p:nvSpPr>
          <p:cNvPr id="149" name="Google Shape;149;p18"/>
          <p:cNvSpPr/>
          <p:nvPr/>
        </p:nvSpPr>
        <p:spPr>
          <a:xfrm>
            <a:off x="4121112" y="17992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Select cost center</a:t>
            </a:r>
            <a:endParaRPr sz="900"/>
          </a:p>
        </p:txBody>
      </p:sp>
      <p:sp>
        <p:nvSpPr>
          <p:cNvPr id="150" name="Google Shape;150;p18"/>
          <p:cNvSpPr/>
          <p:nvPr/>
        </p:nvSpPr>
        <p:spPr>
          <a:xfrm>
            <a:off x="5780187" y="17992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the scrap movement</a:t>
            </a:r>
            <a:endParaRPr sz="900"/>
          </a:p>
        </p:txBody>
      </p:sp>
      <p:cxnSp>
        <p:nvCxnSpPr>
          <p:cNvPr id="151" name="Google Shape;151;p18"/>
          <p:cNvCxnSpPr>
            <a:stCxn id="144" idx="6"/>
            <a:endCxn id="147" idx="1"/>
          </p:cNvCxnSpPr>
          <p:nvPr/>
        </p:nvCxnSpPr>
        <p:spPr>
          <a:xfrm>
            <a:off x="1295375" y="2133150"/>
            <a:ext cx="20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8"/>
          <p:cNvCxnSpPr>
            <a:stCxn id="147" idx="3"/>
            <a:endCxn id="148" idx="1"/>
          </p:cNvCxnSpPr>
          <p:nvPr/>
        </p:nvCxnSpPr>
        <p:spPr>
          <a:xfrm>
            <a:off x="2570262" y="2133150"/>
            <a:ext cx="2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8"/>
          <p:cNvCxnSpPr>
            <a:stCxn id="148" idx="3"/>
            <a:endCxn id="149" idx="1"/>
          </p:cNvCxnSpPr>
          <p:nvPr/>
        </p:nvCxnSpPr>
        <p:spPr>
          <a:xfrm>
            <a:off x="3878937" y="2133150"/>
            <a:ext cx="2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8"/>
          <p:cNvCxnSpPr>
            <a:stCxn id="149" idx="3"/>
            <a:endCxn id="150" idx="1"/>
          </p:cNvCxnSpPr>
          <p:nvPr/>
        </p:nvCxnSpPr>
        <p:spPr>
          <a:xfrm>
            <a:off x="5187612" y="2133150"/>
            <a:ext cx="59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8"/>
          <p:cNvCxnSpPr>
            <a:stCxn id="150" idx="3"/>
            <a:endCxn id="145" idx="2"/>
          </p:cNvCxnSpPr>
          <p:nvPr/>
        </p:nvCxnSpPr>
        <p:spPr>
          <a:xfrm>
            <a:off x="6846687" y="2133150"/>
            <a:ext cx="59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18"/>
          <p:cNvSpPr/>
          <p:nvPr/>
        </p:nvSpPr>
        <p:spPr>
          <a:xfrm>
            <a:off x="2778625" y="2445900"/>
            <a:ext cx="4250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stock</a:t>
            </a:r>
            <a:endParaRPr sz="1000"/>
          </a:p>
        </p:txBody>
      </p:sp>
      <p:sp>
        <p:nvSpPr>
          <p:cNvPr id="157" name="Google Shape;157;p18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163" name="Google Shape;16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7.1.11 Material quantities </a:t>
            </a:r>
            <a:r>
              <a:rPr lang="en"/>
              <a:t>reconciliation</a:t>
            </a:r>
            <a:r>
              <a:rPr lang="en"/>
              <a:t> (end of month closing)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M-100-060: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Correct the errors in goods movement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169" name="Google Shape;169;p20"/>
          <p:cNvSpPr/>
          <p:nvPr/>
        </p:nvSpPr>
        <p:spPr>
          <a:xfrm>
            <a:off x="1493175" y="22659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correct </a:t>
            </a:r>
            <a:r>
              <a:rPr lang="en" sz="600">
                <a:solidFill>
                  <a:schemeClr val="dk1"/>
                </a:solidFill>
              </a:rPr>
              <a:t>errors in goods movement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923575" y="22953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errors in goods movement corrected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71" name="Google Shape;171;p20"/>
          <p:cNvCxnSpPr>
            <a:stCxn id="169" idx="6"/>
            <a:endCxn id="172" idx="1"/>
          </p:cNvCxnSpPr>
          <p:nvPr/>
        </p:nvCxnSpPr>
        <p:spPr>
          <a:xfrm>
            <a:off x="2309175" y="2665050"/>
            <a:ext cx="6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0"/>
          <p:cNvCxnSpPr>
            <a:stCxn id="172" idx="3"/>
            <a:endCxn id="174" idx="1"/>
          </p:cNvCxnSpPr>
          <p:nvPr/>
        </p:nvCxnSpPr>
        <p:spPr>
          <a:xfrm>
            <a:off x="4001674" y="2665050"/>
            <a:ext cx="9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20"/>
          <p:cNvSpPr/>
          <p:nvPr/>
        </p:nvSpPr>
        <p:spPr>
          <a:xfrm>
            <a:off x="2935174" y="23311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Correct Errors in goods movement</a:t>
            </a:r>
            <a:endParaRPr sz="900"/>
          </a:p>
        </p:txBody>
      </p:sp>
      <p:sp>
        <p:nvSpPr>
          <p:cNvPr id="174" name="Google Shape;174;p20"/>
          <p:cNvSpPr/>
          <p:nvPr/>
        </p:nvSpPr>
        <p:spPr>
          <a:xfrm>
            <a:off x="4975024" y="23311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Reprocess materials</a:t>
            </a:r>
            <a:endParaRPr sz="900"/>
          </a:p>
        </p:txBody>
      </p:sp>
      <p:cxnSp>
        <p:nvCxnSpPr>
          <p:cNvPr id="175" name="Google Shape;175;p20"/>
          <p:cNvCxnSpPr>
            <a:stCxn id="174" idx="3"/>
            <a:endCxn id="170" idx="2"/>
          </p:cNvCxnSpPr>
          <p:nvPr/>
        </p:nvCxnSpPr>
        <p:spPr>
          <a:xfrm>
            <a:off x="6041524" y="2665050"/>
            <a:ext cx="88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0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77" name="Google Shape;177;p20"/>
          <p:cNvSpPr/>
          <p:nvPr/>
        </p:nvSpPr>
        <p:spPr>
          <a:xfrm>
            <a:off x="2887475" y="30948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COGI</a:t>
            </a:r>
            <a:endParaRPr sz="1000"/>
          </a:p>
        </p:txBody>
      </p:sp>
      <p:sp>
        <p:nvSpPr>
          <p:cNvPr id="178" name="Google Shape;178;p20"/>
          <p:cNvSpPr/>
          <p:nvPr/>
        </p:nvSpPr>
        <p:spPr>
          <a:xfrm>
            <a:off x="4927325" y="30948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179" name="Google Shape;179;p2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185" name="Google Shape;185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7.1.12 Repetitive Manufacturing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22"/>
          <p:cNvCxnSpPr>
            <a:stCxn id="191" idx="3"/>
            <a:endCxn id="192" idx="1"/>
          </p:cNvCxnSpPr>
          <p:nvPr/>
        </p:nvCxnSpPr>
        <p:spPr>
          <a:xfrm flipH="1" rot="10800000">
            <a:off x="966313" y="4380281"/>
            <a:ext cx="3038100" cy="5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2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M-XXX-XXX: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Staging/ stock transfers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194" name="Google Shape;194;p22"/>
          <p:cNvSpPr/>
          <p:nvPr/>
        </p:nvSpPr>
        <p:spPr>
          <a:xfrm>
            <a:off x="194275" y="22795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Planned Orders Received from OMP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7238075" y="40106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Staging Completed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1513337" y="2480963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Staging Request initiated</a:t>
            </a:r>
            <a:endParaRPr sz="900"/>
          </a:p>
        </p:txBody>
      </p:sp>
      <p:sp>
        <p:nvSpPr>
          <p:cNvPr id="197" name="Google Shape;197;p22"/>
          <p:cNvSpPr/>
          <p:nvPr/>
        </p:nvSpPr>
        <p:spPr>
          <a:xfrm>
            <a:off x="1513338" y="3184613"/>
            <a:ext cx="1028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PULL LIST</a:t>
            </a:r>
            <a:endParaRPr sz="1000"/>
          </a:p>
        </p:txBody>
      </p:sp>
      <p:sp>
        <p:nvSpPr>
          <p:cNvPr id="198" name="Google Shape;198;p22"/>
          <p:cNvSpPr/>
          <p:nvPr/>
        </p:nvSpPr>
        <p:spPr>
          <a:xfrm>
            <a:off x="4299475" y="2132075"/>
            <a:ext cx="1066500" cy="10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Outbound delivery created and material Staged to Production Storage Location</a:t>
            </a:r>
            <a:endParaRPr sz="900"/>
          </a:p>
        </p:txBody>
      </p:sp>
      <p:sp>
        <p:nvSpPr>
          <p:cNvPr id="199" name="Google Shape;199;p22"/>
          <p:cNvSpPr/>
          <p:nvPr/>
        </p:nvSpPr>
        <p:spPr>
          <a:xfrm>
            <a:off x="3172688" y="23503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3279201" y="24894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5504013" y="23503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610389" y="24844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" name="Google Shape;203;p22"/>
          <p:cNvCxnSpPr>
            <a:stCxn id="196" idx="3"/>
            <a:endCxn id="199" idx="1"/>
          </p:cNvCxnSpPr>
          <p:nvPr/>
        </p:nvCxnSpPr>
        <p:spPr>
          <a:xfrm flipH="1" rot="10800000">
            <a:off x="2579837" y="2684363"/>
            <a:ext cx="592800" cy="1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2"/>
          <p:cNvCxnSpPr>
            <a:stCxn id="199" idx="3"/>
            <a:endCxn id="198" idx="1"/>
          </p:cNvCxnSpPr>
          <p:nvPr/>
        </p:nvCxnSpPr>
        <p:spPr>
          <a:xfrm flipH="1" rot="10800000">
            <a:off x="3755288" y="2678581"/>
            <a:ext cx="5442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2"/>
          <p:cNvCxnSpPr>
            <a:stCxn id="199" idx="2"/>
            <a:endCxn id="201" idx="2"/>
          </p:cNvCxnSpPr>
          <p:nvPr/>
        </p:nvCxnSpPr>
        <p:spPr>
          <a:xfrm flipH="1" rot="-5400000">
            <a:off x="4629338" y="1852831"/>
            <a:ext cx="600" cy="2331300"/>
          </a:xfrm>
          <a:prstGeom prst="bentConnector3">
            <a:avLst>
              <a:gd fmla="val 6116567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2"/>
          <p:cNvSpPr txBox="1"/>
          <p:nvPr/>
        </p:nvSpPr>
        <p:spPr>
          <a:xfrm>
            <a:off x="3528238" y="2291338"/>
            <a:ext cx="833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EWM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517175" y="3026325"/>
            <a:ext cx="833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IM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004524" y="40465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Stock Transport Posting</a:t>
            </a:r>
            <a:endParaRPr sz="900"/>
          </a:p>
        </p:txBody>
      </p:sp>
      <p:cxnSp>
        <p:nvCxnSpPr>
          <p:cNvPr id="208" name="Google Shape;208;p22"/>
          <p:cNvCxnSpPr>
            <a:stCxn id="201" idx="3"/>
            <a:endCxn id="191" idx="0"/>
          </p:cNvCxnSpPr>
          <p:nvPr/>
        </p:nvCxnSpPr>
        <p:spPr>
          <a:xfrm flipH="1">
            <a:off x="674913" y="2684281"/>
            <a:ext cx="5411700" cy="1413000"/>
          </a:xfrm>
          <a:prstGeom prst="bentConnector4">
            <a:avLst>
              <a:gd fmla="val -52906" name="adj1"/>
              <a:gd fmla="val 6181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2"/>
          <p:cNvSpPr/>
          <p:nvPr/>
        </p:nvSpPr>
        <p:spPr>
          <a:xfrm>
            <a:off x="5545149" y="40465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Physical Material Movement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cxnSp>
        <p:nvCxnSpPr>
          <p:cNvPr id="210" name="Google Shape;210;p22"/>
          <p:cNvCxnSpPr>
            <a:stCxn id="192" idx="3"/>
            <a:endCxn id="209" idx="1"/>
          </p:cNvCxnSpPr>
          <p:nvPr/>
        </p:nvCxnSpPr>
        <p:spPr>
          <a:xfrm>
            <a:off x="5071024" y="4380400"/>
            <a:ext cx="4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2"/>
          <p:cNvCxnSpPr>
            <a:endCxn id="195" idx="2"/>
          </p:cNvCxnSpPr>
          <p:nvPr/>
        </p:nvCxnSpPr>
        <p:spPr>
          <a:xfrm>
            <a:off x="6611675" y="4380400"/>
            <a:ext cx="6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2"/>
          <p:cNvCxnSpPr>
            <a:stCxn id="198" idx="3"/>
            <a:endCxn id="201" idx="1"/>
          </p:cNvCxnSpPr>
          <p:nvPr/>
        </p:nvCxnSpPr>
        <p:spPr>
          <a:xfrm>
            <a:off x="5365975" y="2678675"/>
            <a:ext cx="1380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2"/>
          <p:cNvSpPr/>
          <p:nvPr/>
        </p:nvSpPr>
        <p:spPr>
          <a:xfrm>
            <a:off x="4023575" y="4600200"/>
            <a:ext cx="1028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PULL LIST</a:t>
            </a:r>
            <a:endParaRPr sz="1000"/>
          </a:p>
        </p:txBody>
      </p:sp>
      <p:sp>
        <p:nvSpPr>
          <p:cNvPr id="214" name="Google Shape;214;p22"/>
          <p:cNvSpPr/>
          <p:nvPr/>
        </p:nvSpPr>
        <p:spPr>
          <a:xfrm>
            <a:off x="7764549" y="23948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Create Replenishment Proposal</a:t>
            </a:r>
            <a:endParaRPr sz="900"/>
          </a:p>
        </p:txBody>
      </p:sp>
      <p:sp>
        <p:nvSpPr>
          <p:cNvPr id="215" name="Google Shape;215;p22"/>
          <p:cNvSpPr/>
          <p:nvPr/>
        </p:nvSpPr>
        <p:spPr>
          <a:xfrm>
            <a:off x="7783600" y="3062625"/>
            <a:ext cx="1028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PULL LIST</a:t>
            </a:r>
            <a:endParaRPr sz="1000"/>
          </a:p>
        </p:txBody>
      </p:sp>
      <p:sp>
        <p:nvSpPr>
          <p:cNvPr id="216" name="Google Shape;216;p22"/>
          <p:cNvSpPr/>
          <p:nvPr/>
        </p:nvSpPr>
        <p:spPr>
          <a:xfrm>
            <a:off x="6443274" y="23751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Determine Quantity</a:t>
            </a:r>
            <a:endParaRPr sz="900"/>
          </a:p>
        </p:txBody>
      </p:sp>
      <p:sp>
        <p:nvSpPr>
          <p:cNvPr id="191" name="Google Shape;191;p22"/>
          <p:cNvSpPr/>
          <p:nvPr/>
        </p:nvSpPr>
        <p:spPr>
          <a:xfrm>
            <a:off x="383713" y="40973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490226" y="42364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3023588" y="40465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3130101" y="41855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1408462" y="40515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Batch Determination</a:t>
            </a:r>
            <a:endParaRPr sz="900"/>
          </a:p>
        </p:txBody>
      </p:sp>
      <p:cxnSp>
        <p:nvCxnSpPr>
          <p:cNvPr id="221" name="Google Shape;221;p22"/>
          <p:cNvCxnSpPr>
            <a:stCxn id="191" idx="2"/>
            <a:endCxn id="218" idx="2"/>
          </p:cNvCxnSpPr>
          <p:nvPr/>
        </p:nvCxnSpPr>
        <p:spPr>
          <a:xfrm rot="-5400000">
            <a:off x="1969513" y="3419681"/>
            <a:ext cx="51000" cy="2640000"/>
          </a:xfrm>
          <a:prstGeom prst="bentConnector3">
            <a:avLst>
              <a:gd fmla="val -46691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2"/>
          <p:cNvSpPr txBox="1"/>
          <p:nvPr/>
        </p:nvSpPr>
        <p:spPr>
          <a:xfrm>
            <a:off x="743925" y="4010650"/>
            <a:ext cx="833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IM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743925" y="4636075"/>
            <a:ext cx="833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EWM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1494312" y="16411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Send planned orders to MES</a:t>
            </a:r>
            <a:endParaRPr sz="900"/>
          </a:p>
        </p:txBody>
      </p:sp>
      <p:sp>
        <p:nvSpPr>
          <p:cNvPr id="226" name="Google Shape;226;p22"/>
          <p:cNvSpPr/>
          <p:nvPr/>
        </p:nvSpPr>
        <p:spPr>
          <a:xfrm>
            <a:off x="1494312" y="7594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Send label printing to external tool.</a:t>
            </a:r>
            <a:endParaRPr sz="900"/>
          </a:p>
        </p:txBody>
      </p:sp>
      <p:sp>
        <p:nvSpPr>
          <p:cNvPr id="227" name="Google Shape;227;p22"/>
          <p:cNvSpPr/>
          <p:nvPr/>
        </p:nvSpPr>
        <p:spPr>
          <a:xfrm>
            <a:off x="966321" y="1643764"/>
            <a:ext cx="369600" cy="423600"/>
          </a:xfrm>
          <a:prstGeom prst="diamond">
            <a:avLst/>
          </a:prstGeom>
          <a:solidFill>
            <a:schemeClr val="lt2"/>
          </a:solidFill>
          <a:ln cap="flat" cmpd="sng" w="6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00" lIns="58000" spcFirstLastPara="1" rIns="58000" wrap="square" tIns="5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8"/>
          </a:p>
        </p:txBody>
      </p:sp>
      <p:sp>
        <p:nvSpPr>
          <p:cNvPr id="228" name="Google Shape;228;p22"/>
          <p:cNvSpPr/>
          <p:nvPr/>
        </p:nvSpPr>
        <p:spPr>
          <a:xfrm rot="-2522825">
            <a:off x="1033889" y="1731955"/>
            <a:ext cx="234718" cy="253627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6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00" lIns="58000" spcFirstLastPara="1" rIns="58000" wrap="square" tIns="5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8"/>
          </a:p>
        </p:txBody>
      </p:sp>
      <p:sp>
        <p:nvSpPr>
          <p:cNvPr id="229" name="Google Shape;229;p22"/>
          <p:cNvSpPr/>
          <p:nvPr/>
        </p:nvSpPr>
        <p:spPr>
          <a:xfrm>
            <a:off x="4373575" y="72357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Labeling request sent to printing tool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2829887" y="7594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Event: </a:t>
            </a:r>
            <a:r>
              <a:rPr lang="en" sz="900"/>
              <a:t>label printing </a:t>
            </a:r>
            <a:r>
              <a:rPr lang="en" sz="900"/>
              <a:t>received</a:t>
            </a:r>
            <a:r>
              <a:rPr lang="en" sz="900"/>
              <a:t> to external tool.</a:t>
            </a:r>
            <a:endParaRPr sz="900"/>
          </a:p>
        </p:txBody>
      </p:sp>
      <p:sp>
        <p:nvSpPr>
          <p:cNvPr id="231" name="Google Shape;231;p22"/>
          <p:cNvSpPr/>
          <p:nvPr/>
        </p:nvSpPr>
        <p:spPr>
          <a:xfrm>
            <a:off x="2829887" y="1554888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Event: </a:t>
            </a:r>
            <a:r>
              <a:rPr lang="en" sz="900"/>
              <a:t>planned orders received in MES</a:t>
            </a:r>
            <a:endParaRPr sz="900"/>
          </a:p>
        </p:txBody>
      </p:sp>
      <p:sp>
        <p:nvSpPr>
          <p:cNvPr id="232" name="Google Shape;232;p22"/>
          <p:cNvSpPr/>
          <p:nvPr/>
        </p:nvSpPr>
        <p:spPr>
          <a:xfrm>
            <a:off x="4373575" y="139257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Planned orders sent to MES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33" name="Google Shape;233;p22"/>
          <p:cNvCxnSpPr>
            <a:stCxn id="194" idx="0"/>
            <a:endCxn id="227" idx="1"/>
          </p:cNvCxnSpPr>
          <p:nvPr/>
        </p:nvCxnSpPr>
        <p:spPr>
          <a:xfrm rot="-5400000">
            <a:off x="572275" y="1885625"/>
            <a:ext cx="423900" cy="36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2"/>
          <p:cNvCxnSpPr>
            <a:stCxn id="227" idx="0"/>
            <a:endCxn id="226" idx="1"/>
          </p:cNvCxnSpPr>
          <p:nvPr/>
        </p:nvCxnSpPr>
        <p:spPr>
          <a:xfrm rot="-5400000">
            <a:off x="1047471" y="1196914"/>
            <a:ext cx="550500" cy="343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2"/>
          <p:cNvCxnSpPr>
            <a:stCxn id="227" idx="2"/>
            <a:endCxn id="196" idx="1"/>
          </p:cNvCxnSpPr>
          <p:nvPr/>
        </p:nvCxnSpPr>
        <p:spPr>
          <a:xfrm flipH="1" rot="-5400000">
            <a:off x="958371" y="2260114"/>
            <a:ext cx="747600" cy="362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2"/>
          <p:cNvCxnSpPr>
            <a:stCxn id="227" idx="3"/>
            <a:endCxn id="225" idx="1"/>
          </p:cNvCxnSpPr>
          <p:nvPr/>
        </p:nvCxnSpPr>
        <p:spPr>
          <a:xfrm>
            <a:off x="1335921" y="1855564"/>
            <a:ext cx="158400" cy="1194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2"/>
          <p:cNvCxnSpPr>
            <a:stCxn id="226" idx="3"/>
            <a:endCxn id="230" idx="1"/>
          </p:cNvCxnSpPr>
          <p:nvPr/>
        </p:nvCxnSpPr>
        <p:spPr>
          <a:xfrm>
            <a:off x="2560812" y="1093325"/>
            <a:ext cx="26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2"/>
          <p:cNvCxnSpPr>
            <a:stCxn id="225" idx="3"/>
            <a:endCxn id="231" idx="1"/>
          </p:cNvCxnSpPr>
          <p:nvPr/>
        </p:nvCxnSpPr>
        <p:spPr>
          <a:xfrm flipH="1" rot="10800000">
            <a:off x="2560812" y="1888925"/>
            <a:ext cx="269100" cy="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22"/>
          <p:cNvCxnSpPr>
            <a:stCxn id="231" idx="3"/>
            <a:endCxn id="232" idx="2"/>
          </p:cNvCxnSpPr>
          <p:nvPr/>
        </p:nvCxnSpPr>
        <p:spPr>
          <a:xfrm flipH="1" rot="10800000">
            <a:off x="3896387" y="1762188"/>
            <a:ext cx="477300" cy="12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22"/>
          <p:cNvCxnSpPr>
            <a:stCxn id="230" idx="3"/>
            <a:endCxn id="229" idx="2"/>
          </p:cNvCxnSpPr>
          <p:nvPr/>
        </p:nvCxnSpPr>
        <p:spPr>
          <a:xfrm>
            <a:off x="3896387" y="1093325"/>
            <a:ext cx="47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M-XXX-XXX: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Batch determination In Repetitive Manufacturing 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246" name="Google Shape;246;p23"/>
          <p:cNvSpPr/>
          <p:nvPr/>
        </p:nvSpPr>
        <p:spPr>
          <a:xfrm>
            <a:off x="138400" y="13115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Replenishment proposal received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47" name="Google Shape;247;p23"/>
          <p:cNvCxnSpPr>
            <a:stCxn id="246" idx="6"/>
            <a:endCxn id="248" idx="1"/>
          </p:cNvCxnSpPr>
          <p:nvPr/>
        </p:nvCxnSpPr>
        <p:spPr>
          <a:xfrm>
            <a:off x="954400" y="1710700"/>
            <a:ext cx="211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23"/>
          <p:cNvCxnSpPr/>
          <p:nvPr/>
        </p:nvCxnSpPr>
        <p:spPr>
          <a:xfrm>
            <a:off x="5778412" y="1710700"/>
            <a:ext cx="4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23"/>
          <p:cNvSpPr/>
          <p:nvPr/>
        </p:nvSpPr>
        <p:spPr>
          <a:xfrm>
            <a:off x="3055875" y="1311550"/>
            <a:ext cx="10665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Automatic Batch Selection for Component</a:t>
            </a:r>
            <a:endParaRPr sz="900"/>
          </a:p>
        </p:txBody>
      </p:sp>
      <p:sp>
        <p:nvSpPr>
          <p:cNvPr id="251" name="Google Shape;251;p23"/>
          <p:cNvSpPr/>
          <p:nvPr/>
        </p:nvSpPr>
        <p:spPr>
          <a:xfrm>
            <a:off x="6271050" y="13115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Batch Determination completed 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1159613" y="13768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177163" y="13768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1266126" y="1510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283676" y="1510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3055875" y="2408075"/>
            <a:ext cx="10665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Select Batch for Component</a:t>
            </a:r>
            <a:endParaRPr sz="900"/>
          </a:p>
        </p:txBody>
      </p:sp>
      <p:cxnSp>
        <p:nvCxnSpPr>
          <p:cNvPr id="257" name="Google Shape;257;p23"/>
          <p:cNvCxnSpPr>
            <a:stCxn id="250" idx="3"/>
            <a:endCxn id="253" idx="1"/>
          </p:cNvCxnSpPr>
          <p:nvPr/>
        </p:nvCxnSpPr>
        <p:spPr>
          <a:xfrm>
            <a:off x="4122375" y="1710700"/>
            <a:ext cx="105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3"/>
          <p:cNvCxnSpPr>
            <a:stCxn id="252" idx="2"/>
            <a:endCxn id="256" idx="1"/>
          </p:cNvCxnSpPr>
          <p:nvPr/>
        </p:nvCxnSpPr>
        <p:spPr>
          <a:xfrm flipH="1" rot="-5400000">
            <a:off x="1872113" y="1623406"/>
            <a:ext cx="762600" cy="1605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23"/>
          <p:cNvSpPr/>
          <p:nvPr/>
        </p:nvSpPr>
        <p:spPr>
          <a:xfrm>
            <a:off x="3055875" y="3118600"/>
            <a:ext cx="1028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PULL LIST</a:t>
            </a:r>
            <a:endParaRPr sz="1000"/>
          </a:p>
        </p:txBody>
      </p:sp>
      <p:cxnSp>
        <p:nvCxnSpPr>
          <p:cNvPr id="260" name="Google Shape;260;p23"/>
          <p:cNvCxnSpPr>
            <a:stCxn id="256" idx="3"/>
            <a:endCxn id="253" idx="2"/>
          </p:cNvCxnSpPr>
          <p:nvPr/>
        </p:nvCxnSpPr>
        <p:spPr>
          <a:xfrm flipH="1" rot="10800000">
            <a:off x="4122375" y="2044625"/>
            <a:ext cx="1346100" cy="762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2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M-XXX-XXX: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Production Declaration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267" name="Google Shape;267;p24"/>
          <p:cNvSpPr/>
          <p:nvPr/>
        </p:nvSpPr>
        <p:spPr>
          <a:xfrm>
            <a:off x="311600" y="12305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declare  production for IM materials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68" name="Google Shape;268;p24"/>
          <p:cNvCxnSpPr>
            <a:stCxn id="267" idx="6"/>
            <a:endCxn id="269" idx="1"/>
          </p:cNvCxnSpPr>
          <p:nvPr/>
        </p:nvCxnSpPr>
        <p:spPr>
          <a:xfrm>
            <a:off x="1127600" y="1629700"/>
            <a:ext cx="116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4"/>
          <p:cNvSpPr/>
          <p:nvPr/>
        </p:nvSpPr>
        <p:spPr>
          <a:xfrm>
            <a:off x="2291387" y="1295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Production Execution on shop floor</a:t>
            </a:r>
            <a:endParaRPr sz="900"/>
          </a:p>
        </p:txBody>
      </p:sp>
      <p:cxnSp>
        <p:nvCxnSpPr>
          <p:cNvPr id="270" name="Google Shape;270;p24"/>
          <p:cNvCxnSpPr>
            <a:stCxn id="271" idx="3"/>
            <a:endCxn id="272" idx="1"/>
          </p:cNvCxnSpPr>
          <p:nvPr/>
        </p:nvCxnSpPr>
        <p:spPr>
          <a:xfrm>
            <a:off x="4852849" y="1629700"/>
            <a:ext cx="1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24"/>
          <p:cNvSpPr/>
          <p:nvPr/>
        </p:nvSpPr>
        <p:spPr>
          <a:xfrm>
            <a:off x="6818125" y="4120125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mes? Which one later defined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3498250" y="1230550"/>
            <a:ext cx="1066500" cy="102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Confirmation, production declaration, backflush in mes</a:t>
            </a:r>
            <a:endParaRPr sz="900"/>
          </a:p>
        </p:txBody>
      </p:sp>
      <p:sp>
        <p:nvSpPr>
          <p:cNvPr id="275" name="Google Shape;275;p24"/>
          <p:cNvSpPr/>
          <p:nvPr/>
        </p:nvSpPr>
        <p:spPr>
          <a:xfrm>
            <a:off x="4665462" y="1295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these details to sap as a request</a:t>
            </a:r>
            <a:endParaRPr sz="900"/>
          </a:p>
        </p:txBody>
      </p:sp>
      <p:sp>
        <p:nvSpPr>
          <p:cNvPr id="276" name="Google Shape;276;p24"/>
          <p:cNvSpPr/>
          <p:nvPr/>
        </p:nvSpPr>
        <p:spPr>
          <a:xfrm>
            <a:off x="7039549" y="13284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 sap the posting is done</a:t>
            </a:r>
            <a:endParaRPr sz="900"/>
          </a:p>
        </p:txBody>
      </p:sp>
      <p:sp>
        <p:nvSpPr>
          <p:cNvPr id="277" name="Google Shape;277;p24"/>
          <p:cNvSpPr/>
          <p:nvPr/>
        </p:nvSpPr>
        <p:spPr>
          <a:xfrm>
            <a:off x="7058600" y="1963600"/>
            <a:ext cx="1028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MFBF</a:t>
            </a:r>
            <a:endParaRPr sz="1000"/>
          </a:p>
        </p:txBody>
      </p:sp>
      <p:sp>
        <p:nvSpPr>
          <p:cNvPr id="278" name="Google Shape;278;p24"/>
          <p:cNvSpPr/>
          <p:nvPr/>
        </p:nvSpPr>
        <p:spPr>
          <a:xfrm>
            <a:off x="5852499" y="1295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details received in sap</a:t>
            </a:r>
            <a:endParaRPr sz="900"/>
          </a:p>
        </p:txBody>
      </p:sp>
      <p:sp>
        <p:nvSpPr>
          <p:cNvPr id="279" name="Google Shape;279;p24"/>
          <p:cNvSpPr/>
          <p:nvPr/>
        </p:nvSpPr>
        <p:spPr>
          <a:xfrm>
            <a:off x="8328000" y="12632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Batch Production Declared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M-XXX-XXX: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Reconciliation and Error Correction Process Flow (Repetitive Manufacturing in SAP)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286" name="Google Shape;286;p25"/>
          <p:cNvSpPr/>
          <p:nvPr/>
        </p:nvSpPr>
        <p:spPr>
          <a:xfrm>
            <a:off x="311600" y="12305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reconcile and Correct </a:t>
            </a:r>
            <a:r>
              <a:rPr lang="en" sz="600">
                <a:solidFill>
                  <a:schemeClr val="dk1"/>
                </a:solidFill>
              </a:rPr>
              <a:t>Errors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2958399" y="1295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Identify Discrepancies or Errors</a:t>
            </a:r>
            <a:endParaRPr sz="900"/>
          </a:p>
        </p:txBody>
      </p:sp>
      <p:sp>
        <p:nvSpPr>
          <p:cNvPr id="288" name="Google Shape;288;p25"/>
          <p:cNvSpPr/>
          <p:nvPr/>
        </p:nvSpPr>
        <p:spPr>
          <a:xfrm>
            <a:off x="2838250" y="1947750"/>
            <a:ext cx="1453500" cy="404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Reprocess REM Goods Movement</a:t>
            </a:r>
            <a:endParaRPr sz="1000"/>
          </a:p>
        </p:txBody>
      </p:sp>
      <p:sp>
        <p:nvSpPr>
          <p:cNvPr id="289" name="Google Shape;289;p25"/>
          <p:cNvSpPr/>
          <p:nvPr/>
        </p:nvSpPr>
        <p:spPr>
          <a:xfrm>
            <a:off x="4617524" y="1295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Analyze Root Cause of Errors</a:t>
            </a:r>
            <a:r>
              <a:rPr lang="en" sz="900"/>
              <a:t>t</a:t>
            </a:r>
            <a:endParaRPr sz="900"/>
          </a:p>
        </p:txBody>
      </p:sp>
      <p:sp>
        <p:nvSpPr>
          <p:cNvPr id="290" name="Google Shape;290;p25"/>
          <p:cNvSpPr/>
          <p:nvPr/>
        </p:nvSpPr>
        <p:spPr>
          <a:xfrm>
            <a:off x="6417974" y="1295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Correct Errors in SAP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cxnSp>
        <p:nvCxnSpPr>
          <p:cNvPr id="291" name="Google Shape;291;p25"/>
          <p:cNvCxnSpPr>
            <a:stCxn id="286" idx="6"/>
            <a:endCxn id="287" idx="1"/>
          </p:cNvCxnSpPr>
          <p:nvPr/>
        </p:nvCxnSpPr>
        <p:spPr>
          <a:xfrm>
            <a:off x="1127600" y="1629700"/>
            <a:ext cx="183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25"/>
          <p:cNvSpPr/>
          <p:nvPr/>
        </p:nvSpPr>
        <p:spPr>
          <a:xfrm>
            <a:off x="7920875" y="12305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</a:t>
            </a:r>
            <a:r>
              <a:rPr lang="en" sz="600">
                <a:solidFill>
                  <a:schemeClr val="dk1"/>
                </a:solidFill>
              </a:rPr>
              <a:t>Reconciliation and error Correction Executed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93" name="Google Shape;293;p25"/>
          <p:cNvCxnSpPr>
            <a:stCxn id="290" idx="3"/>
            <a:endCxn id="292" idx="2"/>
          </p:cNvCxnSpPr>
          <p:nvPr/>
        </p:nvCxnSpPr>
        <p:spPr>
          <a:xfrm>
            <a:off x="7484474" y="1629700"/>
            <a:ext cx="436500" cy="600"/>
          </a:xfrm>
          <a:prstGeom prst="bentConnector3">
            <a:avLst>
              <a:gd fmla="val 499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25"/>
          <p:cNvSpPr/>
          <p:nvPr/>
        </p:nvSpPr>
        <p:spPr>
          <a:xfrm>
            <a:off x="4407050" y="1947738"/>
            <a:ext cx="1453500" cy="404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Reprocess REM Goods Movement</a:t>
            </a:r>
            <a:endParaRPr sz="1000"/>
          </a:p>
        </p:txBody>
      </p:sp>
      <p:cxnSp>
        <p:nvCxnSpPr>
          <p:cNvPr id="295" name="Google Shape;295;p25"/>
          <p:cNvCxnSpPr>
            <a:stCxn id="287" idx="3"/>
            <a:endCxn id="289" idx="1"/>
          </p:cNvCxnSpPr>
          <p:nvPr/>
        </p:nvCxnSpPr>
        <p:spPr>
          <a:xfrm>
            <a:off x="4024899" y="1629700"/>
            <a:ext cx="59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2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cxnSp>
        <p:nvCxnSpPr>
          <p:cNvPr id="297" name="Google Shape;297;p25"/>
          <p:cNvCxnSpPr>
            <a:stCxn id="289" idx="3"/>
            <a:endCxn id="290" idx="1"/>
          </p:cNvCxnSpPr>
          <p:nvPr/>
        </p:nvCxnSpPr>
        <p:spPr>
          <a:xfrm>
            <a:off x="5684024" y="1629700"/>
            <a:ext cx="7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303" name="Google Shape;303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7.1.4 Execution of operations plan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" name="Google Shape;308;p27"/>
          <p:cNvCxnSpPr>
            <a:stCxn id="309" idx="6"/>
            <a:endCxn id="310" idx="2"/>
          </p:cNvCxnSpPr>
          <p:nvPr/>
        </p:nvCxnSpPr>
        <p:spPr>
          <a:xfrm>
            <a:off x="1162225" y="2213525"/>
            <a:ext cx="668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" name="Google Shape;311;p27"/>
          <p:cNvSpPr txBox="1"/>
          <p:nvPr>
            <p:ph type="title"/>
          </p:nvPr>
        </p:nvSpPr>
        <p:spPr>
          <a:xfrm>
            <a:off x="0" y="0"/>
            <a:ext cx="85206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Process Instruction Record (EBR)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/>
          </a:p>
        </p:txBody>
      </p:sp>
      <p:sp>
        <p:nvSpPr>
          <p:cNvPr id="312" name="Google Shape;312;p27"/>
          <p:cNvSpPr/>
          <p:nvPr/>
        </p:nvSpPr>
        <p:spPr>
          <a:xfrm>
            <a:off x="60600" y="47729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09" name="Google Shape;309;p27"/>
          <p:cNvSpPr/>
          <p:nvPr/>
        </p:nvSpPr>
        <p:spPr>
          <a:xfrm>
            <a:off x="346225" y="181437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process instruction record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1328324" y="18796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process order released</a:t>
            </a:r>
            <a:endParaRPr sz="900"/>
          </a:p>
        </p:txBody>
      </p:sp>
      <p:sp>
        <p:nvSpPr>
          <p:cNvPr id="314" name="Google Shape;314;p27"/>
          <p:cNvSpPr/>
          <p:nvPr/>
        </p:nvSpPr>
        <p:spPr>
          <a:xfrm>
            <a:off x="2560924" y="18796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PI Sheets</a:t>
            </a:r>
            <a:endParaRPr sz="900"/>
          </a:p>
        </p:txBody>
      </p:sp>
      <p:sp>
        <p:nvSpPr>
          <p:cNvPr id="315" name="Google Shape;315;p27"/>
          <p:cNvSpPr/>
          <p:nvPr/>
        </p:nvSpPr>
        <p:spPr>
          <a:xfrm>
            <a:off x="4307899" y="18796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process instruction record to IP21</a:t>
            </a:r>
            <a:endParaRPr sz="900"/>
          </a:p>
        </p:txBody>
      </p:sp>
      <p:sp>
        <p:nvSpPr>
          <p:cNvPr id="316" name="Google Shape;316;p27"/>
          <p:cNvSpPr/>
          <p:nvPr/>
        </p:nvSpPr>
        <p:spPr>
          <a:xfrm>
            <a:off x="5681324" y="18796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IP21 received the instruction record</a:t>
            </a:r>
            <a:endParaRPr sz="900"/>
          </a:p>
        </p:txBody>
      </p:sp>
      <p:sp>
        <p:nvSpPr>
          <p:cNvPr id="310" name="Google Shape;310;p27"/>
          <p:cNvSpPr/>
          <p:nvPr/>
        </p:nvSpPr>
        <p:spPr>
          <a:xfrm>
            <a:off x="7847350" y="181437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instruction record processed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2560925" y="2421575"/>
            <a:ext cx="10665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CO60</a:t>
            </a:r>
            <a:endParaRPr sz="1000"/>
          </a:p>
        </p:txBody>
      </p:sp>
      <p:sp>
        <p:nvSpPr>
          <p:cNvPr id="318" name="Google Shape;318;p27"/>
          <p:cNvSpPr/>
          <p:nvPr/>
        </p:nvSpPr>
        <p:spPr>
          <a:xfrm>
            <a:off x="6818125" y="4772900"/>
            <a:ext cx="2325900" cy="370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app not in celonis</a:t>
            </a:r>
            <a:endParaRPr/>
          </a:p>
        </p:txBody>
      </p:sp>
      <p:sp>
        <p:nvSpPr>
          <p:cNvPr id="319" name="Google Shape;319;p27"/>
          <p:cNvSpPr/>
          <p:nvPr/>
        </p:nvSpPr>
        <p:spPr>
          <a:xfrm>
            <a:off x="6818125" y="4120125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the interfaces still needs to be decided.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type="title"/>
          </p:nvPr>
        </p:nvSpPr>
        <p:spPr>
          <a:xfrm>
            <a:off x="0" y="0"/>
            <a:ext cx="85206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Energy Manufacturing Process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/>
          </a:p>
        </p:txBody>
      </p:sp>
      <p:sp>
        <p:nvSpPr>
          <p:cNvPr id="325" name="Google Shape;325;p28"/>
          <p:cNvSpPr/>
          <p:nvPr/>
        </p:nvSpPr>
        <p:spPr>
          <a:xfrm>
            <a:off x="60600" y="47729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M-100-010: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Confirm process order operation/phase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Operator - process manufacturing</a:t>
            </a:r>
            <a:endParaRPr sz="1520"/>
          </a:p>
        </p:txBody>
      </p:sp>
      <p:sp>
        <p:nvSpPr>
          <p:cNvPr id="331" name="Google Shape;331;p29"/>
          <p:cNvSpPr/>
          <p:nvPr/>
        </p:nvSpPr>
        <p:spPr>
          <a:xfrm>
            <a:off x="309375" y="22659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confirm process order operation/phase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8054925" y="22953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operation/phase of process order confirmed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333" name="Google Shape;333;p29"/>
          <p:cNvCxnSpPr>
            <a:stCxn id="331" idx="6"/>
            <a:endCxn id="334" idx="1"/>
          </p:cNvCxnSpPr>
          <p:nvPr/>
        </p:nvCxnSpPr>
        <p:spPr>
          <a:xfrm>
            <a:off x="1125375" y="2665050"/>
            <a:ext cx="31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29"/>
          <p:cNvSpPr/>
          <p:nvPr/>
        </p:nvSpPr>
        <p:spPr>
          <a:xfrm>
            <a:off x="1444199" y="23311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from MES goods issue and activities</a:t>
            </a:r>
            <a:endParaRPr sz="900"/>
          </a:p>
        </p:txBody>
      </p:sp>
      <p:cxnSp>
        <p:nvCxnSpPr>
          <p:cNvPr id="335" name="Google Shape;335;p29"/>
          <p:cNvCxnSpPr>
            <a:stCxn id="334" idx="3"/>
            <a:endCxn id="332" idx="2"/>
          </p:cNvCxnSpPr>
          <p:nvPr/>
        </p:nvCxnSpPr>
        <p:spPr>
          <a:xfrm>
            <a:off x="2510699" y="2665050"/>
            <a:ext cx="554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p29"/>
          <p:cNvSpPr/>
          <p:nvPr/>
        </p:nvSpPr>
        <p:spPr>
          <a:xfrm>
            <a:off x="105800" y="47845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37" name="Google Shape;337;p29"/>
          <p:cNvSpPr/>
          <p:nvPr/>
        </p:nvSpPr>
        <p:spPr>
          <a:xfrm>
            <a:off x="2885525" y="3014425"/>
            <a:ext cx="1428300" cy="2118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Confirm process order phase</a:t>
            </a:r>
            <a:endParaRPr sz="1000"/>
          </a:p>
        </p:txBody>
      </p:sp>
      <p:sp>
        <p:nvSpPr>
          <p:cNvPr id="338" name="Google Shape;338;p29"/>
          <p:cNvSpPr/>
          <p:nvPr/>
        </p:nvSpPr>
        <p:spPr>
          <a:xfrm>
            <a:off x="6683449" y="2346613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confirmation</a:t>
            </a:r>
            <a:endParaRPr sz="900"/>
          </a:p>
        </p:txBody>
      </p:sp>
      <p:sp>
        <p:nvSpPr>
          <p:cNvPr id="339" name="Google Shape;339;p29"/>
          <p:cNvSpPr/>
          <p:nvPr/>
        </p:nvSpPr>
        <p:spPr>
          <a:xfrm>
            <a:off x="2862275" y="3305350"/>
            <a:ext cx="1474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</a:t>
            </a:r>
            <a:endParaRPr sz="1000"/>
          </a:p>
        </p:txBody>
      </p:sp>
      <p:sp>
        <p:nvSpPr>
          <p:cNvPr id="340" name="Google Shape;340;p29"/>
          <p:cNvSpPr/>
          <p:nvPr/>
        </p:nvSpPr>
        <p:spPr>
          <a:xfrm>
            <a:off x="4698487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Goods Movements (automatic)</a:t>
            </a:r>
            <a:endParaRPr sz="900"/>
          </a:p>
        </p:txBody>
      </p:sp>
      <p:sp>
        <p:nvSpPr>
          <p:cNvPr id="341" name="Google Shape;341;p2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342" name="Google Shape;342;p29"/>
          <p:cNvSpPr/>
          <p:nvPr/>
        </p:nvSpPr>
        <p:spPr>
          <a:xfrm>
            <a:off x="6594550" y="4120125"/>
            <a:ext cx="2549400" cy="102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integration with scale to be confirmed</a:t>
            </a:r>
            <a:endParaRPr/>
          </a:p>
        </p:txBody>
      </p:sp>
      <p:sp>
        <p:nvSpPr>
          <p:cNvPr id="343" name="Google Shape;343;p29"/>
          <p:cNvSpPr/>
          <p:nvPr/>
        </p:nvSpPr>
        <p:spPr>
          <a:xfrm>
            <a:off x="3148662" y="22953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activities automatic</a:t>
            </a:r>
            <a:endParaRPr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M-100-020: Backflush Raw Materials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349" name="Google Shape;349;p30"/>
          <p:cNvSpPr/>
          <p:nvPr/>
        </p:nvSpPr>
        <p:spPr>
          <a:xfrm>
            <a:off x="254575" y="22299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backflush raw materials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8136275" y="22593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raw materials backflushed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351" name="Google Shape;351;p30"/>
          <p:cNvCxnSpPr>
            <a:stCxn id="352" idx="3"/>
            <a:endCxn id="350" idx="2"/>
          </p:cNvCxnSpPr>
          <p:nvPr/>
        </p:nvCxnSpPr>
        <p:spPr>
          <a:xfrm>
            <a:off x="5261050" y="2623450"/>
            <a:ext cx="28752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p30"/>
          <p:cNvSpPr/>
          <p:nvPr/>
        </p:nvSpPr>
        <p:spPr>
          <a:xfrm>
            <a:off x="4194550" y="2076850"/>
            <a:ext cx="1066500" cy="10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</a:t>
            </a:r>
            <a:r>
              <a:rPr lang="en" sz="900"/>
              <a:t>8.3.1 Manage and track inventory of packed goods to and from production (WH)</a:t>
            </a:r>
            <a:endParaRPr sz="900"/>
          </a:p>
        </p:txBody>
      </p:sp>
      <p:sp>
        <p:nvSpPr>
          <p:cNvPr id="353" name="Google Shape;353;p30"/>
          <p:cNvSpPr/>
          <p:nvPr/>
        </p:nvSpPr>
        <p:spPr>
          <a:xfrm>
            <a:off x="1592374" y="22951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Indicate backflush indicator in the material master</a:t>
            </a:r>
            <a:endParaRPr sz="900"/>
          </a:p>
        </p:txBody>
      </p:sp>
      <p:sp>
        <p:nvSpPr>
          <p:cNvPr id="354" name="Google Shape;354;p30"/>
          <p:cNvSpPr/>
          <p:nvPr/>
        </p:nvSpPr>
        <p:spPr>
          <a:xfrm>
            <a:off x="6119750" y="2295150"/>
            <a:ext cx="1494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Automatic good issue of components from production storage location during confirmation</a:t>
            </a:r>
            <a:endParaRPr sz="900"/>
          </a:p>
        </p:txBody>
      </p:sp>
      <p:sp>
        <p:nvSpPr>
          <p:cNvPr id="355" name="Google Shape;355;p30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56" name="Google Shape;356;p30"/>
          <p:cNvSpPr/>
          <p:nvPr/>
        </p:nvSpPr>
        <p:spPr>
          <a:xfrm>
            <a:off x="1544675" y="3102350"/>
            <a:ext cx="1161900" cy="610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MM02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 Master</a:t>
            </a:r>
            <a:endParaRPr sz="1000"/>
          </a:p>
        </p:txBody>
      </p:sp>
      <p:sp>
        <p:nvSpPr>
          <p:cNvPr id="357" name="Google Shape;357;p3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358" name="Google Shape;358;p30"/>
          <p:cNvSpPr/>
          <p:nvPr/>
        </p:nvSpPr>
        <p:spPr>
          <a:xfrm>
            <a:off x="3067763" y="22951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0"/>
          <p:cNvSpPr/>
          <p:nvPr/>
        </p:nvSpPr>
        <p:spPr>
          <a:xfrm>
            <a:off x="3174139" y="24292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0"/>
          <p:cNvSpPr/>
          <p:nvPr/>
        </p:nvSpPr>
        <p:spPr>
          <a:xfrm>
            <a:off x="5399088" y="22951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"/>
          <p:cNvSpPr/>
          <p:nvPr/>
        </p:nvSpPr>
        <p:spPr>
          <a:xfrm>
            <a:off x="5505464" y="24292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" name="Google Shape;362;p30"/>
          <p:cNvCxnSpPr>
            <a:stCxn id="349" idx="6"/>
            <a:endCxn id="353" idx="1"/>
          </p:cNvCxnSpPr>
          <p:nvPr/>
        </p:nvCxnSpPr>
        <p:spPr>
          <a:xfrm>
            <a:off x="1070575" y="262905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30"/>
          <p:cNvCxnSpPr>
            <a:stCxn id="353" idx="3"/>
            <a:endCxn id="358" idx="1"/>
          </p:cNvCxnSpPr>
          <p:nvPr/>
        </p:nvCxnSpPr>
        <p:spPr>
          <a:xfrm>
            <a:off x="2658874" y="2629050"/>
            <a:ext cx="4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30"/>
          <p:cNvCxnSpPr>
            <a:stCxn id="358" idx="3"/>
            <a:endCxn id="352" idx="1"/>
          </p:cNvCxnSpPr>
          <p:nvPr/>
        </p:nvCxnSpPr>
        <p:spPr>
          <a:xfrm flipH="1" rot="10800000">
            <a:off x="3650363" y="2623356"/>
            <a:ext cx="5442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30"/>
          <p:cNvCxnSpPr>
            <a:stCxn id="358" idx="2"/>
            <a:endCxn id="360" idx="2"/>
          </p:cNvCxnSpPr>
          <p:nvPr/>
        </p:nvCxnSpPr>
        <p:spPr>
          <a:xfrm flipH="1" rot="-5400000">
            <a:off x="4524413" y="1797606"/>
            <a:ext cx="600" cy="2331300"/>
          </a:xfrm>
          <a:prstGeom prst="bentConnector3">
            <a:avLst>
              <a:gd fmla="val 17160734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30"/>
          <p:cNvSpPr txBox="1"/>
          <p:nvPr/>
        </p:nvSpPr>
        <p:spPr>
          <a:xfrm>
            <a:off x="3342625" y="1905500"/>
            <a:ext cx="833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EWM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3342625" y="3605725"/>
            <a:ext cx="833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IM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M-100-070: Order Closure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r>
              <a:rPr lang="en" sz="1050">
                <a:solidFill>
                  <a:srgbClr val="32363A"/>
                </a:solidFill>
                <a:highlight>
                  <a:srgbClr val="FFFFFF"/>
                </a:highlight>
              </a:rPr>
              <a:t>Production Supervisor - Process Manufacturing</a:t>
            </a:r>
            <a:endParaRPr sz="1520"/>
          </a:p>
        </p:txBody>
      </p:sp>
      <p:sp>
        <p:nvSpPr>
          <p:cNvPr id="373" name="Google Shape;373;p31"/>
          <p:cNvSpPr/>
          <p:nvPr/>
        </p:nvSpPr>
        <p:spPr>
          <a:xfrm>
            <a:off x="51400" y="2172600"/>
            <a:ext cx="6987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close process order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8505400" y="2209475"/>
            <a:ext cx="5760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process order closed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375" name="Google Shape;375;p31"/>
          <p:cNvCxnSpPr>
            <a:stCxn id="373" idx="6"/>
            <a:endCxn id="376" idx="1"/>
          </p:cNvCxnSpPr>
          <p:nvPr/>
        </p:nvCxnSpPr>
        <p:spPr>
          <a:xfrm>
            <a:off x="750100" y="2571750"/>
            <a:ext cx="47958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31"/>
          <p:cNvSpPr/>
          <p:nvPr/>
        </p:nvSpPr>
        <p:spPr>
          <a:xfrm>
            <a:off x="5360375" y="2237850"/>
            <a:ext cx="487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Interfac</a:t>
            </a:r>
            <a:r>
              <a:rPr lang="en" sz="500"/>
              <a:t>e: DS-020-070 Perform Production Period End Close </a:t>
            </a:r>
            <a:endParaRPr sz="500"/>
          </a:p>
        </p:txBody>
      </p:sp>
      <p:cxnSp>
        <p:nvCxnSpPr>
          <p:cNvPr id="378" name="Google Shape;378;p31"/>
          <p:cNvCxnSpPr>
            <a:stCxn id="377" idx="3"/>
            <a:endCxn id="379" idx="1"/>
          </p:cNvCxnSpPr>
          <p:nvPr/>
        </p:nvCxnSpPr>
        <p:spPr>
          <a:xfrm>
            <a:off x="5848175" y="2571750"/>
            <a:ext cx="2358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31"/>
          <p:cNvSpPr/>
          <p:nvPr/>
        </p:nvSpPr>
        <p:spPr>
          <a:xfrm>
            <a:off x="7435275" y="2245325"/>
            <a:ext cx="351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Save order</a:t>
            </a:r>
            <a:endParaRPr sz="700"/>
          </a:p>
        </p:txBody>
      </p:sp>
      <p:sp>
        <p:nvSpPr>
          <p:cNvPr id="381" name="Google Shape;381;p31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82" name="Google Shape;382;p31"/>
          <p:cNvSpPr/>
          <p:nvPr/>
        </p:nvSpPr>
        <p:spPr>
          <a:xfrm>
            <a:off x="6548137" y="1663775"/>
            <a:ext cx="487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manually close order</a:t>
            </a:r>
            <a:endParaRPr sz="900"/>
          </a:p>
        </p:txBody>
      </p:sp>
      <p:sp>
        <p:nvSpPr>
          <p:cNvPr id="383" name="Google Shape;383;p31"/>
          <p:cNvSpPr/>
          <p:nvPr/>
        </p:nvSpPr>
        <p:spPr>
          <a:xfrm>
            <a:off x="3928425" y="3025500"/>
            <a:ext cx="1078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Manage process orders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Change process order</a:t>
            </a:r>
            <a:endParaRPr sz="600"/>
          </a:p>
        </p:txBody>
      </p:sp>
      <p:sp>
        <p:nvSpPr>
          <p:cNvPr id="384" name="Google Shape;384;p31"/>
          <p:cNvSpPr/>
          <p:nvPr/>
        </p:nvSpPr>
        <p:spPr>
          <a:xfrm>
            <a:off x="917400" y="2237850"/>
            <a:ext cx="576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check if all </a:t>
            </a:r>
            <a:r>
              <a:rPr lang="en" sz="600"/>
              <a:t>operations and phases are confirmed</a:t>
            </a:r>
            <a:endParaRPr sz="600"/>
          </a:p>
        </p:txBody>
      </p:sp>
      <p:sp>
        <p:nvSpPr>
          <p:cNvPr id="385" name="Google Shape;385;p31"/>
          <p:cNvSpPr/>
          <p:nvPr/>
        </p:nvSpPr>
        <p:spPr>
          <a:xfrm>
            <a:off x="2725525" y="2245325"/>
            <a:ext cx="45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check if there are any open items</a:t>
            </a:r>
            <a:endParaRPr sz="600"/>
          </a:p>
        </p:txBody>
      </p:sp>
      <p:sp>
        <p:nvSpPr>
          <p:cNvPr id="386" name="Google Shape;386;p31"/>
          <p:cNvSpPr/>
          <p:nvPr/>
        </p:nvSpPr>
        <p:spPr>
          <a:xfrm>
            <a:off x="4315150" y="2245325"/>
            <a:ext cx="45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Technically close the order</a:t>
            </a:r>
            <a:endParaRPr sz="600"/>
          </a:p>
        </p:txBody>
      </p:sp>
      <p:sp>
        <p:nvSpPr>
          <p:cNvPr id="387" name="Google Shape;387;p31"/>
          <p:cNvSpPr/>
          <p:nvPr/>
        </p:nvSpPr>
        <p:spPr>
          <a:xfrm>
            <a:off x="3860071" y="2324102"/>
            <a:ext cx="374400" cy="4953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1"/>
          <p:cNvSpPr/>
          <p:nvPr/>
        </p:nvSpPr>
        <p:spPr>
          <a:xfrm>
            <a:off x="3928413" y="2423555"/>
            <a:ext cx="237600" cy="296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1"/>
          <p:cNvSpPr/>
          <p:nvPr/>
        </p:nvSpPr>
        <p:spPr>
          <a:xfrm>
            <a:off x="3259521" y="2324102"/>
            <a:ext cx="374400" cy="4953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3327863" y="2423555"/>
            <a:ext cx="237600" cy="296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1"/>
          <p:cNvSpPr/>
          <p:nvPr/>
        </p:nvSpPr>
        <p:spPr>
          <a:xfrm>
            <a:off x="2274621" y="2324102"/>
            <a:ext cx="374400" cy="4953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1"/>
          <p:cNvSpPr/>
          <p:nvPr/>
        </p:nvSpPr>
        <p:spPr>
          <a:xfrm>
            <a:off x="2342963" y="2423555"/>
            <a:ext cx="237600" cy="296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1"/>
          <p:cNvSpPr/>
          <p:nvPr/>
        </p:nvSpPr>
        <p:spPr>
          <a:xfrm>
            <a:off x="1605721" y="2324102"/>
            <a:ext cx="374400" cy="4953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1"/>
          <p:cNvSpPr/>
          <p:nvPr/>
        </p:nvSpPr>
        <p:spPr>
          <a:xfrm>
            <a:off x="1674063" y="2423555"/>
            <a:ext cx="237600" cy="296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3552150" y="1541675"/>
            <a:ext cx="45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Resolve open items</a:t>
            </a:r>
            <a:endParaRPr sz="600"/>
          </a:p>
        </p:txBody>
      </p:sp>
      <p:sp>
        <p:nvSpPr>
          <p:cNvPr id="396" name="Google Shape;396;p31"/>
          <p:cNvSpPr/>
          <p:nvPr/>
        </p:nvSpPr>
        <p:spPr>
          <a:xfrm>
            <a:off x="1895575" y="1498575"/>
            <a:ext cx="45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Confirm open Operations and Phase</a:t>
            </a:r>
            <a:endParaRPr sz="600"/>
          </a:p>
        </p:txBody>
      </p:sp>
      <p:sp>
        <p:nvSpPr>
          <p:cNvPr id="379" name="Google Shape;379;p31"/>
          <p:cNvSpPr/>
          <p:nvPr/>
        </p:nvSpPr>
        <p:spPr>
          <a:xfrm>
            <a:off x="6083971" y="2327852"/>
            <a:ext cx="374400" cy="4953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1"/>
          <p:cNvSpPr/>
          <p:nvPr/>
        </p:nvSpPr>
        <p:spPr>
          <a:xfrm>
            <a:off x="6152313" y="2427305"/>
            <a:ext cx="237600" cy="296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1"/>
          <p:cNvSpPr/>
          <p:nvPr/>
        </p:nvSpPr>
        <p:spPr>
          <a:xfrm>
            <a:off x="7035921" y="2331577"/>
            <a:ext cx="374400" cy="4953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1"/>
          <p:cNvSpPr/>
          <p:nvPr/>
        </p:nvSpPr>
        <p:spPr>
          <a:xfrm>
            <a:off x="7104263" y="2431030"/>
            <a:ext cx="237600" cy="296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1"/>
          <p:cNvSpPr txBox="1"/>
          <p:nvPr/>
        </p:nvSpPr>
        <p:spPr>
          <a:xfrm>
            <a:off x="5944425" y="1619750"/>
            <a:ext cx="1031700" cy="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Manual 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401" name="Google Shape;401;p31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cxnSp>
        <p:nvCxnSpPr>
          <p:cNvPr id="402" name="Google Shape;402;p31"/>
          <p:cNvCxnSpPr>
            <a:stCxn id="393" idx="0"/>
            <a:endCxn id="396" idx="1"/>
          </p:cNvCxnSpPr>
          <p:nvPr/>
        </p:nvCxnSpPr>
        <p:spPr>
          <a:xfrm rot="-5400000">
            <a:off x="1598371" y="2026952"/>
            <a:ext cx="491700" cy="102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31"/>
          <p:cNvCxnSpPr>
            <a:stCxn id="396" idx="3"/>
            <a:endCxn id="391" idx="0"/>
          </p:cNvCxnSpPr>
          <p:nvPr/>
        </p:nvCxnSpPr>
        <p:spPr>
          <a:xfrm>
            <a:off x="2353075" y="1832475"/>
            <a:ext cx="108600" cy="491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31"/>
          <p:cNvCxnSpPr>
            <a:stCxn id="389" idx="0"/>
            <a:endCxn id="395" idx="1"/>
          </p:cNvCxnSpPr>
          <p:nvPr/>
        </p:nvCxnSpPr>
        <p:spPr>
          <a:xfrm rot="-5400000">
            <a:off x="3275121" y="2047202"/>
            <a:ext cx="448500" cy="105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31"/>
          <p:cNvCxnSpPr>
            <a:stCxn id="395" idx="3"/>
            <a:endCxn id="387" idx="0"/>
          </p:cNvCxnSpPr>
          <p:nvPr/>
        </p:nvCxnSpPr>
        <p:spPr>
          <a:xfrm>
            <a:off x="4009650" y="1875575"/>
            <a:ext cx="37500" cy="448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31"/>
          <p:cNvCxnSpPr>
            <a:stCxn id="379" idx="0"/>
            <a:endCxn id="382" idx="1"/>
          </p:cNvCxnSpPr>
          <p:nvPr/>
        </p:nvCxnSpPr>
        <p:spPr>
          <a:xfrm rot="-5400000">
            <a:off x="6244471" y="2024252"/>
            <a:ext cx="330300" cy="276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1"/>
          <p:cNvCxnSpPr>
            <a:stCxn id="382" idx="3"/>
            <a:endCxn id="398" idx="0"/>
          </p:cNvCxnSpPr>
          <p:nvPr/>
        </p:nvCxnSpPr>
        <p:spPr>
          <a:xfrm>
            <a:off x="7035937" y="1997675"/>
            <a:ext cx="187200" cy="33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" name="Google Shape;408;p31"/>
          <p:cNvSpPr txBox="1"/>
          <p:nvPr/>
        </p:nvSpPr>
        <p:spPr>
          <a:xfrm>
            <a:off x="1436475" y="1326625"/>
            <a:ext cx="606600" cy="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Not all confirmed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409" name="Google Shape;409;p31"/>
          <p:cNvSpPr txBox="1"/>
          <p:nvPr/>
        </p:nvSpPr>
        <p:spPr>
          <a:xfrm>
            <a:off x="1806163" y="2660250"/>
            <a:ext cx="606600" cy="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all confirmed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410" name="Google Shape;410;p31"/>
          <p:cNvSpPr txBox="1"/>
          <p:nvPr/>
        </p:nvSpPr>
        <p:spPr>
          <a:xfrm>
            <a:off x="3027313" y="1541675"/>
            <a:ext cx="606600" cy="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Open Items left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411" name="Google Shape;411;p31"/>
          <p:cNvSpPr txBox="1"/>
          <p:nvPr/>
        </p:nvSpPr>
        <p:spPr>
          <a:xfrm>
            <a:off x="3445775" y="2657950"/>
            <a:ext cx="606600" cy="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No open items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6445771" y="2970900"/>
            <a:ext cx="658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automatically close order as background job</a:t>
            </a:r>
            <a:endParaRPr sz="600"/>
          </a:p>
        </p:txBody>
      </p:sp>
      <p:cxnSp>
        <p:nvCxnSpPr>
          <p:cNvPr id="413" name="Google Shape;413;p31"/>
          <p:cNvCxnSpPr>
            <a:stCxn id="379" idx="2"/>
            <a:endCxn id="412" idx="1"/>
          </p:cNvCxnSpPr>
          <p:nvPr/>
        </p:nvCxnSpPr>
        <p:spPr>
          <a:xfrm flipH="1" rot="-5400000">
            <a:off x="6117721" y="2976602"/>
            <a:ext cx="481500" cy="17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31"/>
          <p:cNvCxnSpPr>
            <a:stCxn id="412" idx="3"/>
            <a:endCxn id="398" idx="2"/>
          </p:cNvCxnSpPr>
          <p:nvPr/>
        </p:nvCxnSpPr>
        <p:spPr>
          <a:xfrm flipH="1" rot="10800000">
            <a:off x="7104271" y="2826900"/>
            <a:ext cx="118800" cy="477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31"/>
          <p:cNvSpPr/>
          <p:nvPr/>
        </p:nvSpPr>
        <p:spPr>
          <a:xfrm>
            <a:off x="6180350" y="1230625"/>
            <a:ext cx="1078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Manage process orders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Change process order</a:t>
            </a:r>
            <a:endParaRPr sz="600"/>
          </a:p>
        </p:txBody>
      </p:sp>
      <p:sp>
        <p:nvSpPr>
          <p:cNvPr id="416" name="Google Shape;416;p31"/>
          <p:cNvSpPr txBox="1"/>
          <p:nvPr/>
        </p:nvSpPr>
        <p:spPr>
          <a:xfrm>
            <a:off x="5711400" y="3007050"/>
            <a:ext cx="1031700" cy="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Automatic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7336200" y="1557900"/>
            <a:ext cx="518700" cy="6678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Manage process orders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Change process order</a:t>
            </a:r>
            <a:endParaRPr sz="600"/>
          </a:p>
        </p:txBody>
      </p:sp>
      <p:sp>
        <p:nvSpPr>
          <p:cNvPr id="418" name="Google Shape;418;p31"/>
          <p:cNvSpPr/>
          <p:nvPr/>
        </p:nvSpPr>
        <p:spPr>
          <a:xfrm>
            <a:off x="714675" y="1952400"/>
            <a:ext cx="1078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Manage process orders</a:t>
            </a:r>
            <a:endParaRPr sz="600"/>
          </a:p>
        </p:txBody>
      </p:sp>
      <p:sp>
        <p:nvSpPr>
          <p:cNvPr id="419" name="Google Shape;419;p31"/>
          <p:cNvSpPr/>
          <p:nvPr/>
        </p:nvSpPr>
        <p:spPr>
          <a:xfrm>
            <a:off x="1739125" y="1134625"/>
            <a:ext cx="909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COR6N, Manage process orders</a:t>
            </a:r>
            <a:endParaRPr sz="600"/>
          </a:p>
        </p:txBody>
      </p:sp>
      <p:sp>
        <p:nvSpPr>
          <p:cNvPr id="420" name="Google Shape;420;p31"/>
          <p:cNvSpPr/>
          <p:nvPr/>
        </p:nvSpPr>
        <p:spPr>
          <a:xfrm>
            <a:off x="4837775" y="2237850"/>
            <a:ext cx="45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Send Status update to MES</a:t>
            </a:r>
            <a:endParaRPr sz="600"/>
          </a:p>
        </p:txBody>
      </p:sp>
      <p:sp>
        <p:nvSpPr>
          <p:cNvPr id="421" name="Google Shape;421;p31"/>
          <p:cNvSpPr/>
          <p:nvPr/>
        </p:nvSpPr>
        <p:spPr>
          <a:xfrm>
            <a:off x="7917237" y="2245325"/>
            <a:ext cx="45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Send Status update to MES</a:t>
            </a:r>
            <a:endParaRPr sz="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M-100-090: Archive Process Record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</a:t>
            </a:r>
            <a:r>
              <a:rPr lang="en" sz="1520"/>
              <a:t>ole = production supervisor - process manufacturing</a:t>
            </a:r>
            <a:endParaRPr sz="1520"/>
          </a:p>
        </p:txBody>
      </p:sp>
      <p:sp>
        <p:nvSpPr>
          <p:cNvPr id="427" name="Google Shape;427;p32"/>
          <p:cNvSpPr/>
          <p:nvPr/>
        </p:nvSpPr>
        <p:spPr>
          <a:xfrm>
            <a:off x="1775275" y="21925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</a:t>
            </a:r>
            <a:r>
              <a:rPr lang="en" sz="600">
                <a:solidFill>
                  <a:schemeClr val="dk1"/>
                </a:solidFill>
              </a:rPr>
              <a:t>achieve</a:t>
            </a:r>
            <a:r>
              <a:rPr lang="en" sz="600">
                <a:solidFill>
                  <a:schemeClr val="dk1"/>
                </a:solidFill>
              </a:rPr>
              <a:t> </a:t>
            </a:r>
            <a:r>
              <a:rPr lang="en" sz="600">
                <a:solidFill>
                  <a:schemeClr val="dk1"/>
                </a:solidFill>
              </a:rPr>
              <a:t>process order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6249275" y="22219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process order closed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429" name="Google Shape;429;p32"/>
          <p:cNvCxnSpPr>
            <a:stCxn id="427" idx="6"/>
            <a:endCxn id="430" idx="1"/>
          </p:cNvCxnSpPr>
          <p:nvPr/>
        </p:nvCxnSpPr>
        <p:spPr>
          <a:xfrm>
            <a:off x="2591275" y="2591675"/>
            <a:ext cx="20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32"/>
          <p:cNvCxnSpPr>
            <a:stCxn id="430" idx="3"/>
            <a:endCxn id="428" idx="2"/>
          </p:cNvCxnSpPr>
          <p:nvPr/>
        </p:nvCxnSpPr>
        <p:spPr>
          <a:xfrm>
            <a:off x="5689199" y="2591675"/>
            <a:ext cx="56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0" name="Google Shape;430;p32"/>
          <p:cNvSpPr/>
          <p:nvPr/>
        </p:nvSpPr>
        <p:spPr>
          <a:xfrm>
            <a:off x="4622699" y="22577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archive process order</a:t>
            </a:r>
            <a:endParaRPr sz="900"/>
          </a:p>
        </p:txBody>
      </p:sp>
      <p:sp>
        <p:nvSpPr>
          <p:cNvPr id="432" name="Google Shape;432;p32"/>
          <p:cNvSpPr/>
          <p:nvPr/>
        </p:nvSpPr>
        <p:spPr>
          <a:xfrm>
            <a:off x="3113074" y="22577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close process order</a:t>
            </a:r>
            <a:endParaRPr sz="900"/>
          </a:p>
        </p:txBody>
      </p:sp>
      <p:cxnSp>
        <p:nvCxnSpPr>
          <p:cNvPr id="433" name="Google Shape;433;p32"/>
          <p:cNvCxnSpPr>
            <a:stCxn id="432" idx="3"/>
            <a:endCxn id="430" idx="1"/>
          </p:cNvCxnSpPr>
          <p:nvPr/>
        </p:nvCxnSpPr>
        <p:spPr>
          <a:xfrm>
            <a:off x="4179574" y="2591675"/>
            <a:ext cx="4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4" name="Google Shape;434;p32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435" name="Google Shape;435;p32"/>
          <p:cNvSpPr/>
          <p:nvPr/>
        </p:nvSpPr>
        <p:spPr>
          <a:xfrm>
            <a:off x="4575000" y="30549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</a:t>
            </a:r>
            <a:endParaRPr sz="1000"/>
          </a:p>
        </p:txBody>
      </p:sp>
      <p:sp>
        <p:nvSpPr>
          <p:cNvPr id="436" name="Google Shape;436;p3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437" name="Google Shape;437;p32"/>
          <p:cNvSpPr/>
          <p:nvPr/>
        </p:nvSpPr>
        <p:spPr>
          <a:xfrm>
            <a:off x="1213300" y="1686575"/>
            <a:ext cx="6143100" cy="1895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deleted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M-100-120: Consume Material/Re-order Material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520"/>
              <a:t>Role = production supervisor - process manufacturing</a:t>
            </a:r>
            <a:endParaRPr sz="1520"/>
          </a:p>
        </p:txBody>
      </p:sp>
      <p:sp>
        <p:nvSpPr>
          <p:cNvPr id="443" name="Google Shape;443;p33"/>
          <p:cNvSpPr/>
          <p:nvPr/>
        </p:nvSpPr>
        <p:spPr>
          <a:xfrm>
            <a:off x="1039200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consume material manually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444" name="Google Shape;444;p33"/>
          <p:cNvSpPr/>
          <p:nvPr/>
        </p:nvSpPr>
        <p:spPr>
          <a:xfrm>
            <a:off x="8169950" y="21726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Material manually consumed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445" name="Google Shape;445;p33"/>
          <p:cNvCxnSpPr>
            <a:stCxn id="443" idx="6"/>
            <a:endCxn id="446" idx="1"/>
          </p:cNvCxnSpPr>
          <p:nvPr/>
        </p:nvCxnSpPr>
        <p:spPr>
          <a:xfrm>
            <a:off x="1855200" y="2571750"/>
            <a:ext cx="342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33"/>
          <p:cNvSpPr/>
          <p:nvPr/>
        </p:nvSpPr>
        <p:spPr>
          <a:xfrm>
            <a:off x="5281500" y="2237850"/>
            <a:ext cx="11619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consume materials/re-order material</a:t>
            </a:r>
            <a:endParaRPr sz="900"/>
          </a:p>
        </p:txBody>
      </p:sp>
      <p:cxnSp>
        <p:nvCxnSpPr>
          <p:cNvPr id="447" name="Google Shape;447;p33"/>
          <p:cNvCxnSpPr>
            <a:stCxn id="446" idx="3"/>
            <a:endCxn id="444" idx="2"/>
          </p:cNvCxnSpPr>
          <p:nvPr/>
        </p:nvCxnSpPr>
        <p:spPr>
          <a:xfrm flipH="1" rot="10800000">
            <a:off x="6443400" y="2542350"/>
            <a:ext cx="1726500" cy="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8" name="Google Shape;448;p33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449" name="Google Shape;449;p33"/>
          <p:cNvSpPr/>
          <p:nvPr/>
        </p:nvSpPr>
        <p:spPr>
          <a:xfrm>
            <a:off x="5209775" y="30350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450" name="Google Shape;450;p33"/>
          <p:cNvSpPr/>
          <p:nvPr/>
        </p:nvSpPr>
        <p:spPr>
          <a:xfrm>
            <a:off x="6818125" y="4120125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MES to be decided, ask ninad</a:t>
            </a:r>
            <a:endParaRPr/>
          </a:p>
        </p:txBody>
      </p:sp>
      <p:sp>
        <p:nvSpPr>
          <p:cNvPr id="451" name="Google Shape;451;p33"/>
          <p:cNvSpPr/>
          <p:nvPr/>
        </p:nvSpPr>
        <p:spPr>
          <a:xfrm>
            <a:off x="2316025" y="2237850"/>
            <a:ext cx="11619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the actual consumption quantities from custom app to SAP</a:t>
            </a:r>
            <a:endParaRPr sz="900"/>
          </a:p>
        </p:txBody>
      </p:sp>
      <p:sp>
        <p:nvSpPr>
          <p:cNvPr id="452" name="Google Shape;452;p33"/>
          <p:cNvSpPr/>
          <p:nvPr/>
        </p:nvSpPr>
        <p:spPr>
          <a:xfrm>
            <a:off x="3840575" y="2237850"/>
            <a:ext cx="11619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Event: Receive Actual consumption quantities</a:t>
            </a:r>
            <a:endParaRPr sz="900"/>
          </a:p>
        </p:txBody>
      </p:sp>
      <p:sp>
        <p:nvSpPr>
          <p:cNvPr id="453" name="Google Shape;453;p3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M-100-240: reject component material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Supervisor - Process manufacturing</a:t>
            </a:r>
            <a:endParaRPr sz="1520"/>
          </a:p>
        </p:txBody>
      </p:sp>
      <p:sp>
        <p:nvSpPr>
          <p:cNvPr id="459" name="Google Shape;459;p34"/>
          <p:cNvSpPr/>
          <p:nvPr/>
        </p:nvSpPr>
        <p:spPr>
          <a:xfrm>
            <a:off x="60600" y="47729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460" name="Google Shape;460;p34"/>
          <p:cNvSpPr/>
          <p:nvPr/>
        </p:nvSpPr>
        <p:spPr>
          <a:xfrm>
            <a:off x="309375" y="22659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reject component material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461" name="Google Shape;461;p34"/>
          <p:cNvSpPr/>
          <p:nvPr/>
        </p:nvSpPr>
        <p:spPr>
          <a:xfrm>
            <a:off x="7986275" y="22541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component material rejected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462" name="Google Shape;462;p34"/>
          <p:cNvCxnSpPr>
            <a:stCxn id="460" idx="6"/>
            <a:endCxn id="463" idx="1"/>
          </p:cNvCxnSpPr>
          <p:nvPr/>
        </p:nvCxnSpPr>
        <p:spPr>
          <a:xfrm>
            <a:off x="1125375" y="2665050"/>
            <a:ext cx="24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4" name="Google Shape;464;p34"/>
          <p:cNvSpPr/>
          <p:nvPr/>
        </p:nvSpPr>
        <p:spPr>
          <a:xfrm>
            <a:off x="4162337" y="15452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Delete component from process order</a:t>
            </a:r>
            <a:endParaRPr sz="900"/>
          </a:p>
        </p:txBody>
      </p:sp>
      <p:sp>
        <p:nvSpPr>
          <p:cNvPr id="465" name="Google Shape;465;p34"/>
          <p:cNvSpPr/>
          <p:nvPr/>
        </p:nvSpPr>
        <p:spPr>
          <a:xfrm>
            <a:off x="6046174" y="31324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correct component batch being issued from order</a:t>
            </a:r>
            <a:endParaRPr sz="900"/>
          </a:p>
        </p:txBody>
      </p:sp>
      <p:sp>
        <p:nvSpPr>
          <p:cNvPr id="463" name="Google Shape;463;p34"/>
          <p:cNvSpPr/>
          <p:nvPr/>
        </p:nvSpPr>
        <p:spPr>
          <a:xfrm>
            <a:off x="3564888" y="23311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4"/>
          <p:cNvSpPr/>
          <p:nvPr/>
        </p:nvSpPr>
        <p:spPr>
          <a:xfrm>
            <a:off x="3671264" y="24652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4"/>
          <p:cNvSpPr/>
          <p:nvPr/>
        </p:nvSpPr>
        <p:spPr>
          <a:xfrm>
            <a:off x="4162337" y="3034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Delete component from confirmation list</a:t>
            </a:r>
            <a:endParaRPr sz="900"/>
          </a:p>
        </p:txBody>
      </p:sp>
      <p:cxnSp>
        <p:nvCxnSpPr>
          <p:cNvPr id="468" name="Google Shape;468;p34"/>
          <p:cNvCxnSpPr>
            <a:stCxn id="464" idx="3"/>
            <a:endCxn id="469" idx="0"/>
          </p:cNvCxnSpPr>
          <p:nvPr/>
        </p:nvCxnSpPr>
        <p:spPr>
          <a:xfrm>
            <a:off x="5228837" y="1879125"/>
            <a:ext cx="2126400" cy="386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0" name="Google Shape;470;p34"/>
          <p:cNvCxnSpPr>
            <a:stCxn id="465" idx="3"/>
            <a:endCxn id="469" idx="2"/>
          </p:cNvCxnSpPr>
          <p:nvPr/>
        </p:nvCxnSpPr>
        <p:spPr>
          <a:xfrm flipH="1" rot="10800000">
            <a:off x="7112674" y="2933825"/>
            <a:ext cx="242700" cy="532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1" name="Google Shape;471;p34"/>
          <p:cNvCxnSpPr>
            <a:stCxn id="464" idx="1"/>
            <a:endCxn id="463" idx="0"/>
          </p:cNvCxnSpPr>
          <p:nvPr/>
        </p:nvCxnSpPr>
        <p:spPr>
          <a:xfrm flipH="1">
            <a:off x="3856337" y="1879125"/>
            <a:ext cx="306000" cy="452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34"/>
          <p:cNvCxnSpPr>
            <a:stCxn id="463" idx="2"/>
            <a:endCxn id="467" idx="1"/>
          </p:cNvCxnSpPr>
          <p:nvPr/>
        </p:nvCxnSpPr>
        <p:spPr>
          <a:xfrm flipH="1" rot="-5400000">
            <a:off x="3824388" y="3030756"/>
            <a:ext cx="369600" cy="30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" name="Google Shape;473;p34"/>
          <p:cNvCxnSpPr>
            <a:stCxn id="467" idx="3"/>
            <a:endCxn id="465" idx="1"/>
          </p:cNvCxnSpPr>
          <p:nvPr/>
        </p:nvCxnSpPr>
        <p:spPr>
          <a:xfrm>
            <a:off x="5228837" y="3368700"/>
            <a:ext cx="817200" cy="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4" name="Google Shape;474;p34"/>
          <p:cNvCxnSpPr>
            <a:stCxn id="469" idx="3"/>
            <a:endCxn id="461" idx="2"/>
          </p:cNvCxnSpPr>
          <p:nvPr/>
        </p:nvCxnSpPr>
        <p:spPr>
          <a:xfrm>
            <a:off x="7646651" y="2599806"/>
            <a:ext cx="3396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34"/>
          <p:cNvSpPr/>
          <p:nvPr/>
        </p:nvSpPr>
        <p:spPr>
          <a:xfrm>
            <a:off x="4114625" y="11405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</a:t>
            </a:r>
            <a:endParaRPr sz="1000"/>
          </a:p>
        </p:txBody>
      </p:sp>
      <p:sp>
        <p:nvSpPr>
          <p:cNvPr id="476" name="Google Shape;476;p34"/>
          <p:cNvSpPr/>
          <p:nvPr/>
        </p:nvSpPr>
        <p:spPr>
          <a:xfrm>
            <a:off x="4114625" y="38822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Confirm process order</a:t>
            </a:r>
            <a:endParaRPr sz="1000"/>
          </a:p>
        </p:txBody>
      </p:sp>
      <p:sp>
        <p:nvSpPr>
          <p:cNvPr id="477" name="Google Shape;477;p34"/>
          <p:cNvSpPr/>
          <p:nvPr/>
        </p:nvSpPr>
        <p:spPr>
          <a:xfrm>
            <a:off x="5950775" y="38822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469" name="Google Shape;469;p34"/>
          <p:cNvSpPr/>
          <p:nvPr/>
        </p:nvSpPr>
        <p:spPr>
          <a:xfrm>
            <a:off x="7064051" y="22659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4"/>
          <p:cNvSpPr/>
          <p:nvPr/>
        </p:nvSpPr>
        <p:spPr>
          <a:xfrm>
            <a:off x="7170426" y="23999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485" name="Google Shape;48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7.1.5 Process Order creation and release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M-090-020: Complete process order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491" name="Google Shape;491;p36"/>
          <p:cNvSpPr/>
          <p:nvPr/>
        </p:nvSpPr>
        <p:spPr>
          <a:xfrm>
            <a:off x="40075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complete process order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8170750" y="22020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process order completed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493" name="Google Shape;493;p36"/>
          <p:cNvCxnSpPr>
            <a:stCxn id="491" idx="6"/>
            <a:endCxn id="494" idx="1"/>
          </p:cNvCxnSpPr>
          <p:nvPr/>
        </p:nvCxnSpPr>
        <p:spPr>
          <a:xfrm>
            <a:off x="856075" y="2571750"/>
            <a:ext cx="113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36"/>
          <p:cNvSpPr/>
          <p:nvPr/>
        </p:nvSpPr>
        <p:spPr>
          <a:xfrm>
            <a:off x="1991199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release process order</a:t>
            </a:r>
            <a:endParaRPr sz="900"/>
          </a:p>
        </p:txBody>
      </p:sp>
      <p:cxnSp>
        <p:nvCxnSpPr>
          <p:cNvPr id="495" name="Google Shape;495;p36"/>
          <p:cNvCxnSpPr>
            <a:stCxn id="494" idx="3"/>
            <a:endCxn id="492" idx="2"/>
          </p:cNvCxnSpPr>
          <p:nvPr/>
        </p:nvCxnSpPr>
        <p:spPr>
          <a:xfrm>
            <a:off x="3057699" y="2571750"/>
            <a:ext cx="51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6" name="Google Shape;496;p36"/>
          <p:cNvSpPr/>
          <p:nvPr/>
        </p:nvSpPr>
        <p:spPr>
          <a:xfrm>
            <a:off x="3505499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Print shop floor paper (automatic)</a:t>
            </a:r>
            <a:endParaRPr sz="900"/>
          </a:p>
        </p:txBody>
      </p:sp>
      <p:sp>
        <p:nvSpPr>
          <p:cNvPr id="497" name="Google Shape;497;p36"/>
          <p:cNvSpPr/>
          <p:nvPr/>
        </p:nvSpPr>
        <p:spPr>
          <a:xfrm>
            <a:off x="5718350" y="4191850"/>
            <a:ext cx="3296100" cy="7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discuss printing of pick list in EWM</a:t>
            </a:r>
            <a:endParaRPr/>
          </a:p>
        </p:txBody>
      </p:sp>
      <p:sp>
        <p:nvSpPr>
          <p:cNvPr id="498" name="Google Shape;498;p36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M-090-030: Create process order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Supervisor - Process Manufacturing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504" name="Google Shape;504;p37"/>
          <p:cNvSpPr/>
          <p:nvPr/>
        </p:nvSpPr>
        <p:spPr>
          <a:xfrm>
            <a:off x="174675" y="24527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create process order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505" name="Google Shape;505;p37"/>
          <p:cNvSpPr/>
          <p:nvPr/>
        </p:nvSpPr>
        <p:spPr>
          <a:xfrm>
            <a:off x="8561400" y="2482125"/>
            <a:ext cx="5826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</a:t>
            </a:r>
            <a:r>
              <a:rPr lang="en" sz="600">
                <a:solidFill>
                  <a:schemeClr val="dk1"/>
                </a:solidFill>
              </a:rPr>
              <a:t>process</a:t>
            </a:r>
            <a:r>
              <a:rPr lang="en" sz="600">
                <a:solidFill>
                  <a:schemeClr val="dk1"/>
                </a:solidFill>
              </a:rPr>
              <a:t> order created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506" name="Google Shape;506;p37"/>
          <p:cNvCxnSpPr>
            <a:stCxn id="504" idx="6"/>
            <a:endCxn id="507" idx="1"/>
          </p:cNvCxnSpPr>
          <p:nvPr/>
        </p:nvCxnSpPr>
        <p:spPr>
          <a:xfrm>
            <a:off x="990675" y="2851900"/>
            <a:ext cx="7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p37"/>
          <p:cNvSpPr/>
          <p:nvPr/>
        </p:nvSpPr>
        <p:spPr>
          <a:xfrm>
            <a:off x="2190637" y="25180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Convert planned order into process order (manual)</a:t>
            </a:r>
            <a:endParaRPr sz="900"/>
          </a:p>
        </p:txBody>
      </p:sp>
      <p:sp>
        <p:nvSpPr>
          <p:cNvPr id="509" name="Google Shape;509;p37"/>
          <p:cNvSpPr/>
          <p:nvPr/>
        </p:nvSpPr>
        <p:spPr>
          <a:xfrm>
            <a:off x="3515687" y="8435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Copy Process Order</a:t>
            </a:r>
            <a:endParaRPr sz="900"/>
          </a:p>
        </p:txBody>
      </p:sp>
      <p:sp>
        <p:nvSpPr>
          <p:cNvPr id="510" name="Google Shape;510;p37"/>
          <p:cNvSpPr/>
          <p:nvPr/>
        </p:nvSpPr>
        <p:spPr>
          <a:xfrm>
            <a:off x="6409338" y="25180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7"/>
          <p:cNvSpPr/>
          <p:nvPr/>
        </p:nvSpPr>
        <p:spPr>
          <a:xfrm>
            <a:off x="6515839" y="26229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7"/>
          <p:cNvSpPr/>
          <p:nvPr/>
        </p:nvSpPr>
        <p:spPr>
          <a:xfrm>
            <a:off x="1061663" y="25180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7"/>
          <p:cNvSpPr/>
          <p:nvPr/>
        </p:nvSpPr>
        <p:spPr>
          <a:xfrm>
            <a:off x="1168039" y="26520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7"/>
          <p:cNvSpPr/>
          <p:nvPr/>
        </p:nvSpPr>
        <p:spPr>
          <a:xfrm>
            <a:off x="2190637" y="35502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Convert planned orders into process orders (automatic)</a:t>
            </a:r>
            <a:endParaRPr sz="900"/>
          </a:p>
        </p:txBody>
      </p:sp>
      <p:cxnSp>
        <p:nvCxnSpPr>
          <p:cNvPr id="514" name="Google Shape;514;p37"/>
          <p:cNvCxnSpPr>
            <a:stCxn id="507" idx="3"/>
            <a:endCxn id="508" idx="1"/>
          </p:cNvCxnSpPr>
          <p:nvPr/>
        </p:nvCxnSpPr>
        <p:spPr>
          <a:xfrm>
            <a:off x="1644263" y="2851906"/>
            <a:ext cx="54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37"/>
          <p:cNvCxnSpPr>
            <a:stCxn id="508" idx="3"/>
            <a:endCxn id="510" idx="1"/>
          </p:cNvCxnSpPr>
          <p:nvPr/>
        </p:nvCxnSpPr>
        <p:spPr>
          <a:xfrm>
            <a:off x="3257137" y="2851900"/>
            <a:ext cx="315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37"/>
          <p:cNvCxnSpPr>
            <a:stCxn id="510" idx="3"/>
            <a:endCxn id="505" idx="2"/>
          </p:cNvCxnSpPr>
          <p:nvPr/>
        </p:nvCxnSpPr>
        <p:spPr>
          <a:xfrm>
            <a:off x="6991938" y="2851906"/>
            <a:ext cx="156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37"/>
          <p:cNvCxnSpPr>
            <a:stCxn id="507" idx="0"/>
            <a:endCxn id="518" idx="1"/>
          </p:cNvCxnSpPr>
          <p:nvPr/>
        </p:nvCxnSpPr>
        <p:spPr>
          <a:xfrm rot="-5400000">
            <a:off x="1425263" y="1719406"/>
            <a:ext cx="726300" cy="87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37"/>
          <p:cNvCxnSpPr>
            <a:stCxn id="507" idx="2"/>
            <a:endCxn id="513" idx="1"/>
          </p:cNvCxnSpPr>
          <p:nvPr/>
        </p:nvCxnSpPr>
        <p:spPr>
          <a:xfrm flipH="1" rot="-5400000">
            <a:off x="1422563" y="3116206"/>
            <a:ext cx="698400" cy="837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37"/>
          <p:cNvCxnSpPr>
            <a:stCxn id="513" idx="3"/>
            <a:endCxn id="510" idx="2"/>
          </p:cNvCxnSpPr>
          <p:nvPr/>
        </p:nvCxnSpPr>
        <p:spPr>
          <a:xfrm flipH="1" rot="10800000">
            <a:off x="3257137" y="3185700"/>
            <a:ext cx="3443400" cy="698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37"/>
          <p:cNvSpPr txBox="1"/>
          <p:nvPr/>
        </p:nvSpPr>
        <p:spPr>
          <a:xfrm>
            <a:off x="1061775" y="1421725"/>
            <a:ext cx="1026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Manually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22" name="Google Shape;522;p37"/>
          <p:cNvSpPr txBox="1"/>
          <p:nvPr/>
        </p:nvSpPr>
        <p:spPr>
          <a:xfrm>
            <a:off x="1404275" y="2192275"/>
            <a:ext cx="1026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Manually conversion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23" name="Google Shape;523;p37"/>
          <p:cNvSpPr txBox="1"/>
          <p:nvPr/>
        </p:nvSpPr>
        <p:spPr>
          <a:xfrm>
            <a:off x="1352975" y="3273375"/>
            <a:ext cx="1026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Automatic conversion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24" name="Google Shape;524;p37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525" name="Google Shape;525;p37"/>
          <p:cNvSpPr/>
          <p:nvPr/>
        </p:nvSpPr>
        <p:spPr>
          <a:xfrm>
            <a:off x="4176463" y="23712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</a:t>
            </a:r>
            <a:endParaRPr sz="1000"/>
          </a:p>
        </p:txBody>
      </p:sp>
      <p:sp>
        <p:nvSpPr>
          <p:cNvPr id="518" name="Google Shape;518;p37"/>
          <p:cNvSpPr/>
          <p:nvPr/>
        </p:nvSpPr>
        <p:spPr>
          <a:xfrm>
            <a:off x="2223863" y="14577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7"/>
          <p:cNvSpPr/>
          <p:nvPr/>
        </p:nvSpPr>
        <p:spPr>
          <a:xfrm>
            <a:off x="2330364" y="15626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7"/>
          <p:cNvSpPr/>
          <p:nvPr/>
        </p:nvSpPr>
        <p:spPr>
          <a:xfrm>
            <a:off x="6062838" y="14286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7"/>
          <p:cNvSpPr/>
          <p:nvPr/>
        </p:nvSpPr>
        <p:spPr>
          <a:xfrm>
            <a:off x="6169339" y="15335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9" name="Google Shape;529;p37"/>
          <p:cNvCxnSpPr>
            <a:stCxn id="527" idx="3"/>
            <a:endCxn id="510" idx="0"/>
          </p:cNvCxnSpPr>
          <p:nvPr/>
        </p:nvCxnSpPr>
        <p:spPr>
          <a:xfrm>
            <a:off x="6645438" y="1762506"/>
            <a:ext cx="55200" cy="75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0" name="Google Shape;530;p37"/>
          <p:cNvSpPr/>
          <p:nvPr/>
        </p:nvSpPr>
        <p:spPr>
          <a:xfrm>
            <a:off x="4955412" y="8435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Adjustments to Process Order</a:t>
            </a:r>
            <a:endParaRPr sz="900"/>
          </a:p>
        </p:txBody>
      </p:sp>
      <p:sp>
        <p:nvSpPr>
          <p:cNvPr id="531" name="Google Shape;531;p37"/>
          <p:cNvSpPr/>
          <p:nvPr/>
        </p:nvSpPr>
        <p:spPr>
          <a:xfrm>
            <a:off x="4170912" y="16386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Manual Process Order</a:t>
            </a:r>
            <a:endParaRPr sz="900"/>
          </a:p>
        </p:txBody>
      </p:sp>
      <p:cxnSp>
        <p:nvCxnSpPr>
          <p:cNvPr id="532" name="Google Shape;532;p37"/>
          <p:cNvCxnSpPr>
            <a:stCxn id="518" idx="0"/>
            <a:endCxn id="509" idx="1"/>
          </p:cNvCxnSpPr>
          <p:nvPr/>
        </p:nvCxnSpPr>
        <p:spPr>
          <a:xfrm rot="-5400000">
            <a:off x="2875313" y="817406"/>
            <a:ext cx="280200" cy="1000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3" name="Google Shape;533;p37"/>
          <p:cNvCxnSpPr>
            <a:stCxn id="518" idx="3"/>
            <a:endCxn id="531" idx="1"/>
          </p:cNvCxnSpPr>
          <p:nvPr/>
        </p:nvCxnSpPr>
        <p:spPr>
          <a:xfrm>
            <a:off x="2806463" y="1791656"/>
            <a:ext cx="1364400" cy="1809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4" name="Google Shape;534;p37"/>
          <p:cNvCxnSpPr>
            <a:stCxn id="531" idx="3"/>
            <a:endCxn id="527" idx="1"/>
          </p:cNvCxnSpPr>
          <p:nvPr/>
        </p:nvCxnSpPr>
        <p:spPr>
          <a:xfrm flipH="1" rot="10800000">
            <a:off x="5237412" y="1762550"/>
            <a:ext cx="825300" cy="2100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5" name="Google Shape;535;p37"/>
          <p:cNvCxnSpPr>
            <a:stCxn id="530" idx="3"/>
            <a:endCxn id="527" idx="0"/>
          </p:cNvCxnSpPr>
          <p:nvPr/>
        </p:nvCxnSpPr>
        <p:spPr>
          <a:xfrm>
            <a:off x="6021912" y="1177450"/>
            <a:ext cx="332100" cy="251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6" name="Google Shape;536;p37"/>
          <p:cNvCxnSpPr>
            <a:stCxn id="509" idx="3"/>
            <a:endCxn id="530" idx="1"/>
          </p:cNvCxnSpPr>
          <p:nvPr/>
        </p:nvCxnSpPr>
        <p:spPr>
          <a:xfrm>
            <a:off x="4582187" y="1177450"/>
            <a:ext cx="37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37"/>
          <p:cNvSpPr/>
          <p:nvPr/>
        </p:nvSpPr>
        <p:spPr>
          <a:xfrm>
            <a:off x="4955388" y="714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Process Order</a:t>
            </a:r>
            <a:endParaRPr sz="1000"/>
          </a:p>
        </p:txBody>
      </p:sp>
      <p:sp>
        <p:nvSpPr>
          <p:cNvPr id="538" name="Google Shape;538;p37"/>
          <p:cNvSpPr/>
          <p:nvPr/>
        </p:nvSpPr>
        <p:spPr>
          <a:xfrm>
            <a:off x="3467963" y="714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Process Order</a:t>
            </a:r>
            <a:endParaRPr sz="1000"/>
          </a:p>
        </p:txBody>
      </p:sp>
      <p:sp>
        <p:nvSpPr>
          <p:cNvPr id="539" name="Google Shape;539;p37"/>
          <p:cNvSpPr/>
          <p:nvPr/>
        </p:nvSpPr>
        <p:spPr>
          <a:xfrm>
            <a:off x="2190575" y="3162025"/>
            <a:ext cx="2627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Manage planned orders, COR7, COR8, monitor material </a:t>
            </a:r>
            <a:r>
              <a:rPr lang="en" sz="800"/>
              <a:t>coverage</a:t>
            </a:r>
            <a:r>
              <a:rPr lang="en" sz="800"/>
              <a:t>, MD04</a:t>
            </a:r>
            <a:endParaRPr sz="800"/>
          </a:p>
        </p:txBody>
      </p:sp>
      <p:sp>
        <p:nvSpPr>
          <p:cNvPr id="540" name="Google Shape;540;p37"/>
          <p:cNvSpPr/>
          <p:nvPr/>
        </p:nvSpPr>
        <p:spPr>
          <a:xfrm>
            <a:off x="2190637" y="43544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Created from excel sheet for santo andré. Is interface.</a:t>
            </a:r>
            <a:endParaRPr sz="900"/>
          </a:p>
        </p:txBody>
      </p:sp>
      <p:sp>
        <p:nvSpPr>
          <p:cNvPr id="541" name="Google Shape;541;p37"/>
          <p:cNvSpPr/>
          <p:nvPr/>
        </p:nvSpPr>
        <p:spPr>
          <a:xfrm>
            <a:off x="7015717" y="2518000"/>
            <a:ext cx="6561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process order data to mes + the status</a:t>
            </a:r>
            <a:endParaRPr sz="900"/>
          </a:p>
        </p:txBody>
      </p:sp>
      <p:sp>
        <p:nvSpPr>
          <p:cNvPr id="542" name="Google Shape;542;p37"/>
          <p:cNvSpPr/>
          <p:nvPr/>
        </p:nvSpPr>
        <p:spPr>
          <a:xfrm>
            <a:off x="3633037" y="43544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Event: SAP receive the process orders</a:t>
            </a:r>
            <a:endParaRPr sz="900"/>
          </a:p>
        </p:txBody>
      </p:sp>
      <p:cxnSp>
        <p:nvCxnSpPr>
          <p:cNvPr id="543" name="Google Shape;543;p37"/>
          <p:cNvCxnSpPr>
            <a:stCxn id="507" idx="2"/>
            <a:endCxn id="540" idx="1"/>
          </p:cNvCxnSpPr>
          <p:nvPr/>
        </p:nvCxnSpPr>
        <p:spPr>
          <a:xfrm flipH="1" rot="-5400000">
            <a:off x="1020413" y="3518356"/>
            <a:ext cx="1502700" cy="837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4" name="Google Shape;544;p37"/>
          <p:cNvSpPr txBox="1"/>
          <p:nvPr/>
        </p:nvSpPr>
        <p:spPr>
          <a:xfrm>
            <a:off x="1336575" y="4218100"/>
            <a:ext cx="1026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Santo André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545" name="Google Shape;545;p37"/>
          <p:cNvCxnSpPr>
            <a:stCxn id="542" idx="3"/>
            <a:endCxn id="510" idx="2"/>
          </p:cNvCxnSpPr>
          <p:nvPr/>
        </p:nvCxnSpPr>
        <p:spPr>
          <a:xfrm flipH="1" rot="10800000">
            <a:off x="4699537" y="3185675"/>
            <a:ext cx="2001000" cy="150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37"/>
          <p:cNvCxnSpPr>
            <a:stCxn id="540" idx="3"/>
            <a:endCxn id="542" idx="1"/>
          </p:cNvCxnSpPr>
          <p:nvPr/>
        </p:nvCxnSpPr>
        <p:spPr>
          <a:xfrm>
            <a:off x="3257137" y="4688375"/>
            <a:ext cx="3759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7" name="Google Shape;547;p37"/>
          <p:cNvSpPr/>
          <p:nvPr/>
        </p:nvSpPr>
        <p:spPr>
          <a:xfrm>
            <a:off x="6818100" y="412020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when planned order is created then send to MES to be checked what mes does with this , +  decide which mes</a:t>
            </a:r>
            <a:endParaRPr/>
          </a:p>
        </p:txBody>
      </p:sp>
      <p:sp>
        <p:nvSpPr>
          <p:cNvPr id="548" name="Google Shape;548;p37"/>
          <p:cNvSpPr/>
          <p:nvPr/>
        </p:nvSpPr>
        <p:spPr>
          <a:xfrm>
            <a:off x="7802067" y="2488850"/>
            <a:ext cx="6561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Event: received</a:t>
            </a:r>
            <a:endParaRPr sz="900"/>
          </a:p>
        </p:txBody>
      </p:sp>
      <p:sp>
        <p:nvSpPr>
          <p:cNvPr id="549" name="Google Shape;549;p3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8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M-100-050: Release Process Order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r>
              <a:rPr lang="en" sz="1000"/>
              <a:t>Production Supervisor - Process Manufacturing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555" name="Google Shape;555;p38"/>
          <p:cNvSpPr/>
          <p:nvPr/>
        </p:nvSpPr>
        <p:spPr>
          <a:xfrm>
            <a:off x="233550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release process order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556" name="Google Shape;556;p38"/>
          <p:cNvSpPr/>
          <p:nvPr/>
        </p:nvSpPr>
        <p:spPr>
          <a:xfrm>
            <a:off x="8256150" y="2201950"/>
            <a:ext cx="904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process order released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557" name="Google Shape;557;p38"/>
          <p:cNvCxnSpPr>
            <a:stCxn id="555" idx="6"/>
            <a:endCxn id="558" idx="1"/>
          </p:cNvCxnSpPr>
          <p:nvPr/>
        </p:nvCxnSpPr>
        <p:spPr>
          <a:xfrm>
            <a:off x="1049550" y="2571750"/>
            <a:ext cx="7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38"/>
          <p:cNvCxnSpPr>
            <a:stCxn id="560" idx="3"/>
            <a:endCxn id="556" idx="2"/>
          </p:cNvCxnSpPr>
          <p:nvPr/>
        </p:nvCxnSpPr>
        <p:spPr>
          <a:xfrm>
            <a:off x="6214529" y="2561675"/>
            <a:ext cx="20415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38"/>
          <p:cNvSpPr/>
          <p:nvPr/>
        </p:nvSpPr>
        <p:spPr>
          <a:xfrm>
            <a:off x="2122012" y="2237850"/>
            <a:ext cx="787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Check Material availability </a:t>
            </a:r>
            <a:endParaRPr sz="900"/>
          </a:p>
        </p:txBody>
      </p:sp>
      <p:sp>
        <p:nvSpPr>
          <p:cNvPr id="560" name="Google Shape;560;p38"/>
          <p:cNvSpPr/>
          <p:nvPr/>
        </p:nvSpPr>
        <p:spPr>
          <a:xfrm>
            <a:off x="5497229" y="2227775"/>
            <a:ext cx="71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Release process order</a:t>
            </a:r>
            <a:endParaRPr sz="900"/>
          </a:p>
        </p:txBody>
      </p:sp>
      <p:sp>
        <p:nvSpPr>
          <p:cNvPr id="562" name="Google Shape;562;p38"/>
          <p:cNvSpPr/>
          <p:nvPr/>
        </p:nvSpPr>
        <p:spPr>
          <a:xfrm>
            <a:off x="4113454" y="1429700"/>
            <a:ext cx="71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Automatic batch determination</a:t>
            </a:r>
            <a:endParaRPr sz="900"/>
          </a:p>
        </p:txBody>
      </p:sp>
      <p:sp>
        <p:nvSpPr>
          <p:cNvPr id="563" name="Google Shape;563;p38"/>
          <p:cNvSpPr/>
          <p:nvPr/>
        </p:nvSpPr>
        <p:spPr>
          <a:xfrm>
            <a:off x="4113454" y="3025950"/>
            <a:ext cx="71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manual batch determination</a:t>
            </a:r>
            <a:endParaRPr sz="900"/>
          </a:p>
        </p:txBody>
      </p:sp>
      <p:sp>
        <p:nvSpPr>
          <p:cNvPr id="564" name="Google Shape;564;p38"/>
          <p:cNvSpPr/>
          <p:nvPr/>
        </p:nvSpPr>
        <p:spPr>
          <a:xfrm>
            <a:off x="4668088" y="22278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8"/>
          <p:cNvSpPr/>
          <p:nvPr/>
        </p:nvSpPr>
        <p:spPr>
          <a:xfrm>
            <a:off x="4774464" y="2361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8"/>
          <p:cNvSpPr/>
          <p:nvPr/>
        </p:nvSpPr>
        <p:spPr>
          <a:xfrm>
            <a:off x="3637476" y="22278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8"/>
          <p:cNvSpPr/>
          <p:nvPr/>
        </p:nvSpPr>
        <p:spPr>
          <a:xfrm>
            <a:off x="3743851" y="23618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8" name="Google Shape;568;p38"/>
          <p:cNvCxnSpPr>
            <a:stCxn id="566" idx="0"/>
            <a:endCxn id="562" idx="1"/>
          </p:cNvCxnSpPr>
          <p:nvPr/>
        </p:nvCxnSpPr>
        <p:spPr>
          <a:xfrm rot="-5400000">
            <a:off x="3789126" y="1903356"/>
            <a:ext cx="464100" cy="18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38"/>
          <p:cNvCxnSpPr>
            <a:stCxn id="562" idx="3"/>
            <a:endCxn id="564" idx="0"/>
          </p:cNvCxnSpPr>
          <p:nvPr/>
        </p:nvCxnSpPr>
        <p:spPr>
          <a:xfrm>
            <a:off x="4830754" y="1763600"/>
            <a:ext cx="128700" cy="464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0" name="Google Shape;570;p38"/>
          <p:cNvCxnSpPr>
            <a:stCxn id="566" idx="2"/>
            <a:endCxn id="563" idx="1"/>
          </p:cNvCxnSpPr>
          <p:nvPr/>
        </p:nvCxnSpPr>
        <p:spPr>
          <a:xfrm flipH="1" rot="-5400000">
            <a:off x="3789126" y="3035256"/>
            <a:ext cx="464100" cy="18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38"/>
          <p:cNvCxnSpPr>
            <a:stCxn id="563" idx="3"/>
            <a:endCxn id="564" idx="2"/>
          </p:cNvCxnSpPr>
          <p:nvPr/>
        </p:nvCxnSpPr>
        <p:spPr>
          <a:xfrm flipH="1" rot="10800000">
            <a:off x="4830754" y="2895750"/>
            <a:ext cx="128700" cy="464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38"/>
          <p:cNvCxnSpPr>
            <a:stCxn id="561" idx="3"/>
            <a:endCxn id="566" idx="1"/>
          </p:cNvCxnSpPr>
          <p:nvPr/>
        </p:nvCxnSpPr>
        <p:spPr>
          <a:xfrm flipH="1" rot="10800000">
            <a:off x="2909212" y="2561850"/>
            <a:ext cx="7284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3" name="Google Shape;573;p38"/>
          <p:cNvSpPr txBox="1"/>
          <p:nvPr/>
        </p:nvSpPr>
        <p:spPr>
          <a:xfrm>
            <a:off x="3127713" y="3359850"/>
            <a:ext cx="11430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Manual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74" name="Google Shape;574;p38"/>
          <p:cNvSpPr txBox="1"/>
          <p:nvPr/>
        </p:nvSpPr>
        <p:spPr>
          <a:xfrm>
            <a:off x="3322421" y="1429700"/>
            <a:ext cx="7536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automatic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75" name="Google Shape;575;p38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576" name="Google Shape;576;p38"/>
          <p:cNvSpPr/>
          <p:nvPr/>
        </p:nvSpPr>
        <p:spPr>
          <a:xfrm>
            <a:off x="3891150" y="3801515"/>
            <a:ext cx="1161900" cy="545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process order</a:t>
            </a:r>
            <a:endParaRPr sz="1000"/>
          </a:p>
        </p:txBody>
      </p:sp>
      <p:sp>
        <p:nvSpPr>
          <p:cNvPr id="577" name="Google Shape;577;p38"/>
          <p:cNvSpPr/>
          <p:nvPr/>
        </p:nvSpPr>
        <p:spPr>
          <a:xfrm>
            <a:off x="1227129" y="2237800"/>
            <a:ext cx="71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create process order</a:t>
            </a:r>
            <a:endParaRPr sz="900"/>
          </a:p>
        </p:txBody>
      </p:sp>
      <p:sp>
        <p:nvSpPr>
          <p:cNvPr id="578" name="Google Shape;578;p38"/>
          <p:cNvSpPr/>
          <p:nvPr/>
        </p:nvSpPr>
        <p:spPr>
          <a:xfrm>
            <a:off x="5340500" y="1536913"/>
            <a:ext cx="1161900" cy="690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Process order</a:t>
            </a:r>
            <a:endParaRPr sz="1000"/>
          </a:p>
        </p:txBody>
      </p:sp>
      <p:cxnSp>
        <p:nvCxnSpPr>
          <p:cNvPr id="579" name="Google Shape;579;p38"/>
          <p:cNvCxnSpPr>
            <a:stCxn id="564" idx="3"/>
            <a:endCxn id="560" idx="1"/>
          </p:cNvCxnSpPr>
          <p:nvPr/>
        </p:nvCxnSpPr>
        <p:spPr>
          <a:xfrm>
            <a:off x="5250688" y="2561731"/>
            <a:ext cx="24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0" name="Google Shape;580;p38"/>
          <p:cNvSpPr/>
          <p:nvPr/>
        </p:nvSpPr>
        <p:spPr>
          <a:xfrm>
            <a:off x="6461062" y="22277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the status to mes from sap</a:t>
            </a:r>
            <a:endParaRPr sz="900"/>
          </a:p>
        </p:txBody>
      </p:sp>
      <p:sp>
        <p:nvSpPr>
          <p:cNvPr id="581" name="Google Shape;581;p38"/>
          <p:cNvSpPr/>
          <p:nvPr/>
        </p:nvSpPr>
        <p:spPr>
          <a:xfrm>
            <a:off x="7600555" y="2237850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received</a:t>
            </a:r>
            <a:endParaRPr sz="900"/>
          </a:p>
        </p:txBody>
      </p:sp>
      <p:sp>
        <p:nvSpPr>
          <p:cNvPr id="582" name="Google Shape;582;p38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M-100-220: Plan Production line changes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588" name="Google Shape;588;p39"/>
          <p:cNvSpPr/>
          <p:nvPr/>
        </p:nvSpPr>
        <p:spPr>
          <a:xfrm>
            <a:off x="1212325" y="211227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production line changes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589" name="Google Shape;589;p39"/>
          <p:cNvSpPr/>
          <p:nvPr/>
        </p:nvSpPr>
        <p:spPr>
          <a:xfrm>
            <a:off x="7054175" y="214167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production line changes executed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590" name="Google Shape;590;p39"/>
          <p:cNvCxnSpPr>
            <a:stCxn id="588" idx="6"/>
            <a:endCxn id="591" idx="1"/>
          </p:cNvCxnSpPr>
          <p:nvPr/>
        </p:nvCxnSpPr>
        <p:spPr>
          <a:xfrm>
            <a:off x="2028325" y="2511425"/>
            <a:ext cx="32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39"/>
          <p:cNvCxnSpPr>
            <a:stCxn id="593" idx="3"/>
            <a:endCxn id="589" idx="2"/>
          </p:cNvCxnSpPr>
          <p:nvPr/>
        </p:nvCxnSpPr>
        <p:spPr>
          <a:xfrm>
            <a:off x="3424237" y="2511425"/>
            <a:ext cx="363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3" name="Google Shape;593;p39"/>
          <p:cNvSpPr/>
          <p:nvPr/>
        </p:nvSpPr>
        <p:spPr>
          <a:xfrm>
            <a:off x="2357737" y="21775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asses change requirements</a:t>
            </a:r>
            <a:endParaRPr sz="900"/>
          </a:p>
        </p:txBody>
      </p:sp>
      <p:sp>
        <p:nvSpPr>
          <p:cNvPr id="594" name="Google Shape;594;p39"/>
          <p:cNvSpPr/>
          <p:nvPr/>
        </p:nvSpPr>
        <p:spPr>
          <a:xfrm>
            <a:off x="3874412" y="21775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Develop Change Over Plan and Checklist</a:t>
            </a:r>
            <a:endParaRPr sz="900"/>
          </a:p>
        </p:txBody>
      </p:sp>
      <p:sp>
        <p:nvSpPr>
          <p:cNvPr id="595" name="Google Shape;595;p39"/>
          <p:cNvSpPr/>
          <p:nvPr/>
        </p:nvSpPr>
        <p:spPr>
          <a:xfrm>
            <a:off x="5391087" y="21775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Execute Change Over</a:t>
            </a:r>
            <a:endParaRPr sz="900"/>
          </a:p>
        </p:txBody>
      </p:sp>
      <p:sp>
        <p:nvSpPr>
          <p:cNvPr id="596" name="Google Shape;596;p3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M-100-280: batch determination for the raw materials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602" name="Google Shape;602;p40"/>
          <p:cNvSpPr/>
          <p:nvPr/>
        </p:nvSpPr>
        <p:spPr>
          <a:xfrm>
            <a:off x="127800" y="208427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determine batch for raw material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03" name="Google Shape;603;p40"/>
          <p:cNvSpPr/>
          <p:nvPr/>
        </p:nvSpPr>
        <p:spPr>
          <a:xfrm>
            <a:off x="6593425" y="21495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batch determined for raw materials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604" name="Google Shape;604;p40"/>
          <p:cNvCxnSpPr>
            <a:stCxn id="602" idx="6"/>
            <a:endCxn id="605" idx="1"/>
          </p:cNvCxnSpPr>
          <p:nvPr/>
        </p:nvCxnSpPr>
        <p:spPr>
          <a:xfrm>
            <a:off x="943800" y="2483425"/>
            <a:ext cx="18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40"/>
          <p:cNvCxnSpPr>
            <a:stCxn id="607" idx="3"/>
            <a:endCxn id="603" idx="2"/>
          </p:cNvCxnSpPr>
          <p:nvPr/>
        </p:nvCxnSpPr>
        <p:spPr>
          <a:xfrm>
            <a:off x="6089725" y="2519275"/>
            <a:ext cx="50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8" name="Google Shape;608;p40"/>
          <p:cNvSpPr/>
          <p:nvPr/>
        </p:nvSpPr>
        <p:spPr>
          <a:xfrm>
            <a:off x="2565849" y="1551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Task: automatic batch selection for component</a:t>
            </a:r>
            <a:endParaRPr sz="900"/>
          </a:p>
        </p:txBody>
      </p:sp>
      <p:sp>
        <p:nvSpPr>
          <p:cNvPr id="609" name="Google Shape;609;p4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605" name="Google Shape;605;p40"/>
          <p:cNvSpPr/>
          <p:nvPr/>
        </p:nvSpPr>
        <p:spPr>
          <a:xfrm>
            <a:off x="1125501" y="21495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0"/>
          <p:cNvSpPr/>
          <p:nvPr/>
        </p:nvSpPr>
        <p:spPr>
          <a:xfrm>
            <a:off x="1231876" y="22835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0"/>
          <p:cNvSpPr/>
          <p:nvPr/>
        </p:nvSpPr>
        <p:spPr>
          <a:xfrm>
            <a:off x="5688651" y="21853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0"/>
          <p:cNvSpPr/>
          <p:nvPr/>
        </p:nvSpPr>
        <p:spPr>
          <a:xfrm>
            <a:off x="5795026" y="23194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0"/>
          <p:cNvSpPr/>
          <p:nvPr/>
        </p:nvSpPr>
        <p:spPr>
          <a:xfrm>
            <a:off x="2565849" y="30702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Task: select batch for component</a:t>
            </a:r>
            <a:endParaRPr sz="900"/>
          </a:p>
        </p:txBody>
      </p:sp>
      <p:sp>
        <p:nvSpPr>
          <p:cNvPr id="614" name="Google Shape;614;p40"/>
          <p:cNvSpPr/>
          <p:nvPr/>
        </p:nvSpPr>
        <p:spPr>
          <a:xfrm>
            <a:off x="2518150" y="3688615"/>
            <a:ext cx="1161900" cy="545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process order</a:t>
            </a:r>
            <a:endParaRPr sz="1000"/>
          </a:p>
        </p:txBody>
      </p:sp>
      <p:cxnSp>
        <p:nvCxnSpPr>
          <p:cNvPr id="615" name="Google Shape;615;p40"/>
          <p:cNvCxnSpPr>
            <a:stCxn id="605" idx="2"/>
            <a:endCxn id="613" idx="1"/>
          </p:cNvCxnSpPr>
          <p:nvPr/>
        </p:nvCxnSpPr>
        <p:spPr>
          <a:xfrm flipH="1" rot="-5400000">
            <a:off x="1697901" y="2536231"/>
            <a:ext cx="586800" cy="1149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40"/>
          <p:cNvCxnSpPr>
            <a:stCxn id="605" idx="0"/>
            <a:endCxn id="608" idx="1"/>
          </p:cNvCxnSpPr>
          <p:nvPr/>
        </p:nvCxnSpPr>
        <p:spPr>
          <a:xfrm rot="-5400000">
            <a:off x="1859451" y="1443181"/>
            <a:ext cx="263700" cy="1149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40"/>
          <p:cNvCxnSpPr>
            <a:stCxn id="608" idx="3"/>
            <a:endCxn id="611" idx="0"/>
          </p:cNvCxnSpPr>
          <p:nvPr/>
        </p:nvCxnSpPr>
        <p:spPr>
          <a:xfrm>
            <a:off x="3632349" y="1885850"/>
            <a:ext cx="2347500" cy="299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40"/>
          <p:cNvCxnSpPr>
            <a:stCxn id="613" idx="3"/>
            <a:endCxn id="611" idx="2"/>
          </p:cNvCxnSpPr>
          <p:nvPr/>
        </p:nvCxnSpPr>
        <p:spPr>
          <a:xfrm flipH="1" rot="10800000">
            <a:off x="3632349" y="2853050"/>
            <a:ext cx="2347500" cy="551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624" name="Google Shape;624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7.1.6 Production Process control Analysis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M-100-190: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Perform In-Line Inspection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630" name="Google Shape;630;p42"/>
          <p:cNvSpPr/>
          <p:nvPr/>
        </p:nvSpPr>
        <p:spPr>
          <a:xfrm>
            <a:off x="298000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perform in-line inspection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31" name="Google Shape;631;p42"/>
          <p:cNvSpPr/>
          <p:nvPr/>
        </p:nvSpPr>
        <p:spPr>
          <a:xfrm>
            <a:off x="6515350" y="22020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in-line inspection performed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632" name="Google Shape;632;p42"/>
          <p:cNvCxnSpPr>
            <a:stCxn id="630" idx="6"/>
            <a:endCxn id="633" idx="1"/>
          </p:cNvCxnSpPr>
          <p:nvPr/>
        </p:nvCxnSpPr>
        <p:spPr>
          <a:xfrm>
            <a:off x="1114000" y="2571750"/>
            <a:ext cx="371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42"/>
          <p:cNvCxnSpPr>
            <a:stCxn id="633" idx="3"/>
            <a:endCxn id="631" idx="2"/>
          </p:cNvCxnSpPr>
          <p:nvPr/>
        </p:nvCxnSpPr>
        <p:spPr>
          <a:xfrm>
            <a:off x="5896949" y="2571750"/>
            <a:ext cx="61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3" name="Google Shape;633;p42"/>
          <p:cNvSpPr/>
          <p:nvPr/>
        </p:nvSpPr>
        <p:spPr>
          <a:xfrm>
            <a:off x="4830449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perform in-line inspection</a:t>
            </a:r>
            <a:endParaRPr sz="900"/>
          </a:p>
        </p:txBody>
      </p:sp>
      <p:sp>
        <p:nvSpPr>
          <p:cNvPr id="635" name="Google Shape;635;p42"/>
          <p:cNvSpPr/>
          <p:nvPr/>
        </p:nvSpPr>
        <p:spPr>
          <a:xfrm>
            <a:off x="1478274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create in-process inspection lot from production</a:t>
            </a:r>
            <a:endParaRPr sz="900"/>
          </a:p>
        </p:txBody>
      </p:sp>
      <p:cxnSp>
        <p:nvCxnSpPr>
          <p:cNvPr id="636" name="Google Shape;636;p42"/>
          <p:cNvCxnSpPr>
            <a:stCxn id="635" idx="3"/>
            <a:endCxn id="633" idx="1"/>
          </p:cNvCxnSpPr>
          <p:nvPr/>
        </p:nvCxnSpPr>
        <p:spPr>
          <a:xfrm>
            <a:off x="2544774" y="2571750"/>
            <a:ext cx="228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7" name="Google Shape;637;p42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638" name="Google Shape;638;p42"/>
          <p:cNvSpPr/>
          <p:nvPr/>
        </p:nvSpPr>
        <p:spPr>
          <a:xfrm>
            <a:off x="3088825" y="3016375"/>
            <a:ext cx="781200" cy="4224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QE51N</a:t>
            </a:r>
            <a:endParaRPr sz="1000"/>
          </a:p>
        </p:txBody>
      </p:sp>
      <p:sp>
        <p:nvSpPr>
          <p:cNvPr id="639" name="Google Shape;639;p4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640" name="Google Shape;640;p42"/>
          <p:cNvSpPr/>
          <p:nvPr/>
        </p:nvSpPr>
        <p:spPr>
          <a:xfrm>
            <a:off x="3033574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Check the </a:t>
            </a:r>
            <a:r>
              <a:rPr lang="en" sz="900"/>
              <a:t>inspection</a:t>
            </a:r>
            <a:r>
              <a:rPr lang="en" sz="900"/>
              <a:t> points</a:t>
            </a:r>
            <a:endParaRPr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M-100-260: Restrict Batch of Product/Partial Lot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646" name="Google Shape;646;p43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647" name="Google Shape;647;p43"/>
          <p:cNvSpPr/>
          <p:nvPr/>
        </p:nvSpPr>
        <p:spPr>
          <a:xfrm>
            <a:off x="2490975" y="2189012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Restrict Batch of Product/Partial Lot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48" name="Google Shape;648;p43"/>
          <p:cNvSpPr/>
          <p:nvPr/>
        </p:nvSpPr>
        <p:spPr>
          <a:xfrm>
            <a:off x="6378050" y="2188987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</a:t>
            </a:r>
            <a:r>
              <a:rPr lang="en" sz="600">
                <a:solidFill>
                  <a:schemeClr val="dk1"/>
                </a:solidFill>
              </a:rPr>
              <a:t>: </a:t>
            </a:r>
            <a:r>
              <a:rPr lang="en" sz="600">
                <a:solidFill>
                  <a:schemeClr val="dk1"/>
                </a:solidFill>
              </a:rPr>
              <a:t>Batch of Product/Partial Lot Restricted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49" name="Google Shape;649;p43"/>
          <p:cNvSpPr/>
          <p:nvPr/>
        </p:nvSpPr>
        <p:spPr>
          <a:xfrm>
            <a:off x="4069949" y="2254238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Restrict Batch of Product/Partial Lot</a:t>
            </a:r>
            <a:endParaRPr sz="900"/>
          </a:p>
        </p:txBody>
      </p:sp>
      <p:cxnSp>
        <p:nvCxnSpPr>
          <p:cNvPr id="650" name="Google Shape;650;p43"/>
          <p:cNvCxnSpPr>
            <a:stCxn id="647" idx="6"/>
            <a:endCxn id="649" idx="1"/>
          </p:cNvCxnSpPr>
          <p:nvPr/>
        </p:nvCxnSpPr>
        <p:spPr>
          <a:xfrm>
            <a:off x="3306975" y="2588162"/>
            <a:ext cx="7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43"/>
          <p:cNvCxnSpPr>
            <a:stCxn id="649" idx="3"/>
            <a:endCxn id="648" idx="2"/>
          </p:cNvCxnSpPr>
          <p:nvPr/>
        </p:nvCxnSpPr>
        <p:spPr>
          <a:xfrm>
            <a:off x="5136449" y="2588138"/>
            <a:ext cx="12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2" name="Google Shape;652;p43"/>
          <p:cNvSpPr/>
          <p:nvPr/>
        </p:nvSpPr>
        <p:spPr>
          <a:xfrm>
            <a:off x="4022250" y="29220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M-130-010: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Create In-Process Inspection Lot from Production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658" name="Google Shape;658;p44"/>
          <p:cNvSpPr/>
          <p:nvPr/>
        </p:nvSpPr>
        <p:spPr>
          <a:xfrm>
            <a:off x="406700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create in-process inspection lot from production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59" name="Google Shape;659;p44"/>
          <p:cNvSpPr/>
          <p:nvPr/>
        </p:nvSpPr>
        <p:spPr>
          <a:xfrm>
            <a:off x="7581775" y="22020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in-process inspection lot from production created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660" name="Google Shape;660;p44"/>
          <p:cNvCxnSpPr>
            <a:stCxn id="658" idx="6"/>
            <a:endCxn id="661" idx="1"/>
          </p:cNvCxnSpPr>
          <p:nvPr/>
        </p:nvCxnSpPr>
        <p:spPr>
          <a:xfrm>
            <a:off x="1222700" y="2571750"/>
            <a:ext cx="20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2" name="Google Shape;662;p44"/>
          <p:cNvCxnSpPr>
            <a:stCxn id="661" idx="3"/>
            <a:endCxn id="663" idx="1"/>
          </p:cNvCxnSpPr>
          <p:nvPr/>
        </p:nvCxnSpPr>
        <p:spPr>
          <a:xfrm>
            <a:off x="5896949" y="2571750"/>
            <a:ext cx="30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4" name="Google Shape;664;p44"/>
          <p:cNvSpPr/>
          <p:nvPr/>
        </p:nvSpPr>
        <p:spPr>
          <a:xfrm>
            <a:off x="1590299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create in-process inspection lot from production (automatic)</a:t>
            </a:r>
            <a:endParaRPr sz="900"/>
          </a:p>
        </p:txBody>
      </p:sp>
      <p:cxnSp>
        <p:nvCxnSpPr>
          <p:cNvPr id="665" name="Google Shape;665;p44"/>
          <p:cNvCxnSpPr>
            <a:stCxn id="664" idx="3"/>
            <a:endCxn id="661" idx="1"/>
          </p:cNvCxnSpPr>
          <p:nvPr/>
        </p:nvCxnSpPr>
        <p:spPr>
          <a:xfrm>
            <a:off x="2656799" y="2571750"/>
            <a:ext cx="4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6" name="Google Shape;666;p44"/>
          <p:cNvCxnSpPr>
            <a:stCxn id="667" idx="3"/>
            <a:endCxn id="659" idx="2"/>
          </p:cNvCxnSpPr>
          <p:nvPr/>
        </p:nvCxnSpPr>
        <p:spPr>
          <a:xfrm>
            <a:off x="7185313" y="2571756"/>
            <a:ext cx="39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8" name="Google Shape;668;p44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669" name="Google Shape;669;p44"/>
          <p:cNvSpPr/>
          <p:nvPr/>
        </p:nvSpPr>
        <p:spPr>
          <a:xfrm>
            <a:off x="3761762" y="2237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send inspection lot to LIMS</a:t>
            </a:r>
            <a:endParaRPr sz="900"/>
          </a:p>
        </p:txBody>
      </p:sp>
      <p:sp>
        <p:nvSpPr>
          <p:cNvPr id="670" name="Google Shape;670;p4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671" name="Google Shape;671;p44"/>
          <p:cNvSpPr/>
          <p:nvPr/>
        </p:nvSpPr>
        <p:spPr>
          <a:xfrm>
            <a:off x="2904026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4"/>
          <p:cNvSpPr/>
          <p:nvPr/>
        </p:nvSpPr>
        <p:spPr>
          <a:xfrm>
            <a:off x="3010401" y="23719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4"/>
          <p:cNvSpPr/>
          <p:nvPr/>
        </p:nvSpPr>
        <p:spPr>
          <a:xfrm>
            <a:off x="6602713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4"/>
          <p:cNvSpPr/>
          <p:nvPr/>
        </p:nvSpPr>
        <p:spPr>
          <a:xfrm>
            <a:off x="6709089" y="23719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4" name="Google Shape;674;p44"/>
          <p:cNvCxnSpPr>
            <a:stCxn id="671" idx="0"/>
            <a:endCxn id="667" idx="0"/>
          </p:cNvCxnSpPr>
          <p:nvPr/>
        </p:nvCxnSpPr>
        <p:spPr>
          <a:xfrm flipH="1" rot="-5400000">
            <a:off x="5044376" y="388806"/>
            <a:ext cx="600" cy="36987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5" name="Google Shape;675;p44"/>
          <p:cNvCxnSpPr>
            <a:stCxn id="671" idx="3"/>
            <a:endCxn id="669" idx="1"/>
          </p:cNvCxnSpPr>
          <p:nvPr/>
        </p:nvCxnSpPr>
        <p:spPr>
          <a:xfrm>
            <a:off x="3486626" y="2571756"/>
            <a:ext cx="27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6" name="Google Shape;676;p44"/>
          <p:cNvCxnSpPr>
            <a:stCxn id="669" idx="3"/>
            <a:endCxn id="667" idx="1"/>
          </p:cNvCxnSpPr>
          <p:nvPr/>
        </p:nvCxnSpPr>
        <p:spPr>
          <a:xfrm>
            <a:off x="4828262" y="2571700"/>
            <a:ext cx="177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7" name="Google Shape;677;p44"/>
          <p:cNvSpPr txBox="1"/>
          <p:nvPr/>
        </p:nvSpPr>
        <p:spPr>
          <a:xfrm>
            <a:off x="3151550" y="1607800"/>
            <a:ext cx="15153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LIMS not activated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678" name="Google Shape;678;p44"/>
          <p:cNvSpPr txBox="1"/>
          <p:nvPr/>
        </p:nvSpPr>
        <p:spPr>
          <a:xfrm>
            <a:off x="3004075" y="2970900"/>
            <a:ext cx="15153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LIMS activated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679" name="Google Shape;679;p44"/>
          <p:cNvSpPr/>
          <p:nvPr/>
        </p:nvSpPr>
        <p:spPr>
          <a:xfrm>
            <a:off x="5103374" y="2237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send inspection lot to LIMS</a:t>
            </a:r>
            <a:endParaRPr sz="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M-130-040: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Results Recording In Process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685" name="Google Shape;685;p45"/>
          <p:cNvSpPr/>
          <p:nvPr/>
        </p:nvSpPr>
        <p:spPr>
          <a:xfrm>
            <a:off x="39275" y="22573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record results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86" name="Google Shape;686;p45"/>
          <p:cNvSpPr/>
          <p:nvPr/>
        </p:nvSpPr>
        <p:spPr>
          <a:xfrm>
            <a:off x="8139875" y="22867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results recorded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687" name="Google Shape;687;p45"/>
          <p:cNvCxnSpPr>
            <a:stCxn id="685" idx="6"/>
            <a:endCxn id="688" idx="1"/>
          </p:cNvCxnSpPr>
          <p:nvPr/>
        </p:nvCxnSpPr>
        <p:spPr>
          <a:xfrm>
            <a:off x="855275" y="2656500"/>
            <a:ext cx="11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9" name="Google Shape;689;p45"/>
          <p:cNvSpPr/>
          <p:nvPr/>
        </p:nvSpPr>
        <p:spPr>
          <a:xfrm>
            <a:off x="3066125" y="2302650"/>
            <a:ext cx="1018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perform test and measure characteristics</a:t>
            </a:r>
            <a:endParaRPr sz="900"/>
          </a:p>
        </p:txBody>
      </p:sp>
      <p:sp>
        <p:nvSpPr>
          <p:cNvPr id="690" name="Google Shape;690;p45"/>
          <p:cNvSpPr/>
          <p:nvPr/>
        </p:nvSpPr>
        <p:spPr>
          <a:xfrm>
            <a:off x="1491724" y="14852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Inspection lot</a:t>
            </a:r>
            <a:endParaRPr sz="900"/>
          </a:p>
        </p:txBody>
      </p:sp>
      <p:cxnSp>
        <p:nvCxnSpPr>
          <p:cNvPr id="691" name="Google Shape;691;p45"/>
          <p:cNvCxnSpPr>
            <a:stCxn id="692" idx="3"/>
            <a:endCxn id="689" idx="1"/>
          </p:cNvCxnSpPr>
          <p:nvPr/>
        </p:nvCxnSpPr>
        <p:spPr>
          <a:xfrm>
            <a:off x="2939813" y="2629206"/>
            <a:ext cx="126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3" name="Google Shape;693;p45"/>
          <p:cNvSpPr/>
          <p:nvPr/>
        </p:nvSpPr>
        <p:spPr>
          <a:xfrm>
            <a:off x="4954512" y="1634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results in sap</a:t>
            </a:r>
            <a:endParaRPr sz="900"/>
          </a:p>
        </p:txBody>
      </p:sp>
      <p:sp>
        <p:nvSpPr>
          <p:cNvPr id="694" name="Google Shape;694;p45"/>
          <p:cNvSpPr/>
          <p:nvPr/>
        </p:nvSpPr>
        <p:spPr>
          <a:xfrm>
            <a:off x="1170725" y="1330338"/>
            <a:ext cx="1895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695" name="Google Shape;695;p45"/>
          <p:cNvSpPr/>
          <p:nvPr/>
        </p:nvSpPr>
        <p:spPr>
          <a:xfrm>
            <a:off x="1491724" y="32602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point or physical sample</a:t>
            </a:r>
            <a:endParaRPr sz="900"/>
          </a:p>
        </p:txBody>
      </p:sp>
      <p:sp>
        <p:nvSpPr>
          <p:cNvPr id="696" name="Google Shape;696;p45"/>
          <p:cNvSpPr/>
          <p:nvPr/>
        </p:nvSpPr>
        <p:spPr>
          <a:xfrm>
            <a:off x="4577501" y="3260225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</a:t>
            </a:r>
            <a:r>
              <a:rPr lang="en" sz="900"/>
              <a:t> record results in LIMS</a:t>
            </a:r>
            <a:endParaRPr sz="900"/>
          </a:p>
        </p:txBody>
      </p:sp>
      <p:sp>
        <p:nvSpPr>
          <p:cNvPr id="697" name="Google Shape;697;p45"/>
          <p:cNvSpPr/>
          <p:nvPr/>
        </p:nvSpPr>
        <p:spPr>
          <a:xfrm>
            <a:off x="5236400" y="3260225"/>
            <a:ext cx="685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transfer results from LIMS to SAP</a:t>
            </a:r>
            <a:endParaRPr sz="900"/>
          </a:p>
        </p:txBody>
      </p:sp>
      <p:sp>
        <p:nvSpPr>
          <p:cNvPr id="698" name="Google Shape;698;p45"/>
          <p:cNvSpPr/>
          <p:nvPr/>
        </p:nvSpPr>
        <p:spPr>
          <a:xfrm>
            <a:off x="6950287" y="238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complete inspection lot(UD)</a:t>
            </a:r>
            <a:endParaRPr sz="900"/>
          </a:p>
        </p:txBody>
      </p:sp>
      <p:sp>
        <p:nvSpPr>
          <p:cNvPr id="688" name="Google Shape;688;p45"/>
          <p:cNvSpPr/>
          <p:nvPr/>
        </p:nvSpPr>
        <p:spPr>
          <a:xfrm>
            <a:off x="973863" y="23226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5"/>
          <p:cNvSpPr/>
          <p:nvPr/>
        </p:nvSpPr>
        <p:spPr>
          <a:xfrm>
            <a:off x="1080375" y="2475750"/>
            <a:ext cx="369600" cy="361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5"/>
          <p:cNvSpPr/>
          <p:nvPr/>
        </p:nvSpPr>
        <p:spPr>
          <a:xfrm>
            <a:off x="2357213" y="22953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5"/>
          <p:cNvSpPr/>
          <p:nvPr/>
        </p:nvSpPr>
        <p:spPr>
          <a:xfrm>
            <a:off x="2463725" y="2463150"/>
            <a:ext cx="369600" cy="361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1" name="Google Shape;701;p45"/>
          <p:cNvCxnSpPr>
            <a:stCxn id="688" idx="0"/>
            <a:endCxn id="690" idx="1"/>
          </p:cNvCxnSpPr>
          <p:nvPr/>
        </p:nvCxnSpPr>
        <p:spPr>
          <a:xfrm rot="-5400000">
            <a:off x="1126713" y="1957656"/>
            <a:ext cx="503400" cy="226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2" name="Google Shape;702;p45"/>
          <p:cNvCxnSpPr>
            <a:stCxn id="690" idx="3"/>
            <a:endCxn id="692" idx="0"/>
          </p:cNvCxnSpPr>
          <p:nvPr/>
        </p:nvCxnSpPr>
        <p:spPr>
          <a:xfrm>
            <a:off x="2558224" y="1819175"/>
            <a:ext cx="90300" cy="47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3" name="Google Shape;703;p45"/>
          <p:cNvCxnSpPr>
            <a:stCxn id="688" idx="2"/>
            <a:endCxn id="695" idx="1"/>
          </p:cNvCxnSpPr>
          <p:nvPr/>
        </p:nvCxnSpPr>
        <p:spPr>
          <a:xfrm flipH="1" rot="-5400000">
            <a:off x="1076613" y="3178956"/>
            <a:ext cx="603600" cy="226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4" name="Google Shape;704;p45"/>
          <p:cNvCxnSpPr>
            <a:stCxn id="695" idx="3"/>
            <a:endCxn id="692" idx="2"/>
          </p:cNvCxnSpPr>
          <p:nvPr/>
        </p:nvCxnSpPr>
        <p:spPr>
          <a:xfrm flipH="1" rot="10800000">
            <a:off x="2558224" y="2963225"/>
            <a:ext cx="90300" cy="63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45"/>
          <p:cNvCxnSpPr>
            <a:stCxn id="696" idx="3"/>
            <a:endCxn id="697" idx="1"/>
          </p:cNvCxnSpPr>
          <p:nvPr/>
        </p:nvCxnSpPr>
        <p:spPr>
          <a:xfrm>
            <a:off x="5160101" y="3594125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6" name="Google Shape;706;p4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707" name="Google Shape;707;p45"/>
          <p:cNvSpPr/>
          <p:nvPr/>
        </p:nvSpPr>
        <p:spPr>
          <a:xfrm>
            <a:off x="5997901" y="3260225"/>
            <a:ext cx="685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message received</a:t>
            </a:r>
            <a:endParaRPr sz="900"/>
          </a:p>
        </p:txBody>
      </p:sp>
      <p:sp>
        <p:nvSpPr>
          <p:cNvPr id="708" name="Google Shape;708;p45"/>
          <p:cNvSpPr/>
          <p:nvPr/>
        </p:nvSpPr>
        <p:spPr>
          <a:xfrm>
            <a:off x="4631300" y="1485275"/>
            <a:ext cx="1895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QE51E</a:t>
            </a:r>
            <a:endParaRPr sz="1000"/>
          </a:p>
        </p:txBody>
      </p:sp>
      <p:sp>
        <p:nvSpPr>
          <p:cNvPr id="709" name="Google Shape;709;p45"/>
          <p:cNvSpPr/>
          <p:nvPr/>
        </p:nvSpPr>
        <p:spPr>
          <a:xfrm>
            <a:off x="1170725" y="3887550"/>
            <a:ext cx="1895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cxnSp>
        <p:nvCxnSpPr>
          <p:cNvPr id="710" name="Google Shape;710;p45"/>
          <p:cNvCxnSpPr>
            <a:stCxn id="711" idx="0"/>
            <a:endCxn id="693" idx="1"/>
          </p:cNvCxnSpPr>
          <p:nvPr/>
        </p:nvCxnSpPr>
        <p:spPr>
          <a:xfrm rot="-5400000">
            <a:off x="4554063" y="1894956"/>
            <a:ext cx="326700" cy="47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2" name="Google Shape;712;p45"/>
          <p:cNvCxnSpPr>
            <a:stCxn id="711" idx="2"/>
            <a:endCxn id="696" idx="1"/>
          </p:cNvCxnSpPr>
          <p:nvPr/>
        </p:nvCxnSpPr>
        <p:spPr>
          <a:xfrm flipH="1" rot="-5400000">
            <a:off x="4213563" y="3229956"/>
            <a:ext cx="630900" cy="9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3" name="Google Shape;713;p45"/>
          <p:cNvCxnSpPr>
            <a:stCxn id="693" idx="3"/>
            <a:endCxn id="714" idx="0"/>
          </p:cNvCxnSpPr>
          <p:nvPr/>
        </p:nvCxnSpPr>
        <p:spPr>
          <a:xfrm>
            <a:off x="6021012" y="1968750"/>
            <a:ext cx="565800" cy="35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1" name="Google Shape;711;p45"/>
          <p:cNvSpPr/>
          <p:nvPr/>
        </p:nvSpPr>
        <p:spPr>
          <a:xfrm>
            <a:off x="4189113" y="22953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45"/>
          <p:cNvSpPr/>
          <p:nvPr/>
        </p:nvSpPr>
        <p:spPr>
          <a:xfrm>
            <a:off x="4295489" y="24293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5"/>
          <p:cNvSpPr/>
          <p:nvPr/>
        </p:nvSpPr>
        <p:spPr>
          <a:xfrm>
            <a:off x="6295476" y="23226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5"/>
          <p:cNvSpPr/>
          <p:nvPr/>
        </p:nvSpPr>
        <p:spPr>
          <a:xfrm>
            <a:off x="6401851" y="24566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7" name="Google Shape;717;p45"/>
          <p:cNvCxnSpPr>
            <a:stCxn id="707" idx="3"/>
            <a:endCxn id="714" idx="2"/>
          </p:cNvCxnSpPr>
          <p:nvPr/>
        </p:nvCxnSpPr>
        <p:spPr>
          <a:xfrm rot="10800000">
            <a:off x="6586801" y="2990525"/>
            <a:ext cx="96300" cy="603600"/>
          </a:xfrm>
          <a:prstGeom prst="bentConnector4">
            <a:avLst>
              <a:gd fmla="val -247274" name="adj1"/>
              <a:gd fmla="val 7766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8" name="Google Shape;718;p45"/>
          <p:cNvCxnSpPr>
            <a:stCxn id="689" idx="3"/>
            <a:endCxn id="711" idx="1"/>
          </p:cNvCxnSpPr>
          <p:nvPr/>
        </p:nvCxnSpPr>
        <p:spPr>
          <a:xfrm flipH="1" rot="10800000">
            <a:off x="4084625" y="2629350"/>
            <a:ext cx="1044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9" name="Google Shape;719;p45"/>
          <p:cNvCxnSpPr/>
          <p:nvPr/>
        </p:nvCxnSpPr>
        <p:spPr>
          <a:xfrm flipH="1" rot="10800000">
            <a:off x="6878075" y="2640300"/>
            <a:ext cx="1044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0" name="Google Shape;720;p45"/>
          <p:cNvSpPr txBox="1"/>
          <p:nvPr/>
        </p:nvSpPr>
        <p:spPr>
          <a:xfrm>
            <a:off x="4147525" y="1529525"/>
            <a:ext cx="4740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LIMS not activated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721" name="Google Shape;721;p45"/>
          <p:cNvSpPr txBox="1"/>
          <p:nvPr/>
        </p:nvSpPr>
        <p:spPr>
          <a:xfrm>
            <a:off x="4084625" y="3635850"/>
            <a:ext cx="4740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LIMS activated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727" name="Google Shape;727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7.1.7 Production receipt of bulk/Production receipt of packed product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M-100-040: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Perform Final Confirmation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733" name="Google Shape;733;p47"/>
          <p:cNvSpPr/>
          <p:nvPr/>
        </p:nvSpPr>
        <p:spPr>
          <a:xfrm>
            <a:off x="228575" y="2136750"/>
            <a:ext cx="7287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</a:t>
            </a:r>
            <a:r>
              <a:rPr lang="en" sz="600">
                <a:solidFill>
                  <a:schemeClr val="dk1"/>
                </a:solidFill>
              </a:rPr>
              <a:t>perform</a:t>
            </a:r>
            <a:r>
              <a:rPr lang="en" sz="600">
                <a:solidFill>
                  <a:schemeClr val="dk1"/>
                </a:solidFill>
              </a:rPr>
              <a:t> final confirmation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734" name="Google Shape;734;p47"/>
          <p:cNvSpPr/>
          <p:nvPr/>
        </p:nvSpPr>
        <p:spPr>
          <a:xfrm>
            <a:off x="8224675" y="2202000"/>
            <a:ext cx="8301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final confirmation performed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735" name="Google Shape;735;p47"/>
          <p:cNvCxnSpPr>
            <a:stCxn id="733" idx="6"/>
            <a:endCxn id="736" idx="1"/>
          </p:cNvCxnSpPr>
          <p:nvPr/>
        </p:nvCxnSpPr>
        <p:spPr>
          <a:xfrm>
            <a:off x="957275" y="2535900"/>
            <a:ext cx="1251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7" name="Google Shape;737;p47"/>
          <p:cNvCxnSpPr>
            <a:stCxn id="738" idx="3"/>
            <a:endCxn id="734" idx="2"/>
          </p:cNvCxnSpPr>
          <p:nvPr/>
        </p:nvCxnSpPr>
        <p:spPr>
          <a:xfrm>
            <a:off x="4777300" y="2554050"/>
            <a:ext cx="34473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9" name="Google Shape;739;p47"/>
          <p:cNvSpPr/>
          <p:nvPr/>
        </p:nvSpPr>
        <p:spPr>
          <a:xfrm>
            <a:off x="4908150" y="2220150"/>
            <a:ext cx="870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automatic goods receipt</a:t>
            </a:r>
            <a:endParaRPr sz="900"/>
          </a:p>
        </p:txBody>
      </p:sp>
      <p:sp>
        <p:nvSpPr>
          <p:cNvPr id="738" name="Google Shape;738;p47"/>
          <p:cNvSpPr/>
          <p:nvPr/>
        </p:nvSpPr>
        <p:spPr>
          <a:xfrm>
            <a:off x="3907000" y="2220150"/>
            <a:ext cx="870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automatic goods issue</a:t>
            </a:r>
            <a:endParaRPr sz="900"/>
          </a:p>
        </p:txBody>
      </p:sp>
      <p:cxnSp>
        <p:nvCxnSpPr>
          <p:cNvPr id="740" name="Google Shape;740;p47"/>
          <p:cNvCxnSpPr>
            <a:stCxn id="741" idx="3"/>
            <a:endCxn id="738" idx="1"/>
          </p:cNvCxnSpPr>
          <p:nvPr/>
        </p:nvCxnSpPr>
        <p:spPr>
          <a:xfrm>
            <a:off x="2305000" y="2533650"/>
            <a:ext cx="1602000" cy="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47"/>
          <p:cNvCxnSpPr/>
          <p:nvPr/>
        </p:nvCxnSpPr>
        <p:spPr>
          <a:xfrm flipH="1" rot="10800000">
            <a:off x="1326400" y="2533500"/>
            <a:ext cx="94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3" name="Google Shape;743;p47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744" name="Google Shape;744;p47"/>
          <p:cNvSpPr/>
          <p:nvPr/>
        </p:nvSpPr>
        <p:spPr>
          <a:xfrm>
            <a:off x="2560275" y="2997675"/>
            <a:ext cx="19341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Confirm process order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</a:t>
            </a:r>
            <a:endParaRPr sz="1000"/>
          </a:p>
        </p:txBody>
      </p:sp>
      <p:sp>
        <p:nvSpPr>
          <p:cNvPr id="745" name="Google Shape;745;p47"/>
          <p:cNvSpPr/>
          <p:nvPr/>
        </p:nvSpPr>
        <p:spPr>
          <a:xfrm>
            <a:off x="5718350" y="4191850"/>
            <a:ext cx="3296100" cy="7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when EWM, process order confirmation does not generate a GR as the outbound delivery starts</a:t>
            </a:r>
            <a:endParaRPr/>
          </a:p>
        </p:txBody>
      </p:sp>
      <p:sp>
        <p:nvSpPr>
          <p:cNvPr id="746" name="Google Shape;746;p47"/>
          <p:cNvSpPr/>
          <p:nvPr/>
        </p:nvSpPr>
        <p:spPr>
          <a:xfrm>
            <a:off x="3461225" y="412020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libra will send the process order and phase details (actual data)</a:t>
            </a:r>
            <a:endParaRPr/>
          </a:p>
        </p:txBody>
      </p:sp>
      <p:sp>
        <p:nvSpPr>
          <p:cNvPr id="747" name="Google Shape;747;p47"/>
          <p:cNvSpPr/>
          <p:nvPr/>
        </p:nvSpPr>
        <p:spPr>
          <a:xfrm>
            <a:off x="1182512" y="2009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receive from mes the details of confirmation goods receipt, goods issue, activities</a:t>
            </a:r>
            <a:endParaRPr sz="900"/>
          </a:p>
        </p:txBody>
      </p:sp>
      <p:cxnSp>
        <p:nvCxnSpPr>
          <p:cNvPr id="748" name="Google Shape;748;p47"/>
          <p:cNvCxnSpPr>
            <a:stCxn id="747" idx="3"/>
            <a:endCxn id="738" idx="1"/>
          </p:cNvCxnSpPr>
          <p:nvPr/>
        </p:nvCxnSpPr>
        <p:spPr>
          <a:xfrm>
            <a:off x="2249012" y="2343750"/>
            <a:ext cx="1658100" cy="2103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9" name="Google Shape;749;p47"/>
          <p:cNvSpPr/>
          <p:nvPr/>
        </p:nvSpPr>
        <p:spPr>
          <a:xfrm>
            <a:off x="2544762" y="21662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activities</a:t>
            </a:r>
            <a:endParaRPr sz="900"/>
          </a:p>
        </p:txBody>
      </p:sp>
      <p:sp>
        <p:nvSpPr>
          <p:cNvPr id="750" name="Google Shape;750;p47"/>
          <p:cNvSpPr/>
          <p:nvPr/>
        </p:nvSpPr>
        <p:spPr>
          <a:xfrm>
            <a:off x="5877925" y="2200800"/>
            <a:ext cx="870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status update to mes</a:t>
            </a:r>
            <a:endParaRPr sz="900"/>
          </a:p>
        </p:txBody>
      </p:sp>
      <p:sp>
        <p:nvSpPr>
          <p:cNvPr id="751" name="Google Shape;751;p47"/>
          <p:cNvSpPr/>
          <p:nvPr/>
        </p:nvSpPr>
        <p:spPr>
          <a:xfrm>
            <a:off x="6847700" y="2229000"/>
            <a:ext cx="870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status update received</a:t>
            </a:r>
            <a:endParaRPr sz="900"/>
          </a:p>
        </p:txBody>
      </p:sp>
      <p:sp>
        <p:nvSpPr>
          <p:cNvPr id="752" name="Google Shape;752;p4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758" name="Google Shape;758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7.1.8 Production Receipt of packed product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M-100-080: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Print Production Label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764" name="Google Shape;764;p49"/>
          <p:cNvSpPr/>
          <p:nvPr/>
        </p:nvSpPr>
        <p:spPr>
          <a:xfrm>
            <a:off x="494425" y="2271725"/>
            <a:ext cx="7287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print production label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765" name="Google Shape;765;p49"/>
          <p:cNvSpPr/>
          <p:nvPr/>
        </p:nvSpPr>
        <p:spPr>
          <a:xfrm>
            <a:off x="8600600" y="2301425"/>
            <a:ext cx="4872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production </a:t>
            </a:r>
            <a:r>
              <a:rPr lang="en" sz="600">
                <a:solidFill>
                  <a:schemeClr val="dk1"/>
                </a:solidFill>
              </a:rPr>
              <a:t>labels</a:t>
            </a:r>
            <a:r>
              <a:rPr lang="en" sz="600">
                <a:solidFill>
                  <a:schemeClr val="dk1"/>
                </a:solidFill>
              </a:rPr>
              <a:t> printed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766" name="Google Shape;766;p49"/>
          <p:cNvCxnSpPr>
            <a:stCxn id="764" idx="6"/>
            <a:endCxn id="767" idx="1"/>
          </p:cNvCxnSpPr>
          <p:nvPr/>
        </p:nvCxnSpPr>
        <p:spPr>
          <a:xfrm>
            <a:off x="1223125" y="2670875"/>
            <a:ext cx="172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49"/>
          <p:cNvCxnSpPr>
            <a:stCxn id="769" idx="3"/>
          </p:cNvCxnSpPr>
          <p:nvPr/>
        </p:nvCxnSpPr>
        <p:spPr>
          <a:xfrm>
            <a:off x="2367850" y="2670875"/>
            <a:ext cx="49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9" name="Google Shape;769;p49"/>
          <p:cNvSpPr/>
          <p:nvPr/>
        </p:nvSpPr>
        <p:spPr>
          <a:xfrm>
            <a:off x="1590550" y="2336975"/>
            <a:ext cx="77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release process order</a:t>
            </a:r>
            <a:endParaRPr sz="900"/>
          </a:p>
        </p:txBody>
      </p:sp>
      <p:sp>
        <p:nvSpPr>
          <p:cNvPr id="770" name="Google Shape;770;p49"/>
          <p:cNvSpPr/>
          <p:nvPr/>
        </p:nvSpPr>
        <p:spPr>
          <a:xfrm>
            <a:off x="5463375" y="2337275"/>
            <a:ext cx="924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print production labels task to external tool</a:t>
            </a:r>
            <a:endParaRPr sz="900"/>
          </a:p>
        </p:txBody>
      </p:sp>
      <p:sp>
        <p:nvSpPr>
          <p:cNvPr id="771" name="Google Shape;771;p49"/>
          <p:cNvSpPr/>
          <p:nvPr/>
        </p:nvSpPr>
        <p:spPr>
          <a:xfrm>
            <a:off x="2683575" y="2336975"/>
            <a:ext cx="10731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a packing specification or instruction created from I2D</a:t>
            </a:r>
            <a:endParaRPr sz="900"/>
          </a:p>
        </p:txBody>
      </p:sp>
      <p:sp>
        <p:nvSpPr>
          <p:cNvPr id="772" name="Google Shape;772;p49"/>
          <p:cNvSpPr/>
          <p:nvPr/>
        </p:nvSpPr>
        <p:spPr>
          <a:xfrm>
            <a:off x="4116225" y="2337275"/>
            <a:ext cx="1248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Creation of Handling Unit and referring to the order</a:t>
            </a:r>
            <a:endParaRPr sz="900"/>
          </a:p>
        </p:txBody>
      </p:sp>
      <p:sp>
        <p:nvSpPr>
          <p:cNvPr id="773" name="Google Shape;773;p49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774" name="Google Shape;774;p49"/>
          <p:cNvSpPr/>
          <p:nvPr/>
        </p:nvSpPr>
        <p:spPr>
          <a:xfrm>
            <a:off x="2683563" y="31173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POF1, POP1</a:t>
            </a:r>
            <a:endParaRPr sz="1000"/>
          </a:p>
        </p:txBody>
      </p:sp>
      <p:sp>
        <p:nvSpPr>
          <p:cNvPr id="775" name="Google Shape;775;p49"/>
          <p:cNvSpPr/>
          <p:nvPr/>
        </p:nvSpPr>
        <p:spPr>
          <a:xfrm>
            <a:off x="4159413" y="30700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COP1</a:t>
            </a:r>
            <a:endParaRPr sz="1000"/>
          </a:p>
        </p:txBody>
      </p:sp>
      <p:sp>
        <p:nvSpPr>
          <p:cNvPr id="776" name="Google Shape;776;p49"/>
          <p:cNvSpPr/>
          <p:nvPr/>
        </p:nvSpPr>
        <p:spPr>
          <a:xfrm>
            <a:off x="6486525" y="2336975"/>
            <a:ext cx="924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task received </a:t>
            </a:r>
            <a:endParaRPr sz="900"/>
          </a:p>
        </p:txBody>
      </p:sp>
      <p:sp>
        <p:nvSpPr>
          <p:cNvPr id="777" name="Google Shape;777;p49"/>
          <p:cNvSpPr/>
          <p:nvPr/>
        </p:nvSpPr>
        <p:spPr>
          <a:xfrm>
            <a:off x="7509675" y="2336975"/>
            <a:ext cx="924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Execute Printing</a:t>
            </a:r>
            <a:endParaRPr sz="900"/>
          </a:p>
        </p:txBody>
      </p:sp>
      <p:sp>
        <p:nvSpPr>
          <p:cNvPr id="778" name="Google Shape;778;p4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779" name="Google Shape;779;p49"/>
          <p:cNvSpPr/>
          <p:nvPr/>
        </p:nvSpPr>
        <p:spPr>
          <a:xfrm>
            <a:off x="5718350" y="4191850"/>
            <a:ext cx="3296100" cy="7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Check for the I2D process flows.</a:t>
            </a:r>
            <a:endParaRPr/>
          </a:p>
        </p:txBody>
      </p:sp>
      <p:sp>
        <p:nvSpPr>
          <p:cNvPr id="780" name="Google Shape;780;p49"/>
          <p:cNvSpPr/>
          <p:nvPr/>
        </p:nvSpPr>
        <p:spPr>
          <a:xfrm>
            <a:off x="3273225" y="4019925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still under discussion (lots of gaps)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0"/>
          <p:cNvSpPr txBox="1"/>
          <p:nvPr>
            <p:ph type="title"/>
          </p:nvPr>
        </p:nvSpPr>
        <p:spPr>
          <a:xfrm>
            <a:off x="34325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M-100-100: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Build Pallet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786" name="Google Shape;786;p50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787" name="Google Shape;787;p5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788" name="Google Shape;788;p50"/>
          <p:cNvSpPr/>
          <p:nvPr/>
        </p:nvSpPr>
        <p:spPr>
          <a:xfrm>
            <a:off x="1157450" y="2182225"/>
            <a:ext cx="1022400" cy="91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Need to build a pallet</a:t>
            </a:r>
            <a:endParaRPr sz="600"/>
          </a:p>
        </p:txBody>
      </p:sp>
      <p:sp>
        <p:nvSpPr>
          <p:cNvPr id="789" name="Google Shape;789;p50"/>
          <p:cNvSpPr/>
          <p:nvPr/>
        </p:nvSpPr>
        <p:spPr>
          <a:xfrm>
            <a:off x="2943400" y="2269675"/>
            <a:ext cx="21852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Interface: 8.3.1-090-Packing in handling units [EWM] and Labeling</a:t>
            </a:r>
            <a:endParaRPr sz="800"/>
          </a:p>
        </p:txBody>
      </p:sp>
      <p:sp>
        <p:nvSpPr>
          <p:cNvPr id="790" name="Google Shape;790;p50"/>
          <p:cNvSpPr/>
          <p:nvPr/>
        </p:nvSpPr>
        <p:spPr>
          <a:xfrm>
            <a:off x="5892150" y="2182225"/>
            <a:ext cx="1022400" cy="91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Pallet Bulit</a:t>
            </a:r>
            <a:endParaRPr sz="600"/>
          </a:p>
        </p:txBody>
      </p:sp>
      <p:cxnSp>
        <p:nvCxnSpPr>
          <p:cNvPr id="791" name="Google Shape;791;p50"/>
          <p:cNvCxnSpPr>
            <a:stCxn id="788" idx="6"/>
            <a:endCxn id="789" idx="1"/>
          </p:cNvCxnSpPr>
          <p:nvPr/>
        </p:nvCxnSpPr>
        <p:spPr>
          <a:xfrm>
            <a:off x="2179850" y="2640925"/>
            <a:ext cx="76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50"/>
          <p:cNvCxnSpPr>
            <a:stCxn id="789" idx="3"/>
            <a:endCxn id="790" idx="2"/>
          </p:cNvCxnSpPr>
          <p:nvPr/>
        </p:nvCxnSpPr>
        <p:spPr>
          <a:xfrm>
            <a:off x="5128600" y="2640925"/>
            <a:ext cx="76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7.1 Produce/Loading/Packaging Product</a:t>
            </a:r>
            <a:endParaRPr/>
          </a:p>
        </p:txBody>
      </p:sp>
      <p:sp>
        <p:nvSpPr>
          <p:cNvPr id="798" name="Google Shape;798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7.1.9 Defective Production Management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M-100-150: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Identify and Manage Production Issues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804" name="Google Shape;804;p52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805" name="Google Shape;805;p52"/>
          <p:cNvSpPr/>
          <p:nvPr/>
        </p:nvSpPr>
        <p:spPr>
          <a:xfrm>
            <a:off x="1975" y="2173350"/>
            <a:ext cx="818400" cy="79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Production Broke down</a:t>
            </a:r>
            <a:endParaRPr sz="600"/>
          </a:p>
        </p:txBody>
      </p:sp>
      <p:sp>
        <p:nvSpPr>
          <p:cNvPr id="806" name="Google Shape;806;p52"/>
          <p:cNvSpPr/>
          <p:nvPr/>
        </p:nvSpPr>
        <p:spPr>
          <a:xfrm>
            <a:off x="962925" y="2200500"/>
            <a:ext cx="901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Identify Production Defect</a:t>
            </a:r>
            <a:endParaRPr sz="800"/>
          </a:p>
        </p:txBody>
      </p:sp>
      <p:sp>
        <p:nvSpPr>
          <p:cNvPr id="807" name="Google Shape;807;p52"/>
          <p:cNvSpPr/>
          <p:nvPr/>
        </p:nvSpPr>
        <p:spPr>
          <a:xfrm>
            <a:off x="2007273" y="2200500"/>
            <a:ext cx="901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Record Production Defect</a:t>
            </a:r>
            <a:endParaRPr sz="800"/>
          </a:p>
        </p:txBody>
      </p:sp>
      <p:sp>
        <p:nvSpPr>
          <p:cNvPr id="808" name="Google Shape;808;p52"/>
          <p:cNvSpPr/>
          <p:nvPr/>
        </p:nvSpPr>
        <p:spPr>
          <a:xfrm>
            <a:off x="8572425" y="2173350"/>
            <a:ext cx="523800" cy="79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Production Defect Recorded</a:t>
            </a:r>
            <a:endParaRPr sz="600"/>
          </a:p>
        </p:txBody>
      </p:sp>
      <p:cxnSp>
        <p:nvCxnSpPr>
          <p:cNvPr id="809" name="Google Shape;809;p52"/>
          <p:cNvCxnSpPr>
            <a:stCxn id="805" idx="6"/>
            <a:endCxn id="806" idx="1"/>
          </p:cNvCxnSpPr>
          <p:nvPr/>
        </p:nvCxnSpPr>
        <p:spPr>
          <a:xfrm>
            <a:off x="820375" y="2571750"/>
            <a:ext cx="14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0" name="Google Shape;810;p52"/>
          <p:cNvCxnSpPr>
            <a:stCxn id="806" idx="3"/>
            <a:endCxn id="807" idx="1"/>
          </p:cNvCxnSpPr>
          <p:nvPr/>
        </p:nvCxnSpPr>
        <p:spPr>
          <a:xfrm>
            <a:off x="1864725" y="2571750"/>
            <a:ext cx="14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52"/>
          <p:cNvCxnSpPr>
            <a:endCxn id="808" idx="2"/>
          </p:cNvCxnSpPr>
          <p:nvPr/>
        </p:nvCxnSpPr>
        <p:spPr>
          <a:xfrm>
            <a:off x="8014425" y="2571750"/>
            <a:ext cx="5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2" name="Google Shape;812;p52"/>
          <p:cNvSpPr/>
          <p:nvPr/>
        </p:nvSpPr>
        <p:spPr>
          <a:xfrm>
            <a:off x="5718350" y="4191850"/>
            <a:ext cx="3296100" cy="7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apps?</a:t>
            </a:r>
            <a:endParaRPr/>
          </a:p>
        </p:txBody>
      </p:sp>
      <p:sp>
        <p:nvSpPr>
          <p:cNvPr id="813" name="Google Shape;813;p52"/>
          <p:cNvSpPr/>
          <p:nvPr/>
        </p:nvSpPr>
        <p:spPr>
          <a:xfrm>
            <a:off x="3760875" y="1265250"/>
            <a:ext cx="901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Assign defect to quality notification</a:t>
            </a:r>
            <a:endParaRPr sz="800"/>
          </a:p>
        </p:txBody>
      </p:sp>
      <p:sp>
        <p:nvSpPr>
          <p:cNvPr id="814" name="Google Shape;814;p52"/>
          <p:cNvSpPr/>
          <p:nvPr/>
        </p:nvSpPr>
        <p:spPr>
          <a:xfrm>
            <a:off x="2826551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2"/>
          <p:cNvSpPr/>
          <p:nvPr/>
        </p:nvSpPr>
        <p:spPr>
          <a:xfrm rot="-2700000">
            <a:off x="2933087" y="2386136"/>
            <a:ext cx="369534" cy="371231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52"/>
          <p:cNvSpPr/>
          <p:nvPr/>
        </p:nvSpPr>
        <p:spPr>
          <a:xfrm>
            <a:off x="3938475" y="2179800"/>
            <a:ext cx="901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Process defect &amp; define quality task</a:t>
            </a:r>
            <a:endParaRPr sz="800"/>
          </a:p>
        </p:txBody>
      </p:sp>
      <p:sp>
        <p:nvSpPr>
          <p:cNvPr id="817" name="Google Shape;817;p52"/>
          <p:cNvSpPr/>
          <p:nvPr/>
        </p:nvSpPr>
        <p:spPr>
          <a:xfrm>
            <a:off x="3425588" y="3253125"/>
            <a:ext cx="523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Team Definition</a:t>
            </a:r>
            <a:endParaRPr sz="800"/>
          </a:p>
        </p:txBody>
      </p:sp>
      <p:cxnSp>
        <p:nvCxnSpPr>
          <p:cNvPr id="818" name="Google Shape;818;p52"/>
          <p:cNvCxnSpPr>
            <a:stCxn id="814" idx="0"/>
            <a:endCxn id="813" idx="1"/>
          </p:cNvCxnSpPr>
          <p:nvPr/>
        </p:nvCxnSpPr>
        <p:spPr>
          <a:xfrm rot="-5400000">
            <a:off x="3138551" y="1615656"/>
            <a:ext cx="601500" cy="642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9" name="Google Shape;819;p52"/>
          <p:cNvCxnSpPr>
            <a:stCxn id="814" idx="2"/>
            <a:endCxn id="817" idx="1"/>
          </p:cNvCxnSpPr>
          <p:nvPr/>
        </p:nvCxnSpPr>
        <p:spPr>
          <a:xfrm flipH="1" rot="-5400000">
            <a:off x="2912351" y="3111156"/>
            <a:ext cx="718800" cy="307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0" name="Google Shape;820;p52"/>
          <p:cNvCxnSpPr>
            <a:stCxn id="814" idx="3"/>
            <a:endCxn id="816" idx="1"/>
          </p:cNvCxnSpPr>
          <p:nvPr/>
        </p:nvCxnSpPr>
        <p:spPr>
          <a:xfrm flipH="1" rot="10800000">
            <a:off x="3409151" y="2551056"/>
            <a:ext cx="5292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1" name="Google Shape;821;p52"/>
          <p:cNvSpPr/>
          <p:nvPr/>
        </p:nvSpPr>
        <p:spPr>
          <a:xfrm>
            <a:off x="5037900" y="1265250"/>
            <a:ext cx="901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placeholder</a:t>
            </a:r>
            <a:r>
              <a:rPr lang="en" sz="800"/>
              <a:t>: manage internal non-conformities</a:t>
            </a:r>
            <a:endParaRPr sz="800"/>
          </a:p>
        </p:txBody>
      </p:sp>
      <p:sp>
        <p:nvSpPr>
          <p:cNvPr id="822" name="Google Shape;822;p52"/>
          <p:cNvSpPr/>
          <p:nvPr/>
        </p:nvSpPr>
        <p:spPr>
          <a:xfrm>
            <a:off x="4881675" y="2179800"/>
            <a:ext cx="901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Review Quality Task</a:t>
            </a:r>
            <a:endParaRPr sz="800"/>
          </a:p>
        </p:txBody>
      </p:sp>
      <p:sp>
        <p:nvSpPr>
          <p:cNvPr id="823" name="Google Shape;823;p52"/>
          <p:cNvSpPr/>
          <p:nvPr/>
        </p:nvSpPr>
        <p:spPr>
          <a:xfrm>
            <a:off x="5939688" y="22171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52"/>
          <p:cNvSpPr/>
          <p:nvPr/>
        </p:nvSpPr>
        <p:spPr>
          <a:xfrm rot="-2700000">
            <a:off x="6046225" y="2365436"/>
            <a:ext cx="369534" cy="371231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52"/>
          <p:cNvSpPr/>
          <p:nvPr/>
        </p:nvSpPr>
        <p:spPr>
          <a:xfrm>
            <a:off x="7843738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2"/>
          <p:cNvSpPr/>
          <p:nvPr/>
        </p:nvSpPr>
        <p:spPr>
          <a:xfrm rot="-2700000">
            <a:off x="7950275" y="2386136"/>
            <a:ext cx="369534" cy="371231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52"/>
          <p:cNvSpPr/>
          <p:nvPr/>
        </p:nvSpPr>
        <p:spPr>
          <a:xfrm>
            <a:off x="6678525" y="2179800"/>
            <a:ext cx="901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Close Defect</a:t>
            </a:r>
            <a:endParaRPr sz="800"/>
          </a:p>
        </p:txBody>
      </p:sp>
      <p:cxnSp>
        <p:nvCxnSpPr>
          <p:cNvPr id="828" name="Google Shape;828;p52"/>
          <p:cNvCxnSpPr>
            <a:stCxn id="823" idx="2"/>
            <a:endCxn id="829" idx="2"/>
          </p:cNvCxnSpPr>
          <p:nvPr/>
        </p:nvCxnSpPr>
        <p:spPr>
          <a:xfrm rot="5400000">
            <a:off x="4922688" y="1597356"/>
            <a:ext cx="20700" cy="2595900"/>
          </a:xfrm>
          <a:prstGeom prst="bentConnector3">
            <a:avLst>
              <a:gd fmla="val 125036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52"/>
          <p:cNvCxnSpPr>
            <a:stCxn id="823" idx="3"/>
            <a:endCxn id="827" idx="1"/>
          </p:cNvCxnSpPr>
          <p:nvPr/>
        </p:nvCxnSpPr>
        <p:spPr>
          <a:xfrm>
            <a:off x="6522288" y="2551056"/>
            <a:ext cx="15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1" name="Google Shape;831;p52"/>
          <p:cNvSpPr txBox="1"/>
          <p:nvPr/>
        </p:nvSpPr>
        <p:spPr>
          <a:xfrm>
            <a:off x="6307475" y="2854875"/>
            <a:ext cx="7866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Investigation not done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32" name="Google Shape;832;p52"/>
          <p:cNvSpPr txBox="1"/>
          <p:nvPr/>
        </p:nvSpPr>
        <p:spPr>
          <a:xfrm>
            <a:off x="6207150" y="1819700"/>
            <a:ext cx="7866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Investigation done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833" name="Google Shape;833;p52"/>
          <p:cNvCxnSpPr>
            <a:stCxn id="827" idx="3"/>
            <a:endCxn id="825" idx="1"/>
          </p:cNvCxnSpPr>
          <p:nvPr/>
        </p:nvCxnSpPr>
        <p:spPr>
          <a:xfrm>
            <a:off x="7580325" y="2551050"/>
            <a:ext cx="2634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4" name="Google Shape;834;p52"/>
          <p:cNvCxnSpPr>
            <a:stCxn id="821" idx="3"/>
            <a:endCxn id="825" idx="0"/>
          </p:cNvCxnSpPr>
          <p:nvPr/>
        </p:nvCxnSpPr>
        <p:spPr>
          <a:xfrm>
            <a:off x="5939700" y="1636500"/>
            <a:ext cx="2195400" cy="601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5" name="Google Shape;835;p52"/>
          <p:cNvSpPr txBox="1"/>
          <p:nvPr/>
        </p:nvSpPr>
        <p:spPr>
          <a:xfrm>
            <a:off x="2708225" y="3297275"/>
            <a:ext cx="7866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Process defect &amp; Problem solving process (D1-D8)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36" name="Google Shape;836;p52"/>
          <p:cNvSpPr/>
          <p:nvPr/>
        </p:nvSpPr>
        <p:spPr>
          <a:xfrm>
            <a:off x="4048200" y="3253125"/>
            <a:ext cx="523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Defect Description</a:t>
            </a:r>
            <a:endParaRPr sz="800"/>
          </a:p>
        </p:txBody>
      </p:sp>
      <p:sp>
        <p:nvSpPr>
          <p:cNvPr id="837" name="Google Shape;837;p52"/>
          <p:cNvSpPr/>
          <p:nvPr/>
        </p:nvSpPr>
        <p:spPr>
          <a:xfrm>
            <a:off x="4670800" y="3253125"/>
            <a:ext cx="523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Containment actions</a:t>
            </a:r>
            <a:endParaRPr sz="800"/>
          </a:p>
        </p:txBody>
      </p:sp>
      <p:sp>
        <p:nvSpPr>
          <p:cNvPr id="838" name="Google Shape;838;p52"/>
          <p:cNvSpPr/>
          <p:nvPr/>
        </p:nvSpPr>
        <p:spPr>
          <a:xfrm>
            <a:off x="5293400" y="3253125"/>
            <a:ext cx="523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Root Causes</a:t>
            </a:r>
            <a:endParaRPr sz="800"/>
          </a:p>
        </p:txBody>
      </p:sp>
      <p:sp>
        <p:nvSpPr>
          <p:cNvPr id="839" name="Google Shape;839;p52"/>
          <p:cNvSpPr/>
          <p:nvPr/>
        </p:nvSpPr>
        <p:spPr>
          <a:xfrm>
            <a:off x="5916000" y="3253125"/>
            <a:ext cx="523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Defined corrective actions</a:t>
            </a:r>
            <a:endParaRPr sz="800"/>
          </a:p>
        </p:txBody>
      </p:sp>
      <p:sp>
        <p:nvSpPr>
          <p:cNvPr id="840" name="Google Shape;840;p52"/>
          <p:cNvSpPr/>
          <p:nvPr/>
        </p:nvSpPr>
        <p:spPr>
          <a:xfrm>
            <a:off x="7783800" y="3253125"/>
            <a:ext cx="523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</a:t>
            </a:r>
            <a:r>
              <a:rPr lang="en" sz="800"/>
              <a:t>congratulate</a:t>
            </a:r>
            <a:r>
              <a:rPr lang="en" sz="800"/>
              <a:t> your team</a:t>
            </a:r>
            <a:endParaRPr sz="800"/>
          </a:p>
        </p:txBody>
      </p:sp>
      <p:sp>
        <p:nvSpPr>
          <p:cNvPr id="841" name="Google Shape;841;p52"/>
          <p:cNvSpPr/>
          <p:nvPr/>
        </p:nvSpPr>
        <p:spPr>
          <a:xfrm>
            <a:off x="7161200" y="3253125"/>
            <a:ext cx="523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preventive actions</a:t>
            </a:r>
            <a:endParaRPr sz="800"/>
          </a:p>
        </p:txBody>
      </p:sp>
      <p:sp>
        <p:nvSpPr>
          <p:cNvPr id="842" name="Google Shape;842;p52"/>
          <p:cNvSpPr/>
          <p:nvPr/>
        </p:nvSpPr>
        <p:spPr>
          <a:xfrm>
            <a:off x="6538600" y="3253125"/>
            <a:ext cx="5238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implemented corrective actions</a:t>
            </a:r>
            <a:endParaRPr sz="800"/>
          </a:p>
        </p:txBody>
      </p:sp>
      <p:cxnSp>
        <p:nvCxnSpPr>
          <p:cNvPr id="843" name="Google Shape;843;p52"/>
          <p:cNvCxnSpPr>
            <a:stCxn id="840" idx="3"/>
            <a:endCxn id="825" idx="2"/>
          </p:cNvCxnSpPr>
          <p:nvPr/>
        </p:nvCxnSpPr>
        <p:spPr>
          <a:xfrm rot="10800000">
            <a:off x="8135100" y="2905575"/>
            <a:ext cx="172500" cy="718800"/>
          </a:xfrm>
          <a:prstGeom prst="bentConnector4">
            <a:avLst>
              <a:gd fmla="val -138043" name="adj1"/>
              <a:gd fmla="val 7581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4" name="Google Shape;844;p5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829" name="Google Shape;829;p52"/>
          <p:cNvSpPr/>
          <p:nvPr/>
        </p:nvSpPr>
        <p:spPr>
          <a:xfrm>
            <a:off x="3343876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2"/>
          <p:cNvSpPr/>
          <p:nvPr/>
        </p:nvSpPr>
        <p:spPr>
          <a:xfrm rot="-2700000">
            <a:off x="3450412" y="2386136"/>
            <a:ext cx="369534" cy="371231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M-100-160: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Identify Process Setting Change Requirements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851" name="Google Shape;851;p53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852" name="Google Shape;852;p53"/>
          <p:cNvSpPr/>
          <p:nvPr/>
        </p:nvSpPr>
        <p:spPr>
          <a:xfrm>
            <a:off x="1741875" y="2173350"/>
            <a:ext cx="818400" cy="79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Need to identify Process setting change requirements</a:t>
            </a:r>
            <a:endParaRPr sz="600"/>
          </a:p>
        </p:txBody>
      </p:sp>
      <p:sp>
        <p:nvSpPr>
          <p:cNvPr id="853" name="Google Shape;853;p53"/>
          <p:cNvSpPr/>
          <p:nvPr/>
        </p:nvSpPr>
        <p:spPr>
          <a:xfrm>
            <a:off x="2845375" y="2200500"/>
            <a:ext cx="11619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Identify process setting change</a:t>
            </a:r>
            <a:endParaRPr sz="800"/>
          </a:p>
        </p:txBody>
      </p:sp>
      <p:sp>
        <p:nvSpPr>
          <p:cNvPr id="854" name="Google Shape;854;p53"/>
          <p:cNvSpPr/>
          <p:nvPr/>
        </p:nvSpPr>
        <p:spPr>
          <a:xfrm>
            <a:off x="4565375" y="2173350"/>
            <a:ext cx="818400" cy="79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Process setting change </a:t>
            </a:r>
            <a:r>
              <a:rPr lang="en" sz="600"/>
              <a:t>requirements</a:t>
            </a:r>
            <a:r>
              <a:rPr lang="en" sz="600"/>
              <a:t> identified</a:t>
            </a:r>
            <a:endParaRPr sz="600"/>
          </a:p>
        </p:txBody>
      </p:sp>
      <p:cxnSp>
        <p:nvCxnSpPr>
          <p:cNvPr id="855" name="Google Shape;855;p53"/>
          <p:cNvCxnSpPr>
            <a:stCxn id="852" idx="6"/>
            <a:endCxn id="853" idx="1"/>
          </p:cNvCxnSpPr>
          <p:nvPr/>
        </p:nvCxnSpPr>
        <p:spPr>
          <a:xfrm>
            <a:off x="2560275" y="2571750"/>
            <a:ext cx="28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53"/>
          <p:cNvCxnSpPr>
            <a:endCxn id="854" idx="2"/>
          </p:cNvCxnSpPr>
          <p:nvPr/>
        </p:nvCxnSpPr>
        <p:spPr>
          <a:xfrm>
            <a:off x="4007375" y="2571750"/>
            <a:ext cx="5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7" name="Google Shape;857;p53"/>
          <p:cNvSpPr/>
          <p:nvPr/>
        </p:nvSpPr>
        <p:spPr>
          <a:xfrm>
            <a:off x="1574725" y="1820850"/>
            <a:ext cx="5365200" cy="1746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M-100-170: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Manage </a:t>
            </a:r>
            <a:r>
              <a:rPr lang="en" sz="1520">
                <a:solidFill>
                  <a:schemeClr val="dk2"/>
                </a:solidFill>
              </a:rPr>
              <a:t>Internal Non-Conformities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863" name="Google Shape;863;p54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864" name="Google Shape;864;p54"/>
          <p:cNvSpPr/>
          <p:nvPr/>
        </p:nvSpPr>
        <p:spPr>
          <a:xfrm>
            <a:off x="174675" y="2173350"/>
            <a:ext cx="818400" cy="79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Defect assigned to quality notification</a:t>
            </a:r>
            <a:endParaRPr sz="600"/>
          </a:p>
        </p:txBody>
      </p:sp>
      <p:sp>
        <p:nvSpPr>
          <p:cNvPr id="865" name="Google Shape;865;p54"/>
          <p:cNvSpPr/>
          <p:nvPr/>
        </p:nvSpPr>
        <p:spPr>
          <a:xfrm>
            <a:off x="1278175" y="2200500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</a:t>
            </a:r>
            <a:r>
              <a:rPr lang="en" sz="800"/>
              <a:t>: define root cause analysis</a:t>
            </a:r>
            <a:endParaRPr sz="800"/>
          </a:p>
        </p:txBody>
      </p:sp>
      <p:sp>
        <p:nvSpPr>
          <p:cNvPr id="866" name="Google Shape;866;p54"/>
          <p:cNvSpPr/>
          <p:nvPr/>
        </p:nvSpPr>
        <p:spPr>
          <a:xfrm>
            <a:off x="3628138" y="2200500"/>
            <a:ext cx="6456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Define corrective actions</a:t>
            </a:r>
            <a:endParaRPr sz="800"/>
          </a:p>
        </p:txBody>
      </p:sp>
      <p:sp>
        <p:nvSpPr>
          <p:cNvPr id="867" name="Google Shape;867;p54"/>
          <p:cNvSpPr/>
          <p:nvPr/>
        </p:nvSpPr>
        <p:spPr>
          <a:xfrm>
            <a:off x="5645700" y="3313125"/>
            <a:ext cx="818400" cy="79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Internal non-conformity managed</a:t>
            </a:r>
            <a:endParaRPr sz="600"/>
          </a:p>
        </p:txBody>
      </p:sp>
      <p:cxnSp>
        <p:nvCxnSpPr>
          <p:cNvPr id="868" name="Google Shape;868;p54"/>
          <p:cNvCxnSpPr>
            <a:stCxn id="864" idx="6"/>
            <a:endCxn id="865" idx="1"/>
          </p:cNvCxnSpPr>
          <p:nvPr/>
        </p:nvCxnSpPr>
        <p:spPr>
          <a:xfrm>
            <a:off x="993075" y="2571750"/>
            <a:ext cx="28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9" name="Google Shape;869;p54"/>
          <p:cNvCxnSpPr>
            <a:stCxn id="865" idx="3"/>
            <a:endCxn id="866" idx="1"/>
          </p:cNvCxnSpPr>
          <p:nvPr/>
        </p:nvCxnSpPr>
        <p:spPr>
          <a:xfrm>
            <a:off x="2096575" y="2571750"/>
            <a:ext cx="153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0" name="Google Shape;870;p54"/>
          <p:cNvCxnSpPr>
            <a:endCxn id="867" idx="2"/>
          </p:cNvCxnSpPr>
          <p:nvPr/>
        </p:nvCxnSpPr>
        <p:spPr>
          <a:xfrm>
            <a:off x="5087700" y="3711525"/>
            <a:ext cx="5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1" name="Google Shape;871;p54"/>
          <p:cNvSpPr/>
          <p:nvPr/>
        </p:nvSpPr>
        <p:spPr>
          <a:xfrm>
            <a:off x="4446713" y="2200500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Execute RCA &amp; Corrective actions &amp; documents outcome</a:t>
            </a:r>
            <a:endParaRPr sz="800"/>
          </a:p>
        </p:txBody>
      </p:sp>
      <p:sp>
        <p:nvSpPr>
          <p:cNvPr id="872" name="Google Shape;872;p54"/>
          <p:cNvSpPr/>
          <p:nvPr/>
        </p:nvSpPr>
        <p:spPr>
          <a:xfrm>
            <a:off x="5372350" y="2200500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</a:t>
            </a:r>
            <a:r>
              <a:rPr lang="en" sz="800"/>
              <a:t>Review RCA, Document RCA, Review Corrective Actions </a:t>
            </a:r>
            <a:endParaRPr sz="800"/>
          </a:p>
        </p:txBody>
      </p:sp>
      <p:sp>
        <p:nvSpPr>
          <p:cNvPr id="873" name="Google Shape;873;p54"/>
          <p:cNvSpPr/>
          <p:nvPr/>
        </p:nvSpPr>
        <p:spPr>
          <a:xfrm>
            <a:off x="6298000" y="2200500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Define Preventive Action</a:t>
            </a:r>
            <a:endParaRPr sz="800"/>
          </a:p>
        </p:txBody>
      </p:sp>
      <p:sp>
        <p:nvSpPr>
          <p:cNvPr id="874" name="Google Shape;874;p54"/>
          <p:cNvSpPr/>
          <p:nvPr/>
        </p:nvSpPr>
        <p:spPr>
          <a:xfrm>
            <a:off x="7223650" y="2200500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Execute Preventive actions &amp; document outcome</a:t>
            </a:r>
            <a:endParaRPr sz="800"/>
          </a:p>
        </p:txBody>
      </p:sp>
      <p:sp>
        <p:nvSpPr>
          <p:cNvPr id="875" name="Google Shape;875;p54"/>
          <p:cNvSpPr/>
          <p:nvPr/>
        </p:nvSpPr>
        <p:spPr>
          <a:xfrm>
            <a:off x="1278163" y="3367425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Review Preventive actions</a:t>
            </a:r>
            <a:endParaRPr sz="800"/>
          </a:p>
        </p:txBody>
      </p:sp>
      <p:sp>
        <p:nvSpPr>
          <p:cNvPr id="876" name="Google Shape;876;p54"/>
          <p:cNvSpPr/>
          <p:nvPr/>
        </p:nvSpPr>
        <p:spPr>
          <a:xfrm>
            <a:off x="2295688" y="3367425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Complete </a:t>
            </a:r>
            <a:r>
              <a:rPr lang="en" sz="800"/>
              <a:t>quality</a:t>
            </a:r>
            <a:r>
              <a:rPr lang="en" sz="800"/>
              <a:t> notification</a:t>
            </a:r>
            <a:endParaRPr sz="800"/>
          </a:p>
        </p:txBody>
      </p:sp>
      <p:sp>
        <p:nvSpPr>
          <p:cNvPr id="877" name="Google Shape;877;p54"/>
          <p:cNvSpPr/>
          <p:nvPr/>
        </p:nvSpPr>
        <p:spPr>
          <a:xfrm>
            <a:off x="3221513" y="3367425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display list of </a:t>
            </a:r>
            <a:r>
              <a:rPr lang="en" sz="800"/>
              <a:t>quality notification</a:t>
            </a:r>
            <a:endParaRPr sz="800"/>
          </a:p>
        </p:txBody>
      </p:sp>
      <p:sp>
        <p:nvSpPr>
          <p:cNvPr id="878" name="Google Shape;878;p54"/>
          <p:cNvSpPr/>
          <p:nvPr/>
        </p:nvSpPr>
        <p:spPr>
          <a:xfrm>
            <a:off x="4246888" y="3367425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display list of quality tasks</a:t>
            </a:r>
            <a:endParaRPr sz="800"/>
          </a:p>
        </p:txBody>
      </p:sp>
      <p:cxnSp>
        <p:nvCxnSpPr>
          <p:cNvPr id="879" name="Google Shape;879;p54"/>
          <p:cNvCxnSpPr>
            <a:stCxn id="874" idx="3"/>
            <a:endCxn id="875" idx="1"/>
          </p:cNvCxnSpPr>
          <p:nvPr/>
        </p:nvCxnSpPr>
        <p:spPr>
          <a:xfrm flipH="1">
            <a:off x="1278250" y="2571750"/>
            <a:ext cx="6763800" cy="1167000"/>
          </a:xfrm>
          <a:prstGeom prst="bentConnector5">
            <a:avLst>
              <a:gd fmla="val -4384" name="adj1"/>
              <a:gd fmla="val 49997" name="adj2"/>
              <a:gd fmla="val 104383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0" name="Google Shape;880;p54"/>
          <p:cNvSpPr/>
          <p:nvPr/>
        </p:nvSpPr>
        <p:spPr>
          <a:xfrm>
            <a:off x="1387127" y="2979500"/>
            <a:ext cx="69531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defect</a:t>
            </a:r>
            <a:endParaRPr sz="1000"/>
          </a:p>
        </p:txBody>
      </p:sp>
      <p:sp>
        <p:nvSpPr>
          <p:cNvPr id="881" name="Google Shape;881;p54"/>
          <p:cNvSpPr/>
          <p:nvPr/>
        </p:nvSpPr>
        <p:spPr>
          <a:xfrm>
            <a:off x="1246125" y="4107600"/>
            <a:ext cx="18831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defect</a:t>
            </a:r>
            <a:endParaRPr sz="1000"/>
          </a:p>
        </p:txBody>
      </p:sp>
      <p:sp>
        <p:nvSpPr>
          <p:cNvPr id="882" name="Google Shape;882;p54"/>
          <p:cNvSpPr/>
          <p:nvPr/>
        </p:nvSpPr>
        <p:spPr>
          <a:xfrm>
            <a:off x="2310700" y="2200500"/>
            <a:ext cx="8184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Task:document actions</a:t>
            </a:r>
            <a:endParaRPr sz="800"/>
          </a:p>
        </p:txBody>
      </p:sp>
      <p:sp>
        <p:nvSpPr>
          <p:cNvPr id="883" name="Google Shape;883;p54"/>
          <p:cNvSpPr/>
          <p:nvPr/>
        </p:nvSpPr>
        <p:spPr>
          <a:xfrm>
            <a:off x="3221525" y="4050300"/>
            <a:ext cx="18831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Display quality notification</a:t>
            </a:r>
            <a:endParaRPr sz="1000"/>
          </a:p>
        </p:txBody>
      </p:sp>
      <p:sp>
        <p:nvSpPr>
          <p:cNvPr id="884" name="Google Shape;884;p5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M-140-010: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Contain as Off-spec Material for Future Processing</a:t>
            </a:r>
            <a:endParaRPr sz="1520"/>
          </a:p>
        </p:txBody>
      </p:sp>
      <p:sp>
        <p:nvSpPr>
          <p:cNvPr id="890" name="Google Shape;890;p55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891" name="Google Shape;891;p55"/>
          <p:cNvSpPr/>
          <p:nvPr/>
        </p:nvSpPr>
        <p:spPr>
          <a:xfrm>
            <a:off x="1741875" y="2173350"/>
            <a:ext cx="818400" cy="79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Need to contain as Off-spec material for future processing</a:t>
            </a:r>
            <a:endParaRPr sz="600"/>
          </a:p>
        </p:txBody>
      </p:sp>
      <p:sp>
        <p:nvSpPr>
          <p:cNvPr id="892" name="Google Shape;892;p55"/>
          <p:cNvSpPr/>
          <p:nvPr/>
        </p:nvSpPr>
        <p:spPr>
          <a:xfrm>
            <a:off x="2845375" y="2200500"/>
            <a:ext cx="1161900" cy="74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contain as off-spec </a:t>
            </a:r>
            <a:r>
              <a:rPr lang="en" sz="800"/>
              <a:t>material for future processing</a:t>
            </a:r>
            <a:endParaRPr sz="800"/>
          </a:p>
        </p:txBody>
      </p:sp>
      <p:sp>
        <p:nvSpPr>
          <p:cNvPr id="893" name="Google Shape;893;p55"/>
          <p:cNvSpPr/>
          <p:nvPr/>
        </p:nvSpPr>
        <p:spPr>
          <a:xfrm>
            <a:off x="4565375" y="2173350"/>
            <a:ext cx="818400" cy="79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Process setting change requirements identified</a:t>
            </a:r>
            <a:endParaRPr sz="600"/>
          </a:p>
        </p:txBody>
      </p:sp>
      <p:cxnSp>
        <p:nvCxnSpPr>
          <p:cNvPr id="894" name="Google Shape;894;p55"/>
          <p:cNvCxnSpPr>
            <a:stCxn id="891" idx="6"/>
            <a:endCxn id="892" idx="1"/>
          </p:cNvCxnSpPr>
          <p:nvPr/>
        </p:nvCxnSpPr>
        <p:spPr>
          <a:xfrm>
            <a:off x="2560275" y="2571750"/>
            <a:ext cx="28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5" name="Google Shape;895;p55"/>
          <p:cNvCxnSpPr>
            <a:endCxn id="893" idx="2"/>
          </p:cNvCxnSpPr>
          <p:nvPr/>
        </p:nvCxnSpPr>
        <p:spPr>
          <a:xfrm>
            <a:off x="4007375" y="2571750"/>
            <a:ext cx="5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6" name="Google Shape;896;p55"/>
          <p:cNvSpPr/>
          <p:nvPr/>
        </p:nvSpPr>
        <p:spPr>
          <a:xfrm>
            <a:off x="1336575" y="1632025"/>
            <a:ext cx="4488900" cy="1421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M-140-030: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Rework Material</a:t>
            </a:r>
            <a:endParaRPr sz="1520"/>
          </a:p>
        </p:txBody>
      </p:sp>
      <p:sp>
        <p:nvSpPr>
          <p:cNvPr id="902" name="Google Shape;902;p56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903" name="Google Shape;903;p56"/>
          <p:cNvSpPr/>
          <p:nvPr/>
        </p:nvSpPr>
        <p:spPr>
          <a:xfrm>
            <a:off x="110350" y="22148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rework material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04" name="Google Shape;904;p56"/>
          <p:cNvSpPr/>
          <p:nvPr/>
        </p:nvSpPr>
        <p:spPr>
          <a:xfrm>
            <a:off x="8177150" y="22148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</a:t>
            </a:r>
            <a:r>
              <a:rPr lang="en" sz="600">
                <a:solidFill>
                  <a:schemeClr val="dk1"/>
                </a:solidFill>
              </a:rPr>
              <a:t>: Rework Executed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05" name="Google Shape;905;p56"/>
          <p:cNvSpPr/>
          <p:nvPr/>
        </p:nvSpPr>
        <p:spPr>
          <a:xfrm>
            <a:off x="1061125" y="2280075"/>
            <a:ext cx="684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process order</a:t>
            </a:r>
            <a:endParaRPr sz="900"/>
          </a:p>
        </p:txBody>
      </p:sp>
      <p:sp>
        <p:nvSpPr>
          <p:cNvPr id="906" name="Google Shape;906;p56"/>
          <p:cNvSpPr/>
          <p:nvPr/>
        </p:nvSpPr>
        <p:spPr>
          <a:xfrm>
            <a:off x="1880500" y="2237850"/>
            <a:ext cx="905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remove </a:t>
            </a:r>
            <a:r>
              <a:rPr lang="en" sz="900"/>
              <a:t>unnecessary</a:t>
            </a:r>
            <a:r>
              <a:rPr lang="en" sz="900"/>
              <a:t> components from the BOM</a:t>
            </a:r>
            <a:endParaRPr sz="900"/>
          </a:p>
        </p:txBody>
      </p:sp>
      <p:sp>
        <p:nvSpPr>
          <p:cNvPr id="907" name="Google Shape;907;p56"/>
          <p:cNvSpPr/>
          <p:nvPr/>
        </p:nvSpPr>
        <p:spPr>
          <a:xfrm>
            <a:off x="4259499" y="22800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Execute Process Order</a:t>
            </a:r>
            <a:endParaRPr sz="900"/>
          </a:p>
        </p:txBody>
      </p:sp>
      <p:sp>
        <p:nvSpPr>
          <p:cNvPr id="908" name="Google Shape;908;p56"/>
          <p:cNvSpPr/>
          <p:nvPr/>
        </p:nvSpPr>
        <p:spPr>
          <a:xfrm>
            <a:off x="5529399" y="22800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Placeholder: In Process Inspection: create in process inspection lot, perform in line inspection, results recording in process, complete inspection lot(UD)</a:t>
            </a:r>
            <a:endParaRPr sz="900"/>
          </a:p>
        </p:txBody>
      </p:sp>
      <p:sp>
        <p:nvSpPr>
          <p:cNvPr id="909" name="Google Shape;909;p56"/>
          <p:cNvSpPr/>
          <p:nvPr/>
        </p:nvSpPr>
        <p:spPr>
          <a:xfrm>
            <a:off x="6799299" y="22800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Placeholder:complete process order</a:t>
            </a:r>
            <a:endParaRPr sz="900"/>
          </a:p>
        </p:txBody>
      </p:sp>
      <p:sp>
        <p:nvSpPr>
          <p:cNvPr id="910" name="Google Shape;910;p56"/>
          <p:cNvSpPr/>
          <p:nvPr/>
        </p:nvSpPr>
        <p:spPr>
          <a:xfrm>
            <a:off x="2870850" y="2364377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56"/>
          <p:cNvSpPr/>
          <p:nvPr/>
        </p:nvSpPr>
        <p:spPr>
          <a:xfrm rot="-2803319">
            <a:off x="2941772" y="2474652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6"/>
          <p:cNvSpPr/>
          <p:nvPr/>
        </p:nvSpPr>
        <p:spPr>
          <a:xfrm>
            <a:off x="3565175" y="2364377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56"/>
          <p:cNvSpPr/>
          <p:nvPr/>
        </p:nvSpPr>
        <p:spPr>
          <a:xfrm rot="-2803319">
            <a:off x="3636097" y="2474652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56"/>
          <p:cNvSpPr/>
          <p:nvPr/>
        </p:nvSpPr>
        <p:spPr>
          <a:xfrm>
            <a:off x="3069575" y="1612275"/>
            <a:ext cx="905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Remove or add operations</a:t>
            </a:r>
            <a:endParaRPr sz="900"/>
          </a:p>
        </p:txBody>
      </p:sp>
      <p:sp>
        <p:nvSpPr>
          <p:cNvPr id="915" name="Google Shape;915;p56"/>
          <p:cNvSpPr/>
          <p:nvPr/>
        </p:nvSpPr>
        <p:spPr>
          <a:xfrm>
            <a:off x="822475" y="3013125"/>
            <a:ext cx="3437100" cy="753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Process Order, manage process orders</a:t>
            </a:r>
            <a:endParaRPr sz="1000"/>
          </a:p>
        </p:txBody>
      </p:sp>
      <p:sp>
        <p:nvSpPr>
          <p:cNvPr id="916" name="Google Shape;916;p56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M-140-050: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Contain</a:t>
            </a:r>
            <a:r>
              <a:rPr lang="en" sz="1520">
                <a:solidFill>
                  <a:schemeClr val="dk2"/>
                </a:solidFill>
              </a:rPr>
              <a:t> Material</a:t>
            </a:r>
            <a:endParaRPr sz="1520"/>
          </a:p>
        </p:txBody>
      </p:sp>
      <p:sp>
        <p:nvSpPr>
          <p:cNvPr id="922" name="Google Shape;922;p57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923" name="Google Shape;923;p57"/>
          <p:cNvSpPr/>
          <p:nvPr/>
        </p:nvSpPr>
        <p:spPr>
          <a:xfrm>
            <a:off x="491850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contain material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24" name="Google Shape;924;p57"/>
          <p:cNvSpPr/>
          <p:nvPr/>
        </p:nvSpPr>
        <p:spPr>
          <a:xfrm>
            <a:off x="5186900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Material contained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925" name="Google Shape;925;p57"/>
          <p:cNvCxnSpPr>
            <a:stCxn id="923" idx="6"/>
            <a:endCxn id="926" idx="1"/>
          </p:cNvCxnSpPr>
          <p:nvPr/>
        </p:nvCxnSpPr>
        <p:spPr>
          <a:xfrm>
            <a:off x="1307850" y="2571750"/>
            <a:ext cx="44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7" name="Google Shape;927;p57"/>
          <p:cNvSpPr/>
          <p:nvPr/>
        </p:nvSpPr>
        <p:spPr>
          <a:xfrm>
            <a:off x="2765249" y="15940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contain material</a:t>
            </a:r>
            <a:endParaRPr sz="900"/>
          </a:p>
        </p:txBody>
      </p:sp>
      <p:sp>
        <p:nvSpPr>
          <p:cNvPr id="928" name="Google Shape;928;p57"/>
          <p:cNvSpPr/>
          <p:nvPr/>
        </p:nvSpPr>
        <p:spPr>
          <a:xfrm>
            <a:off x="2714124" y="2685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Handover Material to supplier/Customer for containment</a:t>
            </a:r>
            <a:endParaRPr sz="900"/>
          </a:p>
        </p:txBody>
      </p:sp>
      <p:sp>
        <p:nvSpPr>
          <p:cNvPr id="926" name="Google Shape;926;p57"/>
          <p:cNvSpPr/>
          <p:nvPr/>
        </p:nvSpPr>
        <p:spPr>
          <a:xfrm>
            <a:off x="1754125" y="2322152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57"/>
          <p:cNvSpPr/>
          <p:nvPr/>
        </p:nvSpPr>
        <p:spPr>
          <a:xfrm rot="-2803319">
            <a:off x="1825047" y="2432427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7"/>
          <p:cNvSpPr/>
          <p:nvPr/>
        </p:nvSpPr>
        <p:spPr>
          <a:xfrm>
            <a:off x="4212250" y="2322152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57"/>
          <p:cNvSpPr/>
          <p:nvPr/>
        </p:nvSpPr>
        <p:spPr>
          <a:xfrm rot="-2803319">
            <a:off x="4283172" y="2432427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2" name="Google Shape;932;p57"/>
          <p:cNvCxnSpPr>
            <a:stCxn id="926" idx="0"/>
            <a:endCxn id="927" idx="1"/>
          </p:cNvCxnSpPr>
          <p:nvPr/>
        </p:nvCxnSpPr>
        <p:spPr>
          <a:xfrm rot="-5400000">
            <a:off x="2165125" y="1722002"/>
            <a:ext cx="394200" cy="80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3" name="Google Shape;933;p57"/>
          <p:cNvCxnSpPr>
            <a:stCxn id="926" idx="2"/>
            <a:endCxn id="928" idx="1"/>
          </p:cNvCxnSpPr>
          <p:nvPr/>
        </p:nvCxnSpPr>
        <p:spPr>
          <a:xfrm flipH="1" rot="-5400000">
            <a:off x="2237425" y="2543102"/>
            <a:ext cx="198300" cy="75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4" name="Google Shape;934;p57"/>
          <p:cNvCxnSpPr>
            <a:stCxn id="927" idx="3"/>
            <a:endCxn id="930" idx="0"/>
          </p:cNvCxnSpPr>
          <p:nvPr/>
        </p:nvCxnSpPr>
        <p:spPr>
          <a:xfrm>
            <a:off x="3831749" y="1927975"/>
            <a:ext cx="585600" cy="39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57"/>
          <p:cNvCxnSpPr>
            <a:stCxn id="928" idx="3"/>
            <a:endCxn id="930" idx="2"/>
          </p:cNvCxnSpPr>
          <p:nvPr/>
        </p:nvCxnSpPr>
        <p:spPr>
          <a:xfrm flipH="1" rot="10800000">
            <a:off x="3780624" y="2821450"/>
            <a:ext cx="636600" cy="198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57"/>
          <p:cNvCxnSpPr/>
          <p:nvPr/>
        </p:nvCxnSpPr>
        <p:spPr>
          <a:xfrm>
            <a:off x="4681425" y="2571750"/>
            <a:ext cx="44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7" name="Google Shape;937;p57"/>
          <p:cNvSpPr/>
          <p:nvPr/>
        </p:nvSpPr>
        <p:spPr>
          <a:xfrm>
            <a:off x="2666425" y="34100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938" name="Google Shape;938;p57"/>
          <p:cNvSpPr/>
          <p:nvPr/>
        </p:nvSpPr>
        <p:spPr>
          <a:xfrm>
            <a:off x="2792550" y="14603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939" name="Google Shape;939;p5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8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M-140-070: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Post Batch to blocked stock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945" name="Google Shape;945;p58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946" name="Google Shape;946;p58"/>
          <p:cNvSpPr/>
          <p:nvPr/>
        </p:nvSpPr>
        <p:spPr>
          <a:xfrm>
            <a:off x="1336575" y="1632025"/>
            <a:ext cx="4488900" cy="1421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M-140-08</a:t>
            </a:r>
            <a:r>
              <a:rPr lang="en" sz="1779"/>
              <a:t>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Contain as Off-Spec Material (Quarantine)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952" name="Google Shape;952;p59"/>
          <p:cNvSpPr/>
          <p:nvPr/>
        </p:nvSpPr>
        <p:spPr>
          <a:xfrm>
            <a:off x="1684625" y="21726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contain off-spec material (quarantine)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53" name="Google Shape;953;p59"/>
          <p:cNvSpPr/>
          <p:nvPr/>
        </p:nvSpPr>
        <p:spPr>
          <a:xfrm>
            <a:off x="6515350" y="22020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off-spec material contained and recorded (quarantine)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954" name="Google Shape;954;p59"/>
          <p:cNvCxnSpPr>
            <a:stCxn id="952" idx="6"/>
            <a:endCxn id="955" idx="1"/>
          </p:cNvCxnSpPr>
          <p:nvPr/>
        </p:nvCxnSpPr>
        <p:spPr>
          <a:xfrm>
            <a:off x="2562125" y="2571750"/>
            <a:ext cx="4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6" name="Google Shape;956;p59"/>
          <p:cNvCxnSpPr>
            <a:stCxn id="955" idx="3"/>
            <a:endCxn id="953" idx="2"/>
          </p:cNvCxnSpPr>
          <p:nvPr/>
        </p:nvCxnSpPr>
        <p:spPr>
          <a:xfrm>
            <a:off x="4071724" y="2571750"/>
            <a:ext cx="244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5" name="Google Shape;955;p59"/>
          <p:cNvSpPr/>
          <p:nvPr/>
        </p:nvSpPr>
        <p:spPr>
          <a:xfrm>
            <a:off x="3005224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manage blocked stock</a:t>
            </a:r>
            <a:endParaRPr sz="900"/>
          </a:p>
        </p:txBody>
      </p:sp>
      <p:cxnSp>
        <p:nvCxnSpPr>
          <p:cNvPr id="957" name="Google Shape;957;p59"/>
          <p:cNvCxnSpPr>
            <a:stCxn id="958" idx="3"/>
            <a:endCxn id="955" idx="1"/>
          </p:cNvCxnSpPr>
          <p:nvPr/>
        </p:nvCxnSpPr>
        <p:spPr>
          <a:xfrm>
            <a:off x="2562124" y="2571750"/>
            <a:ext cx="4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9" name="Google Shape;959;p59"/>
          <p:cNvSpPr/>
          <p:nvPr/>
        </p:nvSpPr>
        <p:spPr>
          <a:xfrm>
            <a:off x="2957525" y="2027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960" name="Google Shape;960;p59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961" name="Google Shape;961;p59"/>
          <p:cNvSpPr/>
          <p:nvPr/>
        </p:nvSpPr>
        <p:spPr>
          <a:xfrm>
            <a:off x="4571999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Determine/record cause of deviation</a:t>
            </a:r>
            <a:endParaRPr sz="900"/>
          </a:p>
        </p:txBody>
      </p:sp>
      <p:sp>
        <p:nvSpPr>
          <p:cNvPr id="962" name="Google Shape;962;p59"/>
          <p:cNvSpPr/>
          <p:nvPr/>
        </p:nvSpPr>
        <p:spPr>
          <a:xfrm>
            <a:off x="5718350" y="4191850"/>
            <a:ext cx="3296100" cy="7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Raj will confirm for manage blocked stock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M-140-120: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Blend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968" name="Google Shape;968;p60"/>
          <p:cNvSpPr/>
          <p:nvPr/>
        </p:nvSpPr>
        <p:spPr>
          <a:xfrm>
            <a:off x="260700" y="21726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blend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69" name="Google Shape;969;p60"/>
          <p:cNvSpPr/>
          <p:nvPr/>
        </p:nvSpPr>
        <p:spPr>
          <a:xfrm>
            <a:off x="6515350" y="22020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blended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970" name="Google Shape;970;p60"/>
          <p:cNvCxnSpPr>
            <a:stCxn id="968" idx="6"/>
            <a:endCxn id="971" idx="1"/>
          </p:cNvCxnSpPr>
          <p:nvPr/>
        </p:nvCxnSpPr>
        <p:spPr>
          <a:xfrm>
            <a:off x="1138200" y="2571750"/>
            <a:ext cx="268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2" name="Google Shape;972;p60"/>
          <p:cNvCxnSpPr>
            <a:stCxn id="971" idx="3"/>
            <a:endCxn id="969" idx="2"/>
          </p:cNvCxnSpPr>
          <p:nvPr/>
        </p:nvCxnSpPr>
        <p:spPr>
          <a:xfrm>
            <a:off x="4890899" y="2571750"/>
            <a:ext cx="162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1" name="Google Shape;971;p60"/>
          <p:cNvSpPr/>
          <p:nvPr/>
        </p:nvSpPr>
        <p:spPr>
          <a:xfrm>
            <a:off x="3824399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Blend</a:t>
            </a:r>
            <a:endParaRPr sz="900"/>
          </a:p>
        </p:txBody>
      </p:sp>
      <p:cxnSp>
        <p:nvCxnSpPr>
          <p:cNvPr id="973" name="Google Shape;973;p60"/>
          <p:cNvCxnSpPr>
            <a:stCxn id="974" idx="3"/>
            <a:endCxn id="971" idx="1"/>
          </p:cNvCxnSpPr>
          <p:nvPr/>
        </p:nvCxnSpPr>
        <p:spPr>
          <a:xfrm>
            <a:off x="3381299" y="2571750"/>
            <a:ext cx="4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5" name="Google Shape;975;p60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976" name="Google Shape;976;p60"/>
          <p:cNvSpPr/>
          <p:nvPr/>
        </p:nvSpPr>
        <p:spPr>
          <a:xfrm>
            <a:off x="5071288" y="20521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977" name="Google Shape;977;p60"/>
          <p:cNvSpPr/>
          <p:nvPr/>
        </p:nvSpPr>
        <p:spPr>
          <a:xfrm>
            <a:off x="2524424" y="2273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Add </a:t>
            </a:r>
            <a:r>
              <a:rPr lang="en" sz="900"/>
              <a:t>necessary</a:t>
            </a:r>
            <a:r>
              <a:rPr lang="en" sz="900"/>
              <a:t> components</a:t>
            </a:r>
            <a:endParaRPr sz="900"/>
          </a:p>
        </p:txBody>
      </p:sp>
      <p:sp>
        <p:nvSpPr>
          <p:cNvPr id="978" name="Google Shape;978;p60"/>
          <p:cNvSpPr/>
          <p:nvPr/>
        </p:nvSpPr>
        <p:spPr>
          <a:xfrm>
            <a:off x="1310624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process order for the off-spec material</a:t>
            </a:r>
            <a:endParaRPr sz="900"/>
          </a:p>
        </p:txBody>
      </p:sp>
      <p:sp>
        <p:nvSpPr>
          <p:cNvPr id="979" name="Google Shape;979;p60"/>
          <p:cNvSpPr/>
          <p:nvPr/>
        </p:nvSpPr>
        <p:spPr>
          <a:xfrm>
            <a:off x="5071299" y="2273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Goods receipt of material with expected specifications</a:t>
            </a:r>
            <a:endParaRPr sz="900"/>
          </a:p>
        </p:txBody>
      </p:sp>
      <p:sp>
        <p:nvSpPr>
          <p:cNvPr id="980" name="Google Shape;980;p60"/>
          <p:cNvSpPr/>
          <p:nvPr/>
        </p:nvSpPr>
        <p:spPr>
          <a:xfrm>
            <a:off x="1262913" y="20220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orders, COR1</a:t>
            </a:r>
            <a:endParaRPr sz="1000"/>
          </a:p>
        </p:txBody>
      </p:sp>
      <p:sp>
        <p:nvSpPr>
          <p:cNvPr id="981" name="Google Shape;981;p60"/>
          <p:cNvSpPr/>
          <p:nvPr/>
        </p:nvSpPr>
        <p:spPr>
          <a:xfrm>
            <a:off x="2543650" y="20915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orders, COR1</a:t>
            </a:r>
            <a:endParaRPr sz="1000"/>
          </a:p>
        </p:txBody>
      </p:sp>
      <p:sp>
        <p:nvSpPr>
          <p:cNvPr id="982" name="Google Shape;982;p6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1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M-140-190: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Reclassify Material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988" name="Google Shape;988;p61"/>
          <p:cNvSpPr/>
          <p:nvPr/>
        </p:nvSpPr>
        <p:spPr>
          <a:xfrm>
            <a:off x="3375600" y="416125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reclassify Material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89" name="Google Shape;989;p61"/>
          <p:cNvSpPr/>
          <p:nvPr/>
        </p:nvSpPr>
        <p:spPr>
          <a:xfrm>
            <a:off x="7969425" y="4455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Material reclassified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990" name="Google Shape;990;p61"/>
          <p:cNvCxnSpPr>
            <a:stCxn id="988" idx="6"/>
            <a:endCxn id="991" idx="1"/>
          </p:cNvCxnSpPr>
          <p:nvPr/>
        </p:nvCxnSpPr>
        <p:spPr>
          <a:xfrm>
            <a:off x="4253100" y="815275"/>
            <a:ext cx="140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2" name="Google Shape;992;p61"/>
          <p:cNvCxnSpPr>
            <a:stCxn id="991" idx="3"/>
            <a:endCxn id="989" idx="2"/>
          </p:cNvCxnSpPr>
          <p:nvPr/>
        </p:nvCxnSpPr>
        <p:spPr>
          <a:xfrm>
            <a:off x="6721224" y="815275"/>
            <a:ext cx="124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1" name="Google Shape;991;p61"/>
          <p:cNvSpPr/>
          <p:nvPr/>
        </p:nvSpPr>
        <p:spPr>
          <a:xfrm>
            <a:off x="5654724" y="4813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material to material transfer</a:t>
            </a:r>
            <a:endParaRPr sz="900"/>
          </a:p>
        </p:txBody>
      </p:sp>
      <p:cxnSp>
        <p:nvCxnSpPr>
          <p:cNvPr id="993" name="Google Shape;993;p61"/>
          <p:cNvCxnSpPr>
            <a:stCxn id="994" idx="3"/>
            <a:endCxn id="991" idx="1"/>
          </p:cNvCxnSpPr>
          <p:nvPr/>
        </p:nvCxnSpPr>
        <p:spPr>
          <a:xfrm>
            <a:off x="5211624" y="815275"/>
            <a:ext cx="4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5" name="Google Shape;995;p61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996" name="Google Shape;996;p61"/>
          <p:cNvSpPr/>
          <p:nvPr/>
        </p:nvSpPr>
        <p:spPr>
          <a:xfrm>
            <a:off x="5607025" y="357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997" name="Google Shape;997;p61"/>
          <p:cNvSpPr/>
          <p:nvPr/>
        </p:nvSpPr>
        <p:spPr>
          <a:xfrm>
            <a:off x="6123875" y="4191850"/>
            <a:ext cx="2890500" cy="7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did not know where to create this flow.</a:t>
            </a:r>
            <a:endParaRPr/>
          </a:p>
        </p:txBody>
      </p:sp>
      <p:sp>
        <p:nvSpPr>
          <p:cNvPr id="998" name="Google Shape;998;p61"/>
          <p:cNvSpPr/>
          <p:nvPr/>
        </p:nvSpPr>
        <p:spPr>
          <a:xfrm>
            <a:off x="122600" y="2235850"/>
            <a:ext cx="7503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process manual inspection lots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99" name="Google Shape;999;p61"/>
          <p:cNvSpPr/>
          <p:nvPr/>
        </p:nvSpPr>
        <p:spPr>
          <a:xfrm>
            <a:off x="1481625" y="1384350"/>
            <a:ext cx="830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stock to quality inspection stock</a:t>
            </a:r>
            <a:endParaRPr sz="900"/>
          </a:p>
        </p:txBody>
      </p:sp>
      <p:sp>
        <p:nvSpPr>
          <p:cNvPr id="1000" name="Google Shape;1000;p61"/>
          <p:cNvSpPr/>
          <p:nvPr/>
        </p:nvSpPr>
        <p:spPr>
          <a:xfrm>
            <a:off x="926475" y="2322152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1"/>
          <p:cNvSpPr/>
          <p:nvPr/>
        </p:nvSpPr>
        <p:spPr>
          <a:xfrm rot="-2803319">
            <a:off x="997397" y="2432427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1"/>
          <p:cNvSpPr/>
          <p:nvPr/>
        </p:nvSpPr>
        <p:spPr>
          <a:xfrm>
            <a:off x="7693026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1"/>
          <p:cNvSpPr/>
          <p:nvPr/>
        </p:nvSpPr>
        <p:spPr>
          <a:xfrm rot="-2700000">
            <a:off x="7799562" y="2380136"/>
            <a:ext cx="369534" cy="371231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1"/>
          <p:cNvSpPr/>
          <p:nvPr/>
        </p:nvSpPr>
        <p:spPr>
          <a:xfrm>
            <a:off x="8320575" y="2231850"/>
            <a:ext cx="7503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manual inspection lots processed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005" name="Google Shape;1005;p61"/>
          <p:cNvSpPr/>
          <p:nvPr/>
        </p:nvSpPr>
        <p:spPr>
          <a:xfrm>
            <a:off x="3337000" y="1382350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</a:t>
            </a:r>
            <a:r>
              <a:rPr lang="en" sz="800"/>
              <a:t>Execute</a:t>
            </a:r>
            <a:r>
              <a:rPr lang="en" sz="800"/>
              <a:t> Inspection</a:t>
            </a:r>
            <a:endParaRPr sz="800"/>
          </a:p>
        </p:txBody>
      </p:sp>
      <p:sp>
        <p:nvSpPr>
          <p:cNvPr id="1006" name="Google Shape;1006;p61"/>
          <p:cNvSpPr/>
          <p:nvPr/>
        </p:nvSpPr>
        <p:spPr>
          <a:xfrm>
            <a:off x="4067100" y="1378350"/>
            <a:ext cx="830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Results</a:t>
            </a:r>
            <a:endParaRPr sz="900"/>
          </a:p>
        </p:txBody>
      </p:sp>
      <p:sp>
        <p:nvSpPr>
          <p:cNvPr id="1007" name="Google Shape;1007;p61"/>
          <p:cNvSpPr/>
          <p:nvPr/>
        </p:nvSpPr>
        <p:spPr>
          <a:xfrm>
            <a:off x="5105337" y="1384350"/>
            <a:ext cx="830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Usage Decision</a:t>
            </a:r>
            <a:endParaRPr sz="900"/>
          </a:p>
        </p:txBody>
      </p:sp>
      <p:sp>
        <p:nvSpPr>
          <p:cNvPr id="1008" name="Google Shape;1008;p61"/>
          <p:cNvSpPr/>
          <p:nvPr/>
        </p:nvSpPr>
        <p:spPr>
          <a:xfrm>
            <a:off x="1605675" y="2052150"/>
            <a:ext cx="5826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1009" name="Google Shape;1009;p61"/>
          <p:cNvSpPr/>
          <p:nvPr/>
        </p:nvSpPr>
        <p:spPr>
          <a:xfrm>
            <a:off x="4221163" y="2046150"/>
            <a:ext cx="5826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QA32</a:t>
            </a:r>
            <a:endParaRPr sz="1000"/>
          </a:p>
        </p:txBody>
      </p:sp>
      <p:sp>
        <p:nvSpPr>
          <p:cNvPr id="1010" name="Google Shape;1010;p61"/>
          <p:cNvSpPr/>
          <p:nvPr/>
        </p:nvSpPr>
        <p:spPr>
          <a:xfrm>
            <a:off x="5229363" y="2052150"/>
            <a:ext cx="5826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QA12</a:t>
            </a:r>
            <a:endParaRPr sz="1000"/>
          </a:p>
        </p:txBody>
      </p:sp>
      <p:cxnSp>
        <p:nvCxnSpPr>
          <p:cNvPr id="1011" name="Google Shape;1011;p61"/>
          <p:cNvCxnSpPr>
            <a:stCxn id="999" idx="3"/>
            <a:endCxn id="1005" idx="1"/>
          </p:cNvCxnSpPr>
          <p:nvPr/>
        </p:nvCxnSpPr>
        <p:spPr>
          <a:xfrm flipH="1" rot="10800000">
            <a:off x="2312325" y="1716150"/>
            <a:ext cx="10248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2" name="Google Shape;1012;p61"/>
          <p:cNvCxnSpPr/>
          <p:nvPr/>
        </p:nvCxnSpPr>
        <p:spPr>
          <a:xfrm>
            <a:off x="3880300" y="1716300"/>
            <a:ext cx="2577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3" name="Google Shape;1013;p61"/>
          <p:cNvCxnSpPr/>
          <p:nvPr/>
        </p:nvCxnSpPr>
        <p:spPr>
          <a:xfrm>
            <a:off x="4892887" y="1716300"/>
            <a:ext cx="2577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4" name="Google Shape;1014;p61"/>
          <p:cNvCxnSpPr/>
          <p:nvPr/>
        </p:nvCxnSpPr>
        <p:spPr>
          <a:xfrm>
            <a:off x="5936025" y="1716300"/>
            <a:ext cx="2577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5" name="Google Shape;1015;p61"/>
          <p:cNvCxnSpPr>
            <a:stCxn id="1000" idx="0"/>
            <a:endCxn id="999" idx="1"/>
          </p:cNvCxnSpPr>
          <p:nvPr/>
        </p:nvCxnSpPr>
        <p:spPr>
          <a:xfrm rot="-5400000">
            <a:off x="1004625" y="1845152"/>
            <a:ext cx="603900" cy="350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6" name="Google Shape;1016;p61"/>
          <p:cNvSpPr txBox="1"/>
          <p:nvPr/>
        </p:nvSpPr>
        <p:spPr>
          <a:xfrm>
            <a:off x="1127325" y="1328700"/>
            <a:ext cx="877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IM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017" name="Google Shape;1017;p61"/>
          <p:cNvSpPr/>
          <p:nvPr/>
        </p:nvSpPr>
        <p:spPr>
          <a:xfrm>
            <a:off x="1481625" y="2956325"/>
            <a:ext cx="912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</a:t>
            </a:r>
            <a:r>
              <a:rPr lang="en" sz="900"/>
              <a:t> Post stock to quality inspection stock (EWM)</a:t>
            </a:r>
            <a:endParaRPr sz="900"/>
          </a:p>
        </p:txBody>
      </p:sp>
      <p:sp>
        <p:nvSpPr>
          <p:cNvPr id="1018" name="Google Shape;1018;p61"/>
          <p:cNvSpPr txBox="1"/>
          <p:nvPr/>
        </p:nvSpPr>
        <p:spPr>
          <a:xfrm>
            <a:off x="254025" y="3079350"/>
            <a:ext cx="877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EWM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1019" name="Google Shape;1019;p61"/>
          <p:cNvCxnSpPr>
            <a:stCxn id="1000" idx="2"/>
            <a:endCxn id="1017" idx="1"/>
          </p:cNvCxnSpPr>
          <p:nvPr/>
        </p:nvCxnSpPr>
        <p:spPr>
          <a:xfrm flipH="1" rot="-5400000">
            <a:off x="1072125" y="2880752"/>
            <a:ext cx="468900" cy="350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0" name="Google Shape;1020;p61"/>
          <p:cNvSpPr/>
          <p:nvPr/>
        </p:nvSpPr>
        <p:spPr>
          <a:xfrm>
            <a:off x="2555662" y="2956325"/>
            <a:ext cx="830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/>
              <a:t>Inspection</a:t>
            </a:r>
            <a:r>
              <a:rPr lang="en" sz="900"/>
              <a:t> Lot Created </a:t>
            </a:r>
            <a:endParaRPr sz="900"/>
          </a:p>
        </p:txBody>
      </p:sp>
      <p:sp>
        <p:nvSpPr>
          <p:cNvPr id="1021" name="Google Shape;1021;p61"/>
          <p:cNvSpPr/>
          <p:nvPr/>
        </p:nvSpPr>
        <p:spPr>
          <a:xfrm>
            <a:off x="3548100" y="2956325"/>
            <a:ext cx="830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Execute Inspection</a:t>
            </a:r>
            <a:endParaRPr sz="900"/>
          </a:p>
        </p:txBody>
      </p:sp>
      <p:sp>
        <p:nvSpPr>
          <p:cNvPr id="1022" name="Google Shape;1022;p61"/>
          <p:cNvSpPr/>
          <p:nvPr/>
        </p:nvSpPr>
        <p:spPr>
          <a:xfrm>
            <a:off x="4586325" y="2929075"/>
            <a:ext cx="830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Results</a:t>
            </a:r>
            <a:endParaRPr sz="900"/>
          </a:p>
        </p:txBody>
      </p:sp>
      <p:sp>
        <p:nvSpPr>
          <p:cNvPr id="1023" name="Google Shape;1023;p61"/>
          <p:cNvSpPr/>
          <p:nvPr/>
        </p:nvSpPr>
        <p:spPr>
          <a:xfrm>
            <a:off x="5533075" y="2926075"/>
            <a:ext cx="830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Usage Decision</a:t>
            </a:r>
            <a:endParaRPr sz="900"/>
          </a:p>
        </p:txBody>
      </p:sp>
      <p:sp>
        <p:nvSpPr>
          <p:cNvPr id="1024" name="Google Shape;1024;p61"/>
          <p:cNvSpPr/>
          <p:nvPr/>
        </p:nvSpPr>
        <p:spPr>
          <a:xfrm>
            <a:off x="2498412" y="1378350"/>
            <a:ext cx="652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Inspection Lot Created </a:t>
            </a:r>
            <a:endParaRPr sz="800"/>
          </a:p>
        </p:txBody>
      </p:sp>
      <p:cxnSp>
        <p:nvCxnSpPr>
          <p:cNvPr id="1025" name="Google Shape;1025;p61"/>
          <p:cNvCxnSpPr>
            <a:stCxn id="1026" idx="3"/>
            <a:endCxn id="1002" idx="2"/>
          </p:cNvCxnSpPr>
          <p:nvPr/>
        </p:nvCxnSpPr>
        <p:spPr>
          <a:xfrm flipH="1" rot="10800000">
            <a:off x="7310526" y="2905656"/>
            <a:ext cx="673800" cy="354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7" name="Google Shape;1027;p61"/>
          <p:cNvCxnSpPr>
            <a:stCxn id="1028" idx="3"/>
            <a:endCxn id="1002" idx="0"/>
          </p:cNvCxnSpPr>
          <p:nvPr/>
        </p:nvCxnSpPr>
        <p:spPr>
          <a:xfrm>
            <a:off x="6954726" y="1712256"/>
            <a:ext cx="1029600" cy="525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29" name="Google Shape;102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91400"/>
            <a:ext cx="5811975" cy="7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61"/>
          <p:cNvSpPr/>
          <p:nvPr/>
        </p:nvSpPr>
        <p:spPr>
          <a:xfrm>
            <a:off x="1476700" y="3724200"/>
            <a:ext cx="912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Inspection Lot</a:t>
            </a:r>
            <a:endParaRPr sz="900"/>
          </a:p>
        </p:txBody>
      </p:sp>
      <p:sp>
        <p:nvSpPr>
          <p:cNvPr id="1031" name="Google Shape;1031;p61"/>
          <p:cNvSpPr/>
          <p:nvPr/>
        </p:nvSpPr>
        <p:spPr>
          <a:xfrm>
            <a:off x="2514850" y="3724200"/>
            <a:ext cx="912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Execute Inspection</a:t>
            </a:r>
            <a:endParaRPr sz="900"/>
          </a:p>
        </p:txBody>
      </p:sp>
      <p:sp>
        <p:nvSpPr>
          <p:cNvPr id="1032" name="Google Shape;1032;p61"/>
          <p:cNvSpPr/>
          <p:nvPr/>
        </p:nvSpPr>
        <p:spPr>
          <a:xfrm>
            <a:off x="3553000" y="3724200"/>
            <a:ext cx="912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Results</a:t>
            </a:r>
            <a:endParaRPr sz="900"/>
          </a:p>
        </p:txBody>
      </p:sp>
      <p:sp>
        <p:nvSpPr>
          <p:cNvPr id="1033" name="Google Shape;1033;p61"/>
          <p:cNvSpPr/>
          <p:nvPr/>
        </p:nvSpPr>
        <p:spPr>
          <a:xfrm>
            <a:off x="4591150" y="3724200"/>
            <a:ext cx="912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usage decision</a:t>
            </a:r>
            <a:endParaRPr sz="900"/>
          </a:p>
        </p:txBody>
      </p:sp>
      <p:cxnSp>
        <p:nvCxnSpPr>
          <p:cNvPr id="1034" name="Google Shape;1034;p61"/>
          <p:cNvCxnSpPr>
            <a:stCxn id="1000" idx="2"/>
            <a:endCxn id="1030" idx="1"/>
          </p:cNvCxnSpPr>
          <p:nvPr/>
        </p:nvCxnSpPr>
        <p:spPr>
          <a:xfrm flipH="1" rot="-5400000">
            <a:off x="685875" y="3267002"/>
            <a:ext cx="1236600" cy="345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5" name="Google Shape;1035;p61"/>
          <p:cNvCxnSpPr>
            <a:stCxn id="1033" idx="3"/>
            <a:endCxn id="1002" idx="2"/>
          </p:cNvCxnSpPr>
          <p:nvPr/>
        </p:nvCxnSpPr>
        <p:spPr>
          <a:xfrm flipH="1" rot="10800000">
            <a:off x="5503450" y="2905800"/>
            <a:ext cx="2481000" cy="1152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6" name="Google Shape;1036;p61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1037" name="Google Shape;1037;p61"/>
          <p:cNvSpPr/>
          <p:nvPr/>
        </p:nvSpPr>
        <p:spPr>
          <a:xfrm>
            <a:off x="6818125" y="4120125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gaps created for integration but not yet confirmed. So not yet included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7.2 Assess production Performance</a:t>
            </a:r>
            <a:endParaRPr/>
          </a:p>
        </p:txBody>
      </p:sp>
      <p:sp>
        <p:nvSpPr>
          <p:cNvPr id="1043" name="Google Shape;1043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7.2.1 Monitor and optimize production process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M-170-010-Inventory Report</a:t>
            </a:r>
            <a:endParaRPr sz="1520"/>
          </a:p>
        </p:txBody>
      </p:sp>
      <p:sp>
        <p:nvSpPr>
          <p:cNvPr id="1049" name="Google Shape;1049;p63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050" name="Google Shape;1050;p63"/>
          <p:cNvSpPr/>
          <p:nvPr/>
        </p:nvSpPr>
        <p:spPr>
          <a:xfrm>
            <a:off x="316875" y="21726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display an inventory Report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051" name="Google Shape;1051;p63"/>
          <p:cNvSpPr/>
          <p:nvPr/>
        </p:nvSpPr>
        <p:spPr>
          <a:xfrm>
            <a:off x="2842187" y="9582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Consumption Report</a:t>
            </a:r>
            <a:endParaRPr sz="900"/>
          </a:p>
        </p:txBody>
      </p:sp>
      <p:sp>
        <p:nvSpPr>
          <p:cNvPr id="1052" name="Google Shape;1052;p63"/>
          <p:cNvSpPr/>
          <p:nvPr/>
        </p:nvSpPr>
        <p:spPr>
          <a:xfrm>
            <a:off x="2842174" y="18289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Blocked Inventory</a:t>
            </a:r>
            <a:endParaRPr sz="900"/>
          </a:p>
        </p:txBody>
      </p:sp>
      <p:sp>
        <p:nvSpPr>
          <p:cNvPr id="1053" name="Google Shape;1053;p63"/>
          <p:cNvSpPr/>
          <p:nvPr/>
        </p:nvSpPr>
        <p:spPr>
          <a:xfrm>
            <a:off x="2842187" y="28561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</a:t>
            </a:r>
            <a:r>
              <a:rPr lang="en" sz="900"/>
              <a:t>consignment</a:t>
            </a:r>
            <a:r>
              <a:rPr lang="en" sz="900"/>
              <a:t> Inventory</a:t>
            </a:r>
            <a:endParaRPr sz="900"/>
          </a:p>
        </p:txBody>
      </p:sp>
      <p:sp>
        <p:nvSpPr>
          <p:cNvPr id="1054" name="Google Shape;1054;p63"/>
          <p:cNvSpPr/>
          <p:nvPr/>
        </p:nvSpPr>
        <p:spPr>
          <a:xfrm>
            <a:off x="2842187" y="38135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Inventory </a:t>
            </a:r>
            <a:r>
              <a:rPr lang="en" sz="900"/>
              <a:t>Reconciliation</a:t>
            </a:r>
            <a:endParaRPr sz="900"/>
          </a:p>
        </p:txBody>
      </p:sp>
      <p:sp>
        <p:nvSpPr>
          <p:cNvPr id="1055" name="Google Shape;1055;p63"/>
          <p:cNvSpPr/>
          <p:nvPr/>
        </p:nvSpPr>
        <p:spPr>
          <a:xfrm>
            <a:off x="1460325" y="2322152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3"/>
          <p:cNvSpPr/>
          <p:nvPr/>
        </p:nvSpPr>
        <p:spPr>
          <a:xfrm rot="-2803319">
            <a:off x="1531247" y="2432427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3"/>
          <p:cNvSpPr/>
          <p:nvPr/>
        </p:nvSpPr>
        <p:spPr>
          <a:xfrm>
            <a:off x="4572000" y="2228827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3"/>
          <p:cNvSpPr/>
          <p:nvPr/>
        </p:nvSpPr>
        <p:spPr>
          <a:xfrm rot="-2803319">
            <a:off x="4642922" y="2339102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3"/>
          <p:cNvSpPr/>
          <p:nvPr/>
        </p:nvSpPr>
        <p:spPr>
          <a:xfrm>
            <a:off x="5477200" y="2079275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Inventory Report Displayed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060" name="Google Shape;1060;p63"/>
          <p:cNvCxnSpPr>
            <a:stCxn id="1055" idx="0"/>
            <a:endCxn id="1051" idx="1"/>
          </p:cNvCxnSpPr>
          <p:nvPr/>
        </p:nvCxnSpPr>
        <p:spPr>
          <a:xfrm rot="-5400000">
            <a:off x="1738875" y="1218752"/>
            <a:ext cx="1029900" cy="1176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1" name="Google Shape;1061;p63"/>
          <p:cNvCxnSpPr>
            <a:stCxn id="1051" idx="3"/>
            <a:endCxn id="1057" idx="0"/>
          </p:cNvCxnSpPr>
          <p:nvPr/>
        </p:nvCxnSpPr>
        <p:spPr>
          <a:xfrm>
            <a:off x="3908687" y="1292175"/>
            <a:ext cx="868500" cy="936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2" name="Google Shape;1062;p63"/>
          <p:cNvCxnSpPr>
            <a:stCxn id="1052" idx="3"/>
            <a:endCxn id="1057" idx="0"/>
          </p:cNvCxnSpPr>
          <p:nvPr/>
        </p:nvCxnSpPr>
        <p:spPr>
          <a:xfrm>
            <a:off x="3908674" y="2162875"/>
            <a:ext cx="868500" cy="6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3" name="Google Shape;1063;p63"/>
          <p:cNvCxnSpPr>
            <a:stCxn id="1053" idx="3"/>
            <a:endCxn id="1057" idx="2"/>
          </p:cNvCxnSpPr>
          <p:nvPr/>
        </p:nvCxnSpPr>
        <p:spPr>
          <a:xfrm flipH="1" rot="10800000">
            <a:off x="3908687" y="2728000"/>
            <a:ext cx="868500" cy="462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4" name="Google Shape;1064;p63"/>
          <p:cNvCxnSpPr>
            <a:stCxn id="1054" idx="3"/>
            <a:endCxn id="1057" idx="2"/>
          </p:cNvCxnSpPr>
          <p:nvPr/>
        </p:nvCxnSpPr>
        <p:spPr>
          <a:xfrm flipH="1" rot="10800000">
            <a:off x="3908687" y="2728100"/>
            <a:ext cx="868500" cy="1419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5" name="Google Shape;1065;p63"/>
          <p:cNvCxnSpPr>
            <a:stCxn id="1055" idx="0"/>
            <a:endCxn id="1052" idx="1"/>
          </p:cNvCxnSpPr>
          <p:nvPr/>
        </p:nvCxnSpPr>
        <p:spPr>
          <a:xfrm rot="-5400000">
            <a:off x="2174175" y="1654052"/>
            <a:ext cx="159300" cy="1176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6" name="Google Shape;1066;p63"/>
          <p:cNvCxnSpPr>
            <a:stCxn id="1055" idx="2"/>
            <a:endCxn id="1053" idx="1"/>
          </p:cNvCxnSpPr>
          <p:nvPr/>
        </p:nvCxnSpPr>
        <p:spPr>
          <a:xfrm flipH="1" rot="-5400000">
            <a:off x="2069475" y="2417252"/>
            <a:ext cx="368700" cy="1176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7" name="Google Shape;1067;p63"/>
          <p:cNvCxnSpPr>
            <a:stCxn id="1055" idx="2"/>
            <a:endCxn id="1054" idx="1"/>
          </p:cNvCxnSpPr>
          <p:nvPr/>
        </p:nvCxnSpPr>
        <p:spPr>
          <a:xfrm flipH="1" rot="-5400000">
            <a:off x="1590825" y="2895902"/>
            <a:ext cx="1326000" cy="1176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8" name="Google Shape;1068;p63"/>
          <p:cNvSpPr txBox="1"/>
          <p:nvPr/>
        </p:nvSpPr>
        <p:spPr>
          <a:xfrm>
            <a:off x="1601525" y="838900"/>
            <a:ext cx="7710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Consumption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069" name="Google Shape;1069;p63"/>
          <p:cNvSpPr txBox="1"/>
          <p:nvPr/>
        </p:nvSpPr>
        <p:spPr>
          <a:xfrm>
            <a:off x="1728500" y="1859775"/>
            <a:ext cx="949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Blocked Stock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070" name="Google Shape;1070;p63"/>
          <p:cNvSpPr txBox="1"/>
          <p:nvPr/>
        </p:nvSpPr>
        <p:spPr>
          <a:xfrm>
            <a:off x="1779225" y="2880650"/>
            <a:ext cx="7710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Consignment Stock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071" name="Google Shape;1071;p63"/>
          <p:cNvSpPr txBox="1"/>
          <p:nvPr/>
        </p:nvSpPr>
        <p:spPr>
          <a:xfrm>
            <a:off x="1672875" y="3761800"/>
            <a:ext cx="11619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Inventory Reconciliation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1072" name="Google Shape;1072;p63"/>
          <p:cNvCxnSpPr>
            <a:endCxn id="1059" idx="2"/>
          </p:cNvCxnSpPr>
          <p:nvPr/>
        </p:nvCxnSpPr>
        <p:spPr>
          <a:xfrm flipH="1" rot="10800000">
            <a:off x="4982200" y="2478425"/>
            <a:ext cx="495000" cy="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63"/>
          <p:cNvCxnSpPr/>
          <p:nvPr/>
        </p:nvCxnSpPr>
        <p:spPr>
          <a:xfrm flipH="1" rot="10800000">
            <a:off x="1106525" y="2562600"/>
            <a:ext cx="495000" cy="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4" name="Google Shape;1074;p63"/>
          <p:cNvSpPr/>
          <p:nvPr/>
        </p:nvSpPr>
        <p:spPr>
          <a:xfrm>
            <a:off x="2842275" y="15772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COOIS, MB51</a:t>
            </a:r>
            <a:endParaRPr sz="1000"/>
          </a:p>
        </p:txBody>
      </p:sp>
      <p:sp>
        <p:nvSpPr>
          <p:cNvPr id="1075" name="Google Shape;1075;p63"/>
          <p:cNvSpPr/>
          <p:nvPr/>
        </p:nvSpPr>
        <p:spPr>
          <a:xfrm>
            <a:off x="2845380" y="2427750"/>
            <a:ext cx="16170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Stock - Single material, stock - multiple material</a:t>
            </a:r>
            <a:endParaRPr sz="1000"/>
          </a:p>
        </p:txBody>
      </p:sp>
      <p:sp>
        <p:nvSpPr>
          <p:cNvPr id="1076" name="Google Shape;1076;p63"/>
          <p:cNvSpPr/>
          <p:nvPr/>
        </p:nvSpPr>
        <p:spPr>
          <a:xfrm>
            <a:off x="2771550" y="3421225"/>
            <a:ext cx="3600900" cy="330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Subcontractor Stock, Subcontracting cockpit, </a:t>
            </a:r>
            <a:r>
              <a:rPr lang="en" sz="1000">
                <a:solidFill>
                  <a:schemeClr val="dk1"/>
                </a:solidFill>
              </a:rPr>
              <a:t>Stock - Single material, stock - multiple material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77" name="Google Shape;1077;p63"/>
          <p:cNvSpPr/>
          <p:nvPr/>
        </p:nvSpPr>
        <p:spPr>
          <a:xfrm>
            <a:off x="2794475" y="4378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MB5L</a:t>
            </a:r>
            <a:endParaRPr sz="1000"/>
          </a:p>
        </p:txBody>
      </p:sp>
      <p:sp>
        <p:nvSpPr>
          <p:cNvPr id="1078" name="Google Shape;1078;p6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M-170-030-Master data report</a:t>
            </a:r>
            <a:endParaRPr sz="1520"/>
          </a:p>
        </p:txBody>
      </p:sp>
      <p:sp>
        <p:nvSpPr>
          <p:cNvPr id="1084" name="Google Shape;1084;p64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085" name="Google Shape;1085;p64"/>
          <p:cNvSpPr/>
          <p:nvPr/>
        </p:nvSpPr>
        <p:spPr>
          <a:xfrm>
            <a:off x="316875" y="21726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display a master data Report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086" name="Google Shape;1086;p64"/>
          <p:cNvSpPr/>
          <p:nvPr/>
        </p:nvSpPr>
        <p:spPr>
          <a:xfrm>
            <a:off x="5850025" y="21726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</a:t>
            </a:r>
            <a:r>
              <a:rPr lang="en" sz="600">
                <a:solidFill>
                  <a:schemeClr val="dk1"/>
                </a:solidFill>
              </a:rPr>
              <a:t>: master data Report displayed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087" name="Google Shape;1087;p64"/>
          <p:cNvSpPr/>
          <p:nvPr/>
        </p:nvSpPr>
        <p:spPr>
          <a:xfrm>
            <a:off x="2723550" y="415400"/>
            <a:ext cx="1066500" cy="4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resources report</a:t>
            </a:r>
            <a:endParaRPr sz="900"/>
          </a:p>
        </p:txBody>
      </p:sp>
      <p:sp>
        <p:nvSpPr>
          <p:cNvPr id="1088" name="Google Shape;1088;p64"/>
          <p:cNvSpPr/>
          <p:nvPr/>
        </p:nvSpPr>
        <p:spPr>
          <a:xfrm>
            <a:off x="2620350" y="833425"/>
            <a:ext cx="127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resources</a:t>
            </a:r>
            <a:endParaRPr sz="1000"/>
          </a:p>
        </p:txBody>
      </p:sp>
      <p:sp>
        <p:nvSpPr>
          <p:cNvPr id="1089" name="Google Shape;1089;p64"/>
          <p:cNvSpPr/>
          <p:nvPr/>
        </p:nvSpPr>
        <p:spPr>
          <a:xfrm>
            <a:off x="2723550" y="1124525"/>
            <a:ext cx="1066500" cy="4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Bill of materials report</a:t>
            </a:r>
            <a:endParaRPr sz="900"/>
          </a:p>
        </p:txBody>
      </p:sp>
      <p:sp>
        <p:nvSpPr>
          <p:cNvPr id="1090" name="Google Shape;1090;p64"/>
          <p:cNvSpPr/>
          <p:nvPr/>
        </p:nvSpPr>
        <p:spPr>
          <a:xfrm>
            <a:off x="2620350" y="1464975"/>
            <a:ext cx="127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Maintain bill of material</a:t>
            </a:r>
            <a:endParaRPr sz="1000"/>
          </a:p>
        </p:txBody>
      </p:sp>
      <p:sp>
        <p:nvSpPr>
          <p:cNvPr id="1091" name="Google Shape;1091;p64"/>
          <p:cNvSpPr/>
          <p:nvPr/>
        </p:nvSpPr>
        <p:spPr>
          <a:xfrm>
            <a:off x="2723550" y="1836375"/>
            <a:ext cx="1066500" cy="4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Bill of materials comparison report</a:t>
            </a:r>
            <a:endParaRPr sz="900"/>
          </a:p>
        </p:txBody>
      </p:sp>
      <p:sp>
        <p:nvSpPr>
          <p:cNvPr id="1092" name="Google Shape;1092;p64"/>
          <p:cNvSpPr/>
          <p:nvPr/>
        </p:nvSpPr>
        <p:spPr>
          <a:xfrm>
            <a:off x="2607763" y="2338500"/>
            <a:ext cx="127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Bom comparison</a:t>
            </a:r>
            <a:endParaRPr sz="1000"/>
          </a:p>
        </p:txBody>
      </p:sp>
      <p:sp>
        <p:nvSpPr>
          <p:cNvPr id="1093" name="Google Shape;1093;p64"/>
          <p:cNvSpPr/>
          <p:nvPr/>
        </p:nvSpPr>
        <p:spPr>
          <a:xfrm>
            <a:off x="2750550" y="2633025"/>
            <a:ext cx="1066500" cy="4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Master Recipes report</a:t>
            </a:r>
            <a:endParaRPr sz="900"/>
          </a:p>
        </p:txBody>
      </p:sp>
      <p:sp>
        <p:nvSpPr>
          <p:cNvPr id="1094" name="Google Shape;1094;p64"/>
          <p:cNvSpPr/>
          <p:nvPr/>
        </p:nvSpPr>
        <p:spPr>
          <a:xfrm>
            <a:off x="2647350" y="3046925"/>
            <a:ext cx="127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Master Recipes</a:t>
            </a:r>
            <a:endParaRPr sz="1000"/>
          </a:p>
        </p:txBody>
      </p:sp>
      <p:sp>
        <p:nvSpPr>
          <p:cNvPr id="1095" name="Google Shape;1095;p64"/>
          <p:cNvSpPr/>
          <p:nvPr/>
        </p:nvSpPr>
        <p:spPr>
          <a:xfrm>
            <a:off x="2777550" y="3429275"/>
            <a:ext cx="1066500" cy="4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material masters report</a:t>
            </a:r>
            <a:endParaRPr sz="900"/>
          </a:p>
        </p:txBody>
      </p:sp>
      <p:sp>
        <p:nvSpPr>
          <p:cNvPr id="1096" name="Google Shape;1096;p64"/>
          <p:cNvSpPr/>
          <p:nvPr/>
        </p:nvSpPr>
        <p:spPr>
          <a:xfrm>
            <a:off x="2620350" y="3871725"/>
            <a:ext cx="1808100" cy="398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 master data, </a:t>
            </a:r>
            <a:r>
              <a:rPr lang="en" sz="1000"/>
              <a:t>MM03</a:t>
            </a:r>
            <a:endParaRPr sz="1000"/>
          </a:p>
        </p:txBody>
      </p:sp>
      <p:sp>
        <p:nvSpPr>
          <p:cNvPr id="1097" name="Google Shape;1097;p64"/>
          <p:cNvSpPr/>
          <p:nvPr/>
        </p:nvSpPr>
        <p:spPr>
          <a:xfrm>
            <a:off x="2777550" y="4383625"/>
            <a:ext cx="1066500" cy="4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production version report</a:t>
            </a:r>
            <a:endParaRPr sz="900"/>
          </a:p>
        </p:txBody>
      </p:sp>
      <p:sp>
        <p:nvSpPr>
          <p:cNvPr id="1098" name="Google Shape;1098;p64"/>
          <p:cNvSpPr/>
          <p:nvPr/>
        </p:nvSpPr>
        <p:spPr>
          <a:xfrm>
            <a:off x="1460325" y="2322152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4"/>
          <p:cNvSpPr/>
          <p:nvPr/>
        </p:nvSpPr>
        <p:spPr>
          <a:xfrm rot="-2803319">
            <a:off x="1531247" y="2432427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64"/>
          <p:cNvSpPr/>
          <p:nvPr/>
        </p:nvSpPr>
        <p:spPr>
          <a:xfrm>
            <a:off x="5273350" y="2322152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64"/>
          <p:cNvSpPr/>
          <p:nvPr/>
        </p:nvSpPr>
        <p:spPr>
          <a:xfrm rot="-2803319">
            <a:off x="5344272" y="2432427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2" name="Google Shape;1102;p64"/>
          <p:cNvCxnSpPr>
            <a:stCxn id="1098" idx="0"/>
          </p:cNvCxnSpPr>
          <p:nvPr/>
        </p:nvCxnSpPr>
        <p:spPr>
          <a:xfrm rot="-5400000">
            <a:off x="1366275" y="959852"/>
            <a:ext cx="1661400" cy="1063200"/>
          </a:xfrm>
          <a:prstGeom prst="bentConnector3">
            <a:avLst>
              <a:gd fmla="val 1004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64"/>
          <p:cNvCxnSpPr>
            <a:endCxn id="1100" idx="0"/>
          </p:cNvCxnSpPr>
          <p:nvPr/>
        </p:nvCxnSpPr>
        <p:spPr>
          <a:xfrm flipH="1" rot="-5400000">
            <a:off x="3754300" y="598052"/>
            <a:ext cx="1759800" cy="1688400"/>
          </a:xfrm>
          <a:prstGeom prst="bentConnector3">
            <a:avLst>
              <a:gd fmla="val 367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4" name="Google Shape;1104;p64"/>
          <p:cNvCxnSpPr>
            <a:endCxn id="1100" idx="0"/>
          </p:cNvCxnSpPr>
          <p:nvPr/>
        </p:nvCxnSpPr>
        <p:spPr>
          <a:xfrm>
            <a:off x="3790000" y="1256852"/>
            <a:ext cx="1688400" cy="1065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5" name="Google Shape;1105;p64"/>
          <p:cNvCxnSpPr>
            <a:endCxn id="1100" idx="2"/>
          </p:cNvCxnSpPr>
          <p:nvPr/>
        </p:nvCxnSpPr>
        <p:spPr>
          <a:xfrm flipH="1" rot="10800000">
            <a:off x="3908800" y="2821352"/>
            <a:ext cx="1569600" cy="368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6" name="Google Shape;1106;p64"/>
          <p:cNvCxnSpPr>
            <a:endCxn id="1100" idx="2"/>
          </p:cNvCxnSpPr>
          <p:nvPr/>
        </p:nvCxnSpPr>
        <p:spPr>
          <a:xfrm flipH="1" rot="10800000">
            <a:off x="3908800" y="2821352"/>
            <a:ext cx="1569600" cy="132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64"/>
          <p:cNvCxnSpPr>
            <a:stCxn id="1098" idx="0"/>
          </p:cNvCxnSpPr>
          <p:nvPr/>
        </p:nvCxnSpPr>
        <p:spPr>
          <a:xfrm rot="-5400000">
            <a:off x="1671225" y="1269902"/>
            <a:ext cx="1046400" cy="105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64"/>
          <p:cNvCxnSpPr/>
          <p:nvPr/>
        </p:nvCxnSpPr>
        <p:spPr>
          <a:xfrm flipH="1" rot="-5400000">
            <a:off x="2069475" y="2417252"/>
            <a:ext cx="368700" cy="1176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64"/>
          <p:cNvCxnSpPr/>
          <p:nvPr/>
        </p:nvCxnSpPr>
        <p:spPr>
          <a:xfrm flipH="1" rot="-5400000">
            <a:off x="1590825" y="2895902"/>
            <a:ext cx="1326000" cy="1176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64"/>
          <p:cNvCxnSpPr>
            <a:stCxn id="1098" idx="2"/>
            <a:endCxn id="1097" idx="1"/>
          </p:cNvCxnSpPr>
          <p:nvPr/>
        </p:nvCxnSpPr>
        <p:spPr>
          <a:xfrm flipH="1" rot="-5400000">
            <a:off x="1325475" y="3161252"/>
            <a:ext cx="1791900" cy="1112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1" name="Google Shape;1111;p64"/>
          <p:cNvCxnSpPr>
            <a:stCxn id="1098" idx="0"/>
            <a:endCxn id="1091" idx="1"/>
          </p:cNvCxnSpPr>
          <p:nvPr/>
        </p:nvCxnSpPr>
        <p:spPr>
          <a:xfrm rot="-5400000">
            <a:off x="2066325" y="1665002"/>
            <a:ext cx="256200" cy="105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2" name="Google Shape;1112;p64"/>
          <p:cNvCxnSpPr>
            <a:stCxn id="1091" idx="3"/>
            <a:endCxn id="1100" idx="0"/>
          </p:cNvCxnSpPr>
          <p:nvPr/>
        </p:nvCxnSpPr>
        <p:spPr>
          <a:xfrm>
            <a:off x="3790050" y="2066025"/>
            <a:ext cx="1688400" cy="256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64"/>
          <p:cNvCxnSpPr>
            <a:endCxn id="1100" idx="2"/>
          </p:cNvCxnSpPr>
          <p:nvPr/>
        </p:nvCxnSpPr>
        <p:spPr>
          <a:xfrm rot="-5400000">
            <a:off x="3734800" y="2935952"/>
            <a:ext cx="1858200" cy="1629000"/>
          </a:xfrm>
          <a:prstGeom prst="bentConnector3">
            <a:avLst>
              <a:gd fmla="val -34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4" name="Google Shape;1114;p64"/>
          <p:cNvSpPr/>
          <p:nvPr/>
        </p:nvSpPr>
        <p:spPr>
          <a:xfrm>
            <a:off x="2471025" y="4816875"/>
            <a:ext cx="1808100" cy="2946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C223, manage production versions</a:t>
            </a:r>
            <a:endParaRPr sz="1000"/>
          </a:p>
        </p:txBody>
      </p:sp>
      <p:sp>
        <p:nvSpPr>
          <p:cNvPr id="1115" name="Google Shape;1115;p6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6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M-170-040-Process order information system</a:t>
            </a:r>
            <a:endParaRPr sz="1520"/>
          </a:p>
        </p:txBody>
      </p:sp>
      <p:sp>
        <p:nvSpPr>
          <p:cNvPr id="1121" name="Google Shape;1121;p65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122" name="Google Shape;1122;p65"/>
          <p:cNvSpPr/>
          <p:nvPr/>
        </p:nvSpPr>
        <p:spPr>
          <a:xfrm>
            <a:off x="1121875" y="825275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display process order information system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123" name="Google Shape;1123;p65"/>
          <p:cNvSpPr/>
          <p:nvPr/>
        </p:nvSpPr>
        <p:spPr>
          <a:xfrm>
            <a:off x="6655025" y="825275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Process order information system displayed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124" name="Google Shape;1124;p65"/>
          <p:cNvSpPr/>
          <p:nvPr/>
        </p:nvSpPr>
        <p:spPr>
          <a:xfrm>
            <a:off x="3913475" y="720250"/>
            <a:ext cx="1066500" cy="56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Order Header</a:t>
            </a:r>
            <a:endParaRPr sz="900"/>
          </a:p>
        </p:txBody>
      </p:sp>
      <p:sp>
        <p:nvSpPr>
          <p:cNvPr id="1125" name="Google Shape;1125;p65"/>
          <p:cNvSpPr/>
          <p:nvPr/>
        </p:nvSpPr>
        <p:spPr>
          <a:xfrm>
            <a:off x="3810275" y="1355650"/>
            <a:ext cx="127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COOISPI, manage process orders</a:t>
            </a:r>
            <a:endParaRPr sz="1000"/>
          </a:p>
        </p:txBody>
      </p:sp>
      <p:sp>
        <p:nvSpPr>
          <p:cNvPr id="1126" name="Google Shape;1126;p65"/>
          <p:cNvSpPr/>
          <p:nvPr/>
        </p:nvSpPr>
        <p:spPr>
          <a:xfrm>
            <a:off x="3913475" y="1808550"/>
            <a:ext cx="1066500" cy="56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Items</a:t>
            </a:r>
            <a:endParaRPr sz="900"/>
          </a:p>
        </p:txBody>
      </p:sp>
      <p:sp>
        <p:nvSpPr>
          <p:cNvPr id="1127" name="Google Shape;1127;p65"/>
          <p:cNvSpPr/>
          <p:nvPr/>
        </p:nvSpPr>
        <p:spPr>
          <a:xfrm>
            <a:off x="3913475" y="2574050"/>
            <a:ext cx="1066500" cy="56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Confirmations</a:t>
            </a:r>
            <a:endParaRPr sz="900"/>
          </a:p>
        </p:txBody>
      </p:sp>
      <p:sp>
        <p:nvSpPr>
          <p:cNvPr id="1128" name="Google Shape;1128;p65"/>
          <p:cNvSpPr/>
          <p:nvPr/>
        </p:nvSpPr>
        <p:spPr>
          <a:xfrm>
            <a:off x="3960675" y="3339550"/>
            <a:ext cx="1066500" cy="56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Documents Goods Movement</a:t>
            </a:r>
            <a:endParaRPr sz="900"/>
          </a:p>
        </p:txBody>
      </p:sp>
      <p:sp>
        <p:nvSpPr>
          <p:cNvPr id="1129" name="Google Shape;1129;p65"/>
          <p:cNvSpPr/>
          <p:nvPr/>
        </p:nvSpPr>
        <p:spPr>
          <a:xfrm>
            <a:off x="3810275" y="2263075"/>
            <a:ext cx="127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COOISPI, manage process orders</a:t>
            </a:r>
            <a:endParaRPr sz="1000"/>
          </a:p>
        </p:txBody>
      </p:sp>
      <p:sp>
        <p:nvSpPr>
          <p:cNvPr id="1130" name="Google Shape;1130;p65"/>
          <p:cNvSpPr/>
          <p:nvPr/>
        </p:nvSpPr>
        <p:spPr>
          <a:xfrm>
            <a:off x="3754275" y="3013175"/>
            <a:ext cx="127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COOISPI, manage process orders</a:t>
            </a:r>
            <a:endParaRPr sz="1000"/>
          </a:p>
        </p:txBody>
      </p:sp>
      <p:sp>
        <p:nvSpPr>
          <p:cNvPr id="1131" name="Google Shape;1131;p65"/>
          <p:cNvSpPr/>
          <p:nvPr/>
        </p:nvSpPr>
        <p:spPr>
          <a:xfrm>
            <a:off x="3857475" y="3905200"/>
            <a:ext cx="127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COOISPI</a:t>
            </a:r>
            <a:endParaRPr sz="1000"/>
          </a:p>
        </p:txBody>
      </p:sp>
      <p:sp>
        <p:nvSpPr>
          <p:cNvPr id="1132" name="Google Shape;1132;p65"/>
          <p:cNvSpPr/>
          <p:nvPr/>
        </p:nvSpPr>
        <p:spPr>
          <a:xfrm>
            <a:off x="2203713" y="867177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5"/>
          <p:cNvSpPr/>
          <p:nvPr/>
        </p:nvSpPr>
        <p:spPr>
          <a:xfrm rot="-2803319">
            <a:off x="2274635" y="977452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65"/>
          <p:cNvSpPr/>
          <p:nvPr/>
        </p:nvSpPr>
        <p:spPr>
          <a:xfrm>
            <a:off x="6055350" y="804277"/>
            <a:ext cx="410100" cy="499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65"/>
          <p:cNvSpPr/>
          <p:nvPr/>
        </p:nvSpPr>
        <p:spPr>
          <a:xfrm rot="-2803319">
            <a:off x="6126272" y="914552"/>
            <a:ext cx="268256" cy="269528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6" name="Google Shape;1136;p65"/>
          <p:cNvCxnSpPr>
            <a:stCxn id="1132" idx="2"/>
            <a:endCxn id="1126" idx="1"/>
          </p:cNvCxnSpPr>
          <p:nvPr/>
        </p:nvCxnSpPr>
        <p:spPr>
          <a:xfrm flipH="1" rot="-5400000">
            <a:off x="2799063" y="976077"/>
            <a:ext cx="724200" cy="150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7" name="Google Shape;1137;p65"/>
          <p:cNvCxnSpPr>
            <a:stCxn id="1127" idx="3"/>
            <a:endCxn id="1134" idx="2"/>
          </p:cNvCxnSpPr>
          <p:nvPr/>
        </p:nvCxnSpPr>
        <p:spPr>
          <a:xfrm flipH="1" rot="10800000">
            <a:off x="4979975" y="1303400"/>
            <a:ext cx="1280400" cy="1552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8" name="Google Shape;1138;p65"/>
          <p:cNvCxnSpPr>
            <a:stCxn id="1128" idx="3"/>
            <a:endCxn id="1134" idx="2"/>
          </p:cNvCxnSpPr>
          <p:nvPr/>
        </p:nvCxnSpPr>
        <p:spPr>
          <a:xfrm flipH="1" rot="10800000">
            <a:off x="5027175" y="1303600"/>
            <a:ext cx="1233300" cy="231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9" name="Google Shape;1139;p65"/>
          <p:cNvCxnSpPr>
            <a:stCxn id="1126" idx="3"/>
            <a:endCxn id="1134" idx="2"/>
          </p:cNvCxnSpPr>
          <p:nvPr/>
        </p:nvCxnSpPr>
        <p:spPr>
          <a:xfrm flipH="1" rot="10800000">
            <a:off x="4979975" y="1303500"/>
            <a:ext cx="1280400" cy="78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0" name="Google Shape;1140;p65"/>
          <p:cNvCxnSpPr>
            <a:stCxn id="1132" idx="0"/>
            <a:endCxn id="1124" idx="1"/>
          </p:cNvCxnSpPr>
          <p:nvPr/>
        </p:nvCxnSpPr>
        <p:spPr>
          <a:xfrm flipH="1" rot="-5400000">
            <a:off x="3093513" y="182427"/>
            <a:ext cx="135300" cy="1504800"/>
          </a:xfrm>
          <a:prstGeom prst="bentConnector4">
            <a:avLst>
              <a:gd fmla="val -175998" name="adj1"/>
              <a:gd fmla="val 5681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1" name="Google Shape;1141;p65"/>
          <p:cNvCxnSpPr>
            <a:endCxn id="1128" idx="1"/>
          </p:cNvCxnSpPr>
          <p:nvPr/>
        </p:nvCxnSpPr>
        <p:spPr>
          <a:xfrm flipH="1" rot="-5400000">
            <a:off x="2057025" y="1718050"/>
            <a:ext cx="2255400" cy="1551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" name="Google Shape;1142;p65"/>
          <p:cNvCxnSpPr>
            <a:stCxn id="1132" idx="2"/>
            <a:endCxn id="1127" idx="1"/>
          </p:cNvCxnSpPr>
          <p:nvPr/>
        </p:nvCxnSpPr>
        <p:spPr>
          <a:xfrm flipH="1" rot="-5400000">
            <a:off x="2416263" y="1358877"/>
            <a:ext cx="1489800" cy="150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3" name="Google Shape;1143;p65"/>
          <p:cNvCxnSpPr>
            <a:stCxn id="1124" idx="3"/>
            <a:endCxn id="1134" idx="0"/>
          </p:cNvCxnSpPr>
          <p:nvPr/>
        </p:nvCxnSpPr>
        <p:spPr>
          <a:xfrm flipH="1" rot="10800000">
            <a:off x="4979975" y="804400"/>
            <a:ext cx="1280400" cy="198000"/>
          </a:xfrm>
          <a:prstGeom prst="bentConnector4">
            <a:avLst>
              <a:gd fmla="val 41994" name="adj1"/>
              <a:gd fmla="val 22032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4" name="Google Shape;1144;p6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6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M-170-050-Calculate Adherence to Schedule</a:t>
            </a:r>
            <a:endParaRPr sz="1520"/>
          </a:p>
        </p:txBody>
      </p:sp>
      <p:sp>
        <p:nvSpPr>
          <p:cNvPr id="1150" name="Google Shape;1150;p66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151" name="Google Shape;1151;p66"/>
          <p:cNvSpPr/>
          <p:nvPr/>
        </p:nvSpPr>
        <p:spPr>
          <a:xfrm>
            <a:off x="2389200" y="2645200"/>
            <a:ext cx="3958800" cy="1045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deleted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6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M-170-060-Gather Production Operation Information</a:t>
            </a:r>
            <a:endParaRPr sz="1520"/>
          </a:p>
        </p:txBody>
      </p:sp>
      <p:sp>
        <p:nvSpPr>
          <p:cNvPr id="1157" name="Google Shape;1157;p67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158" name="Google Shape;1158;p67"/>
          <p:cNvSpPr/>
          <p:nvPr/>
        </p:nvSpPr>
        <p:spPr>
          <a:xfrm>
            <a:off x="1104950" y="20031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gather production operation information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159" name="Google Shape;1159;p67"/>
          <p:cNvSpPr/>
          <p:nvPr/>
        </p:nvSpPr>
        <p:spPr>
          <a:xfrm>
            <a:off x="6638100" y="20031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Production operation </a:t>
            </a:r>
            <a:r>
              <a:rPr lang="en" sz="600">
                <a:solidFill>
                  <a:schemeClr val="dk1"/>
                </a:solidFill>
              </a:rPr>
              <a:t>information</a:t>
            </a:r>
            <a:r>
              <a:rPr lang="en" sz="600">
                <a:solidFill>
                  <a:schemeClr val="dk1"/>
                </a:solidFill>
              </a:rPr>
              <a:t> gathered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160" name="Google Shape;1160;p67"/>
          <p:cNvSpPr/>
          <p:nvPr/>
        </p:nvSpPr>
        <p:spPr>
          <a:xfrm>
            <a:off x="3793350" y="2801400"/>
            <a:ext cx="127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COOISPI, manage process orders</a:t>
            </a:r>
            <a:endParaRPr sz="1000"/>
          </a:p>
        </p:txBody>
      </p:sp>
      <p:cxnSp>
        <p:nvCxnSpPr>
          <p:cNvPr id="1161" name="Google Shape;1161;p67"/>
          <p:cNvCxnSpPr>
            <a:stCxn id="1158" idx="6"/>
            <a:endCxn id="1159" idx="2"/>
          </p:cNvCxnSpPr>
          <p:nvPr/>
        </p:nvCxnSpPr>
        <p:spPr>
          <a:xfrm>
            <a:off x="1982450" y="2402250"/>
            <a:ext cx="465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2" name="Google Shape;1162;p67"/>
          <p:cNvSpPr/>
          <p:nvPr/>
        </p:nvSpPr>
        <p:spPr>
          <a:xfrm>
            <a:off x="3896550" y="2120100"/>
            <a:ext cx="1066500" cy="56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production operations/phases </a:t>
            </a:r>
            <a:endParaRPr sz="900"/>
          </a:p>
        </p:txBody>
      </p:sp>
      <p:sp>
        <p:nvSpPr>
          <p:cNvPr id="1163" name="Google Shape;1163;p6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6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7.3 Develop and maintain the Quality Management System (QMS)</a:t>
            </a:r>
            <a:endParaRPr/>
          </a:p>
        </p:txBody>
      </p:sp>
      <p:sp>
        <p:nvSpPr>
          <p:cNvPr id="1169" name="Google Shape;1169;p6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7.3.8 Quality management System review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6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QM Notification: Create QM Notification to Supplier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175" name="Google Shape;1175;p69"/>
          <p:cNvSpPr/>
          <p:nvPr/>
        </p:nvSpPr>
        <p:spPr>
          <a:xfrm>
            <a:off x="316875" y="21726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create notification for supplier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176" name="Google Shape;1176;p69"/>
          <p:cNvSpPr/>
          <p:nvPr/>
        </p:nvSpPr>
        <p:spPr>
          <a:xfrm>
            <a:off x="8266500" y="22018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notification for supplier created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177" name="Google Shape;1177;p69"/>
          <p:cNvCxnSpPr>
            <a:stCxn id="1175" idx="6"/>
            <a:endCxn id="1178" idx="1"/>
          </p:cNvCxnSpPr>
          <p:nvPr/>
        </p:nvCxnSpPr>
        <p:spPr>
          <a:xfrm>
            <a:off x="1194375" y="2571750"/>
            <a:ext cx="27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9" name="Google Shape;1179;p69"/>
          <p:cNvCxnSpPr>
            <a:stCxn id="1178" idx="3"/>
            <a:endCxn id="1176" idx="2"/>
          </p:cNvCxnSpPr>
          <p:nvPr/>
        </p:nvCxnSpPr>
        <p:spPr>
          <a:xfrm>
            <a:off x="2536337" y="2571675"/>
            <a:ext cx="573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8" name="Google Shape;1178;p69"/>
          <p:cNvSpPr/>
          <p:nvPr/>
        </p:nvSpPr>
        <p:spPr>
          <a:xfrm>
            <a:off x="1469837" y="22377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the notification type</a:t>
            </a:r>
            <a:endParaRPr sz="900"/>
          </a:p>
        </p:txBody>
      </p:sp>
      <p:cxnSp>
        <p:nvCxnSpPr>
          <p:cNvPr id="1180" name="Google Shape;1180;p69"/>
          <p:cNvCxnSpPr>
            <a:endCxn id="1178" idx="1"/>
          </p:cNvCxnSpPr>
          <p:nvPr/>
        </p:nvCxnSpPr>
        <p:spPr>
          <a:xfrm>
            <a:off x="1026737" y="2571675"/>
            <a:ext cx="4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1" name="Google Shape;1181;p69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182" name="Google Shape;1182;p69"/>
          <p:cNvSpPr/>
          <p:nvPr/>
        </p:nvSpPr>
        <p:spPr>
          <a:xfrm>
            <a:off x="2701250" y="2313675"/>
            <a:ext cx="443100" cy="516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69"/>
          <p:cNvSpPr/>
          <p:nvPr/>
        </p:nvSpPr>
        <p:spPr>
          <a:xfrm>
            <a:off x="2782132" y="2417239"/>
            <a:ext cx="281100" cy="308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69"/>
          <p:cNvSpPr/>
          <p:nvPr/>
        </p:nvSpPr>
        <p:spPr>
          <a:xfrm>
            <a:off x="3551000" y="2313750"/>
            <a:ext cx="443100" cy="516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69"/>
          <p:cNvSpPr/>
          <p:nvPr/>
        </p:nvSpPr>
        <p:spPr>
          <a:xfrm>
            <a:off x="3632007" y="2417314"/>
            <a:ext cx="281100" cy="308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69"/>
          <p:cNvSpPr/>
          <p:nvPr/>
        </p:nvSpPr>
        <p:spPr>
          <a:xfrm>
            <a:off x="3027600" y="1498550"/>
            <a:ext cx="697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Assign Order/Delivery and Item reference</a:t>
            </a:r>
            <a:endParaRPr sz="700"/>
          </a:p>
        </p:txBody>
      </p:sp>
      <p:cxnSp>
        <p:nvCxnSpPr>
          <p:cNvPr id="1187" name="Google Shape;1187;p69"/>
          <p:cNvCxnSpPr>
            <a:stCxn id="1182" idx="0"/>
            <a:endCxn id="1186" idx="1"/>
          </p:cNvCxnSpPr>
          <p:nvPr/>
        </p:nvCxnSpPr>
        <p:spPr>
          <a:xfrm rot="-5400000">
            <a:off x="2734550" y="2020725"/>
            <a:ext cx="481200" cy="10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8" name="Google Shape;1188;p69"/>
          <p:cNvCxnSpPr>
            <a:stCxn id="1186" idx="3"/>
            <a:endCxn id="1184" idx="0"/>
          </p:cNvCxnSpPr>
          <p:nvPr/>
        </p:nvCxnSpPr>
        <p:spPr>
          <a:xfrm>
            <a:off x="3724800" y="1832450"/>
            <a:ext cx="47700" cy="48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9" name="Google Shape;1189;p69"/>
          <p:cNvSpPr txBox="1"/>
          <p:nvPr/>
        </p:nvSpPr>
        <p:spPr>
          <a:xfrm>
            <a:off x="2355600" y="1265725"/>
            <a:ext cx="204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Reference present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190" name="Google Shape;1190;p69"/>
          <p:cNvSpPr txBox="1"/>
          <p:nvPr/>
        </p:nvSpPr>
        <p:spPr>
          <a:xfrm>
            <a:off x="2922800" y="2662200"/>
            <a:ext cx="1066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Reference not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present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191" name="Google Shape;1191;p69"/>
          <p:cNvSpPr/>
          <p:nvPr/>
        </p:nvSpPr>
        <p:spPr>
          <a:xfrm>
            <a:off x="5380187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QM Notification</a:t>
            </a:r>
            <a:endParaRPr sz="900"/>
          </a:p>
        </p:txBody>
      </p:sp>
      <p:sp>
        <p:nvSpPr>
          <p:cNvPr id="1192" name="Google Shape;1192;p69"/>
          <p:cNvSpPr/>
          <p:nvPr/>
        </p:nvSpPr>
        <p:spPr>
          <a:xfrm>
            <a:off x="1422125" y="2941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quality notification</a:t>
            </a:r>
            <a:endParaRPr sz="1000"/>
          </a:p>
        </p:txBody>
      </p:sp>
      <p:sp>
        <p:nvSpPr>
          <p:cNvPr id="1193" name="Google Shape;1193;p69"/>
          <p:cNvSpPr/>
          <p:nvPr/>
        </p:nvSpPr>
        <p:spPr>
          <a:xfrm>
            <a:off x="3513525" y="13369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quality notification</a:t>
            </a:r>
            <a:endParaRPr sz="1000"/>
          </a:p>
        </p:txBody>
      </p:sp>
      <p:sp>
        <p:nvSpPr>
          <p:cNvPr id="1194" name="Google Shape;1194;p69"/>
          <p:cNvSpPr/>
          <p:nvPr/>
        </p:nvSpPr>
        <p:spPr>
          <a:xfrm>
            <a:off x="5380175" y="27854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quality notification</a:t>
            </a:r>
            <a:endParaRPr sz="1000"/>
          </a:p>
        </p:txBody>
      </p:sp>
      <p:sp>
        <p:nvSpPr>
          <p:cNvPr id="1195" name="Google Shape;1195;p69"/>
          <p:cNvSpPr/>
          <p:nvPr/>
        </p:nvSpPr>
        <p:spPr>
          <a:xfrm>
            <a:off x="6786962" y="2201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</a:t>
            </a:r>
            <a:r>
              <a:rPr lang="en" sz="900"/>
              <a:t>QM Notification: Evaluate defects and QM notifications</a:t>
            </a:r>
            <a:endParaRPr sz="900"/>
          </a:p>
        </p:txBody>
      </p:sp>
      <p:sp>
        <p:nvSpPr>
          <p:cNvPr id="1196" name="Google Shape;1196;p6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7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QM Notification: Evaluate defects and QM notifications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202" name="Google Shape;1202;p70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203" name="Google Shape;1203;p70"/>
          <p:cNvSpPr/>
          <p:nvPr/>
        </p:nvSpPr>
        <p:spPr>
          <a:xfrm>
            <a:off x="316875" y="2172600"/>
            <a:ext cx="7137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</a:t>
            </a:r>
            <a:r>
              <a:rPr lang="en" sz="600">
                <a:solidFill>
                  <a:schemeClr val="dk1"/>
                </a:solidFill>
              </a:rPr>
              <a:t>Need to evaluate defect and QM notifications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204" name="Google Shape;1204;p70"/>
          <p:cNvSpPr/>
          <p:nvPr/>
        </p:nvSpPr>
        <p:spPr>
          <a:xfrm>
            <a:off x="6515350" y="22020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</a:t>
            </a:r>
            <a:r>
              <a:rPr lang="en" sz="600">
                <a:solidFill>
                  <a:schemeClr val="dk1"/>
                </a:solidFill>
              </a:rPr>
              <a:t>Defect evaluated and QM Notifications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205" name="Google Shape;1205;p70"/>
          <p:cNvCxnSpPr>
            <a:stCxn id="1203" idx="6"/>
            <a:endCxn id="1206" idx="1"/>
          </p:cNvCxnSpPr>
          <p:nvPr/>
        </p:nvCxnSpPr>
        <p:spPr>
          <a:xfrm>
            <a:off x="1030575" y="2571750"/>
            <a:ext cx="9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7" name="Google Shape;1207;p70"/>
          <p:cNvCxnSpPr>
            <a:stCxn id="1206" idx="3"/>
            <a:endCxn id="1204" idx="2"/>
          </p:cNvCxnSpPr>
          <p:nvPr/>
        </p:nvCxnSpPr>
        <p:spPr>
          <a:xfrm>
            <a:off x="2716378" y="2571675"/>
            <a:ext cx="379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6" name="Google Shape;1206;p70"/>
          <p:cNvSpPr/>
          <p:nvPr/>
        </p:nvSpPr>
        <p:spPr>
          <a:xfrm>
            <a:off x="1933078" y="2237775"/>
            <a:ext cx="783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Determine code Group</a:t>
            </a:r>
            <a:endParaRPr sz="900"/>
          </a:p>
        </p:txBody>
      </p:sp>
      <p:cxnSp>
        <p:nvCxnSpPr>
          <p:cNvPr id="1208" name="Google Shape;1208;p70"/>
          <p:cNvCxnSpPr>
            <a:endCxn id="1206" idx="1"/>
          </p:cNvCxnSpPr>
          <p:nvPr/>
        </p:nvCxnSpPr>
        <p:spPr>
          <a:xfrm>
            <a:off x="1489978" y="2571675"/>
            <a:ext cx="4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9" name="Google Shape;1209;p70"/>
          <p:cNvSpPr/>
          <p:nvPr/>
        </p:nvSpPr>
        <p:spPr>
          <a:xfrm>
            <a:off x="5183862" y="22377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C-110-020 </a:t>
            </a:r>
            <a:r>
              <a:rPr lang="en" sz="900"/>
              <a:t>QM Notification: Assign Immediate Tasks &amp; define Owner</a:t>
            </a:r>
            <a:endParaRPr sz="900"/>
          </a:p>
        </p:txBody>
      </p:sp>
      <p:sp>
        <p:nvSpPr>
          <p:cNvPr id="1210" name="Google Shape;1210;p70"/>
          <p:cNvSpPr/>
          <p:nvPr/>
        </p:nvSpPr>
        <p:spPr>
          <a:xfrm>
            <a:off x="2793574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Select Defect Code</a:t>
            </a:r>
            <a:endParaRPr sz="900"/>
          </a:p>
        </p:txBody>
      </p:sp>
      <p:sp>
        <p:nvSpPr>
          <p:cNvPr id="1211" name="Google Shape;1211;p70"/>
          <p:cNvSpPr/>
          <p:nvPr/>
        </p:nvSpPr>
        <p:spPr>
          <a:xfrm>
            <a:off x="4011962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Defect Quantity and text</a:t>
            </a:r>
            <a:endParaRPr sz="900"/>
          </a:p>
        </p:txBody>
      </p:sp>
      <p:sp>
        <p:nvSpPr>
          <p:cNvPr id="1212" name="Google Shape;1212;p70"/>
          <p:cNvSpPr/>
          <p:nvPr/>
        </p:nvSpPr>
        <p:spPr>
          <a:xfrm>
            <a:off x="1072578" y="2237775"/>
            <a:ext cx="783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item</a:t>
            </a:r>
            <a:endParaRPr sz="900"/>
          </a:p>
        </p:txBody>
      </p:sp>
      <p:sp>
        <p:nvSpPr>
          <p:cNvPr id="1213" name="Google Shape;1213;p70"/>
          <p:cNvSpPr/>
          <p:nvPr/>
        </p:nvSpPr>
        <p:spPr>
          <a:xfrm>
            <a:off x="1072575" y="2868475"/>
            <a:ext cx="4048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quality notification</a:t>
            </a:r>
            <a:endParaRPr sz="1000"/>
          </a:p>
        </p:txBody>
      </p:sp>
      <p:sp>
        <p:nvSpPr>
          <p:cNvPr id="1214" name="Google Shape;1214;p7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71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QM Notification: Assign Immediate Tasks &amp; define Owner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220" name="Google Shape;1220;p71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221" name="Google Shape;1221;p71"/>
          <p:cNvSpPr/>
          <p:nvPr/>
        </p:nvSpPr>
        <p:spPr>
          <a:xfrm>
            <a:off x="316875" y="2205225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</a:t>
            </a:r>
            <a:r>
              <a:rPr lang="en" sz="600">
                <a:solidFill>
                  <a:schemeClr val="dk1"/>
                </a:solidFill>
              </a:rPr>
              <a:t>Review  and manage tasks for Quality notification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222" name="Google Shape;1222;p71"/>
          <p:cNvSpPr/>
          <p:nvPr/>
        </p:nvSpPr>
        <p:spPr>
          <a:xfrm>
            <a:off x="8189975" y="22020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</a:t>
            </a:r>
            <a:r>
              <a:rPr lang="en" sz="600">
                <a:solidFill>
                  <a:schemeClr val="dk1"/>
                </a:solidFill>
              </a:rPr>
              <a:t>tasks for Quality notification Reviewed  and managed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223" name="Google Shape;1223;p71"/>
          <p:cNvCxnSpPr>
            <a:stCxn id="1221" idx="6"/>
            <a:endCxn id="1224" idx="1"/>
          </p:cNvCxnSpPr>
          <p:nvPr/>
        </p:nvCxnSpPr>
        <p:spPr>
          <a:xfrm>
            <a:off x="1194375" y="2604375"/>
            <a:ext cx="27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5" name="Google Shape;1225;p71"/>
          <p:cNvCxnSpPr>
            <a:stCxn id="1224" idx="3"/>
            <a:endCxn id="1222" idx="2"/>
          </p:cNvCxnSpPr>
          <p:nvPr/>
        </p:nvCxnSpPr>
        <p:spPr>
          <a:xfrm flipH="1" rot="10800000">
            <a:off x="2253075" y="2571675"/>
            <a:ext cx="5937000" cy="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4" name="Google Shape;1224;p71"/>
          <p:cNvSpPr/>
          <p:nvPr/>
        </p:nvSpPr>
        <p:spPr>
          <a:xfrm>
            <a:off x="1469775" y="2205225"/>
            <a:ext cx="7833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customer complaint task to notification</a:t>
            </a:r>
            <a:endParaRPr sz="900"/>
          </a:p>
        </p:txBody>
      </p:sp>
      <p:cxnSp>
        <p:nvCxnSpPr>
          <p:cNvPr id="1226" name="Google Shape;1226;p71"/>
          <p:cNvCxnSpPr>
            <a:stCxn id="1221" idx="6"/>
            <a:endCxn id="1224" idx="1"/>
          </p:cNvCxnSpPr>
          <p:nvPr/>
        </p:nvCxnSpPr>
        <p:spPr>
          <a:xfrm>
            <a:off x="1194375" y="2604375"/>
            <a:ext cx="27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7" name="Google Shape;1227;p71"/>
          <p:cNvSpPr/>
          <p:nvPr/>
        </p:nvSpPr>
        <p:spPr>
          <a:xfrm>
            <a:off x="2442587" y="22377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enter task text</a:t>
            </a:r>
            <a:endParaRPr sz="900"/>
          </a:p>
        </p:txBody>
      </p:sp>
      <p:sp>
        <p:nvSpPr>
          <p:cNvPr id="1228" name="Google Shape;1228;p71"/>
          <p:cNvSpPr/>
          <p:nvPr/>
        </p:nvSpPr>
        <p:spPr>
          <a:xfrm>
            <a:off x="3658037" y="223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user </a:t>
            </a:r>
            <a:r>
              <a:rPr lang="en" sz="900"/>
              <a:t>responsible</a:t>
            </a:r>
            <a:r>
              <a:rPr lang="en" sz="900"/>
              <a:t> for task</a:t>
            </a:r>
            <a:endParaRPr sz="900"/>
          </a:p>
        </p:txBody>
      </p:sp>
      <p:sp>
        <p:nvSpPr>
          <p:cNvPr id="1229" name="Google Shape;1229;p71"/>
          <p:cNvSpPr/>
          <p:nvPr/>
        </p:nvSpPr>
        <p:spPr>
          <a:xfrm>
            <a:off x="5790503" y="2237775"/>
            <a:ext cx="783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Notification</a:t>
            </a:r>
            <a:endParaRPr sz="900"/>
          </a:p>
        </p:txBody>
      </p:sp>
      <p:sp>
        <p:nvSpPr>
          <p:cNvPr id="1230" name="Google Shape;1230;p71"/>
          <p:cNvSpPr/>
          <p:nvPr/>
        </p:nvSpPr>
        <p:spPr>
          <a:xfrm>
            <a:off x="1442150" y="3055575"/>
            <a:ext cx="50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quality notification</a:t>
            </a:r>
            <a:endParaRPr sz="1000"/>
          </a:p>
        </p:txBody>
      </p:sp>
      <p:sp>
        <p:nvSpPr>
          <p:cNvPr id="1231" name="Google Shape;1231;p71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7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C-110-040 Save Notification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237" name="Google Shape;1237;p72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238" name="Google Shape;1238;p72"/>
          <p:cNvSpPr/>
          <p:nvPr/>
        </p:nvSpPr>
        <p:spPr>
          <a:xfrm>
            <a:off x="2385850" y="1493025"/>
            <a:ext cx="3527700" cy="102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Deleted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7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QM Notification: Manage Email/Workflow to the Responsible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244" name="Google Shape;1244;p73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245" name="Google Shape;1245;p73"/>
          <p:cNvSpPr/>
          <p:nvPr/>
        </p:nvSpPr>
        <p:spPr>
          <a:xfrm>
            <a:off x="2277375" y="21726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</a:t>
            </a:r>
            <a:r>
              <a:rPr lang="en" sz="600">
                <a:solidFill>
                  <a:schemeClr val="dk1"/>
                </a:solidFill>
              </a:rPr>
              <a:t>owner assigned to tasks in quality notification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246" name="Google Shape;1246;p73"/>
          <p:cNvSpPr/>
          <p:nvPr/>
        </p:nvSpPr>
        <p:spPr>
          <a:xfrm>
            <a:off x="5720875" y="22020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</a:t>
            </a:r>
            <a:r>
              <a:rPr lang="en" sz="600">
                <a:solidFill>
                  <a:schemeClr val="dk1"/>
                </a:solidFill>
              </a:rPr>
              <a:t>email notification received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247" name="Google Shape;1247;p73"/>
          <p:cNvCxnSpPr>
            <a:stCxn id="1248" idx="3"/>
            <a:endCxn id="1246" idx="2"/>
          </p:cNvCxnSpPr>
          <p:nvPr/>
        </p:nvCxnSpPr>
        <p:spPr>
          <a:xfrm>
            <a:off x="4213575" y="2571750"/>
            <a:ext cx="150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8" name="Google Shape;1248;p73"/>
          <p:cNvSpPr/>
          <p:nvPr/>
        </p:nvSpPr>
        <p:spPr>
          <a:xfrm>
            <a:off x="3430275" y="2172600"/>
            <a:ext cx="7833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/>
              <a:t>receive email notification automatically</a:t>
            </a:r>
            <a:endParaRPr sz="900"/>
          </a:p>
        </p:txBody>
      </p:sp>
      <p:cxnSp>
        <p:nvCxnSpPr>
          <p:cNvPr id="1249" name="Google Shape;1249;p73"/>
          <p:cNvCxnSpPr>
            <a:stCxn id="1245" idx="6"/>
            <a:endCxn id="1248" idx="1"/>
          </p:cNvCxnSpPr>
          <p:nvPr/>
        </p:nvCxnSpPr>
        <p:spPr>
          <a:xfrm>
            <a:off x="3154875" y="2571750"/>
            <a:ext cx="27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0" name="Google Shape;1250;p7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7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QM Notification: Complete and document Tasks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256" name="Google Shape;1256;p74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257" name="Google Shape;1257;p74"/>
          <p:cNvSpPr/>
          <p:nvPr/>
        </p:nvSpPr>
        <p:spPr>
          <a:xfrm>
            <a:off x="93025" y="2172600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complete the task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258" name="Google Shape;1258;p74"/>
          <p:cNvSpPr/>
          <p:nvPr/>
        </p:nvSpPr>
        <p:spPr>
          <a:xfrm>
            <a:off x="7143925" y="221827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task completed and documented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259" name="Google Shape;1259;p74"/>
          <p:cNvCxnSpPr>
            <a:stCxn id="1257" idx="6"/>
            <a:endCxn id="1260" idx="1"/>
          </p:cNvCxnSpPr>
          <p:nvPr/>
        </p:nvCxnSpPr>
        <p:spPr>
          <a:xfrm>
            <a:off x="970525" y="2571750"/>
            <a:ext cx="1892100" cy="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74"/>
          <p:cNvCxnSpPr>
            <a:stCxn id="1260" idx="3"/>
            <a:endCxn id="1258" idx="2"/>
          </p:cNvCxnSpPr>
          <p:nvPr/>
        </p:nvCxnSpPr>
        <p:spPr>
          <a:xfrm flipH="1" rot="10800000">
            <a:off x="4124200" y="2588175"/>
            <a:ext cx="30198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0" name="Google Shape;1260;p74"/>
          <p:cNvSpPr/>
          <p:nvPr/>
        </p:nvSpPr>
        <p:spPr>
          <a:xfrm>
            <a:off x="2862700" y="2205225"/>
            <a:ext cx="12615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Perform Necessary Steps</a:t>
            </a:r>
            <a:endParaRPr sz="900"/>
          </a:p>
        </p:txBody>
      </p:sp>
      <p:sp>
        <p:nvSpPr>
          <p:cNvPr id="1262" name="Google Shape;1262;p74"/>
          <p:cNvSpPr/>
          <p:nvPr/>
        </p:nvSpPr>
        <p:spPr>
          <a:xfrm>
            <a:off x="4390612" y="22541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Document Task</a:t>
            </a:r>
            <a:endParaRPr sz="900"/>
          </a:p>
        </p:txBody>
      </p:sp>
      <p:sp>
        <p:nvSpPr>
          <p:cNvPr id="1263" name="Google Shape;1263;p74"/>
          <p:cNvSpPr/>
          <p:nvPr/>
        </p:nvSpPr>
        <p:spPr>
          <a:xfrm>
            <a:off x="5767274" y="22623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Notification</a:t>
            </a:r>
            <a:endParaRPr sz="900"/>
          </a:p>
        </p:txBody>
      </p:sp>
      <p:sp>
        <p:nvSpPr>
          <p:cNvPr id="1264" name="Google Shape;1264;p74"/>
          <p:cNvSpPr/>
          <p:nvPr/>
        </p:nvSpPr>
        <p:spPr>
          <a:xfrm>
            <a:off x="1260250" y="2205225"/>
            <a:ext cx="7833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Release the task</a:t>
            </a:r>
            <a:endParaRPr sz="900"/>
          </a:p>
        </p:txBody>
      </p:sp>
      <p:sp>
        <p:nvSpPr>
          <p:cNvPr id="1265" name="Google Shape;1265;p74"/>
          <p:cNvSpPr/>
          <p:nvPr/>
        </p:nvSpPr>
        <p:spPr>
          <a:xfrm>
            <a:off x="1150650" y="2921925"/>
            <a:ext cx="1139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quality notification</a:t>
            </a:r>
            <a:endParaRPr sz="1000"/>
          </a:p>
        </p:txBody>
      </p:sp>
      <p:sp>
        <p:nvSpPr>
          <p:cNvPr id="1266" name="Google Shape;1266;p74"/>
          <p:cNvSpPr/>
          <p:nvPr/>
        </p:nvSpPr>
        <p:spPr>
          <a:xfrm>
            <a:off x="5760270" y="2892150"/>
            <a:ext cx="1139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quality notification</a:t>
            </a:r>
            <a:endParaRPr sz="1000"/>
          </a:p>
        </p:txBody>
      </p:sp>
      <p:sp>
        <p:nvSpPr>
          <p:cNvPr id="1267" name="Google Shape;1267;p74"/>
          <p:cNvSpPr/>
          <p:nvPr/>
        </p:nvSpPr>
        <p:spPr>
          <a:xfrm>
            <a:off x="4317720" y="2831150"/>
            <a:ext cx="1139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quality notification</a:t>
            </a:r>
            <a:endParaRPr sz="1000"/>
          </a:p>
        </p:txBody>
      </p:sp>
      <p:sp>
        <p:nvSpPr>
          <p:cNvPr id="1268" name="Google Shape;1268;p7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7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QM Notificaton: Review tasks Completion, Assign the Causes and Close the NC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274" name="Google Shape;1274;p75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275" name="Google Shape;1275;p75"/>
          <p:cNvSpPr/>
          <p:nvPr/>
        </p:nvSpPr>
        <p:spPr>
          <a:xfrm>
            <a:off x="231850" y="2205225"/>
            <a:ext cx="877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Review task and assign Causes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276" name="Google Shape;1276;p75"/>
          <p:cNvSpPr/>
          <p:nvPr/>
        </p:nvSpPr>
        <p:spPr>
          <a:xfrm>
            <a:off x="8181475" y="22020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outcome recorded and </a:t>
            </a:r>
            <a:r>
              <a:rPr lang="en" sz="600">
                <a:solidFill>
                  <a:schemeClr val="dk1"/>
                </a:solidFill>
              </a:rPr>
              <a:t>notification</a:t>
            </a:r>
            <a:r>
              <a:rPr lang="en" sz="600">
                <a:solidFill>
                  <a:schemeClr val="dk1"/>
                </a:solidFill>
              </a:rPr>
              <a:t> closed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277" name="Google Shape;1277;p75"/>
          <p:cNvCxnSpPr>
            <a:stCxn id="1275" idx="6"/>
            <a:endCxn id="1278" idx="1"/>
          </p:cNvCxnSpPr>
          <p:nvPr/>
        </p:nvCxnSpPr>
        <p:spPr>
          <a:xfrm>
            <a:off x="1109350" y="2604375"/>
            <a:ext cx="30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9" name="Google Shape;1279;p75"/>
          <p:cNvCxnSpPr>
            <a:stCxn id="1278" idx="3"/>
            <a:endCxn id="1276" idx="2"/>
          </p:cNvCxnSpPr>
          <p:nvPr/>
        </p:nvCxnSpPr>
        <p:spPr>
          <a:xfrm flipH="1" rot="10800000">
            <a:off x="2193525" y="2571675"/>
            <a:ext cx="5988000" cy="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8" name="Google Shape;1278;p75"/>
          <p:cNvSpPr/>
          <p:nvPr/>
        </p:nvSpPr>
        <p:spPr>
          <a:xfrm>
            <a:off x="1410225" y="2205225"/>
            <a:ext cx="783300" cy="7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Review </a:t>
            </a:r>
            <a:r>
              <a:rPr lang="en" sz="900"/>
              <a:t>Quality</a:t>
            </a:r>
            <a:r>
              <a:rPr lang="en" sz="900"/>
              <a:t> Task</a:t>
            </a:r>
            <a:endParaRPr sz="900"/>
          </a:p>
        </p:txBody>
      </p:sp>
      <p:cxnSp>
        <p:nvCxnSpPr>
          <p:cNvPr id="1280" name="Google Shape;1280;p75"/>
          <p:cNvCxnSpPr>
            <a:stCxn id="1275" idx="6"/>
            <a:endCxn id="1278" idx="1"/>
          </p:cNvCxnSpPr>
          <p:nvPr/>
        </p:nvCxnSpPr>
        <p:spPr>
          <a:xfrm>
            <a:off x="1109350" y="2604375"/>
            <a:ext cx="30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1" name="Google Shape;1281;p75"/>
          <p:cNvSpPr/>
          <p:nvPr/>
        </p:nvSpPr>
        <p:spPr>
          <a:xfrm>
            <a:off x="2358328" y="2270475"/>
            <a:ext cx="783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Enter Cause Code</a:t>
            </a:r>
            <a:endParaRPr sz="900"/>
          </a:p>
        </p:txBody>
      </p:sp>
      <p:sp>
        <p:nvSpPr>
          <p:cNvPr id="1282" name="Google Shape;1282;p75"/>
          <p:cNvSpPr/>
          <p:nvPr/>
        </p:nvSpPr>
        <p:spPr>
          <a:xfrm>
            <a:off x="3306425" y="2270475"/>
            <a:ext cx="783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Enter Cause Text</a:t>
            </a:r>
            <a:endParaRPr sz="900"/>
          </a:p>
        </p:txBody>
      </p:sp>
      <p:sp>
        <p:nvSpPr>
          <p:cNvPr id="1283" name="Google Shape;1283;p75"/>
          <p:cNvSpPr/>
          <p:nvPr/>
        </p:nvSpPr>
        <p:spPr>
          <a:xfrm>
            <a:off x="4211463" y="22623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75"/>
          <p:cNvSpPr/>
          <p:nvPr/>
        </p:nvSpPr>
        <p:spPr>
          <a:xfrm>
            <a:off x="4317964" y="23882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75"/>
          <p:cNvSpPr/>
          <p:nvPr/>
        </p:nvSpPr>
        <p:spPr>
          <a:xfrm>
            <a:off x="5312775" y="2272800"/>
            <a:ext cx="1720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outcome and close notification</a:t>
            </a:r>
            <a:endParaRPr sz="900"/>
          </a:p>
        </p:txBody>
      </p:sp>
      <p:sp>
        <p:nvSpPr>
          <p:cNvPr id="1286" name="Google Shape;1286;p75"/>
          <p:cNvSpPr/>
          <p:nvPr/>
        </p:nvSpPr>
        <p:spPr>
          <a:xfrm>
            <a:off x="5312775" y="1217550"/>
            <a:ext cx="18309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QM Notification: Complete and document Tasks</a:t>
            </a:r>
            <a:endParaRPr sz="900"/>
          </a:p>
        </p:txBody>
      </p:sp>
      <p:sp>
        <p:nvSpPr>
          <p:cNvPr id="1287" name="Google Shape;1287;p75"/>
          <p:cNvSpPr txBox="1"/>
          <p:nvPr/>
        </p:nvSpPr>
        <p:spPr>
          <a:xfrm>
            <a:off x="4626450" y="3003525"/>
            <a:ext cx="12756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Investigation completed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88" name="Google Shape;1288;p75"/>
          <p:cNvSpPr txBox="1"/>
          <p:nvPr/>
        </p:nvSpPr>
        <p:spPr>
          <a:xfrm>
            <a:off x="4089725" y="1139150"/>
            <a:ext cx="12756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Investigation not completed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289" name="Google Shape;1289;p75"/>
          <p:cNvCxnSpPr>
            <a:stCxn id="1283" idx="0"/>
            <a:endCxn id="1286" idx="1"/>
          </p:cNvCxnSpPr>
          <p:nvPr/>
        </p:nvCxnSpPr>
        <p:spPr>
          <a:xfrm rot="-5400000">
            <a:off x="4552263" y="1501881"/>
            <a:ext cx="711000" cy="810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0" name="Google Shape;1290;p7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7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C-110-080 Trigger Workflow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296" name="Google Shape;1296;p76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297" name="Google Shape;1297;p76"/>
          <p:cNvSpPr/>
          <p:nvPr/>
        </p:nvSpPr>
        <p:spPr>
          <a:xfrm>
            <a:off x="2346175" y="1770150"/>
            <a:ext cx="3527700" cy="102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Deleted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7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M-140-090-Determine/record cause of deviation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303" name="Google Shape;1303;p77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78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M-140-150-Determine Best Alternative for Use of Off-spec Material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309" name="Google Shape;1309;p78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310" name="Google Shape;1310;p78"/>
          <p:cNvSpPr/>
          <p:nvPr/>
        </p:nvSpPr>
        <p:spPr>
          <a:xfrm>
            <a:off x="2958775" y="2266225"/>
            <a:ext cx="3527700" cy="102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Deleted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7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M-140-160: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Notify Supplier/Source of Deviation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316" name="Google Shape;1316;p79"/>
          <p:cNvSpPr/>
          <p:nvPr/>
        </p:nvSpPr>
        <p:spPr>
          <a:xfrm>
            <a:off x="242075" y="24911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notify Supplier/Source of Deviation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317" name="Google Shape;1317;p79"/>
          <p:cNvSpPr/>
          <p:nvPr/>
        </p:nvSpPr>
        <p:spPr>
          <a:xfrm>
            <a:off x="5074925" y="25205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Supplier/source of deviation notified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318" name="Google Shape;1318;p79"/>
          <p:cNvCxnSpPr>
            <a:stCxn id="1316" idx="6"/>
            <a:endCxn id="1319" idx="1"/>
          </p:cNvCxnSpPr>
          <p:nvPr/>
        </p:nvCxnSpPr>
        <p:spPr>
          <a:xfrm>
            <a:off x="1058075" y="2890275"/>
            <a:ext cx="31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0" name="Google Shape;1320;p79"/>
          <p:cNvSpPr/>
          <p:nvPr/>
        </p:nvSpPr>
        <p:spPr>
          <a:xfrm>
            <a:off x="2334974" y="30555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Task:send task of deviation to supplier</a:t>
            </a:r>
            <a:endParaRPr sz="900"/>
          </a:p>
        </p:txBody>
      </p:sp>
      <p:cxnSp>
        <p:nvCxnSpPr>
          <p:cNvPr id="1321" name="Google Shape;1321;p79"/>
          <p:cNvCxnSpPr>
            <a:stCxn id="1322" idx="3"/>
            <a:endCxn id="1317" idx="2"/>
          </p:cNvCxnSpPr>
          <p:nvPr/>
        </p:nvCxnSpPr>
        <p:spPr>
          <a:xfrm>
            <a:off x="4572001" y="2890268"/>
            <a:ext cx="50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3" name="Google Shape;1323;p79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324" name="Google Shape;1324;p79"/>
          <p:cNvSpPr/>
          <p:nvPr/>
        </p:nvSpPr>
        <p:spPr>
          <a:xfrm>
            <a:off x="2325075" y="37233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quality notification</a:t>
            </a:r>
            <a:endParaRPr sz="1000"/>
          </a:p>
        </p:txBody>
      </p:sp>
      <p:sp>
        <p:nvSpPr>
          <p:cNvPr id="1325" name="Google Shape;1325;p79"/>
          <p:cNvSpPr/>
          <p:nvPr/>
        </p:nvSpPr>
        <p:spPr>
          <a:xfrm>
            <a:off x="2372774" y="19664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email to supplier for deviation</a:t>
            </a:r>
            <a:endParaRPr sz="900"/>
          </a:p>
        </p:txBody>
      </p:sp>
      <p:sp>
        <p:nvSpPr>
          <p:cNvPr id="1319" name="Google Shape;1319;p79"/>
          <p:cNvSpPr/>
          <p:nvPr/>
        </p:nvSpPr>
        <p:spPr>
          <a:xfrm>
            <a:off x="1377576" y="255636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79"/>
          <p:cNvSpPr/>
          <p:nvPr/>
        </p:nvSpPr>
        <p:spPr>
          <a:xfrm>
            <a:off x="1483951" y="269042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79"/>
          <p:cNvSpPr/>
          <p:nvPr/>
        </p:nvSpPr>
        <p:spPr>
          <a:xfrm>
            <a:off x="3989401" y="255636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79"/>
          <p:cNvSpPr/>
          <p:nvPr/>
        </p:nvSpPr>
        <p:spPr>
          <a:xfrm>
            <a:off x="4095776" y="269042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8" name="Google Shape;1328;p79"/>
          <p:cNvCxnSpPr>
            <a:stCxn id="1319" idx="2"/>
            <a:endCxn id="1320" idx="1"/>
          </p:cNvCxnSpPr>
          <p:nvPr/>
        </p:nvCxnSpPr>
        <p:spPr>
          <a:xfrm flipH="1" rot="-5400000">
            <a:off x="1919226" y="2973818"/>
            <a:ext cx="165300" cy="66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9" name="Google Shape;1329;p79"/>
          <p:cNvCxnSpPr>
            <a:stCxn id="1319" idx="0"/>
            <a:endCxn id="1325" idx="1"/>
          </p:cNvCxnSpPr>
          <p:nvPr/>
        </p:nvCxnSpPr>
        <p:spPr>
          <a:xfrm rot="-5400000">
            <a:off x="1892826" y="2076518"/>
            <a:ext cx="255900" cy="703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0" name="Google Shape;1330;p79"/>
          <p:cNvCxnSpPr>
            <a:stCxn id="1325" idx="3"/>
            <a:endCxn id="1322" idx="0"/>
          </p:cNvCxnSpPr>
          <p:nvPr/>
        </p:nvCxnSpPr>
        <p:spPr>
          <a:xfrm>
            <a:off x="3439274" y="2300350"/>
            <a:ext cx="841500" cy="25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1" name="Google Shape;1331;p79"/>
          <p:cNvCxnSpPr>
            <a:stCxn id="1320" idx="3"/>
            <a:endCxn id="1322" idx="2"/>
          </p:cNvCxnSpPr>
          <p:nvPr/>
        </p:nvCxnSpPr>
        <p:spPr>
          <a:xfrm flipH="1" rot="10800000">
            <a:off x="3401474" y="3224175"/>
            <a:ext cx="879300" cy="165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2" name="Google Shape;1332;p79"/>
          <p:cNvSpPr txBox="1"/>
          <p:nvPr/>
        </p:nvSpPr>
        <p:spPr>
          <a:xfrm>
            <a:off x="1524875" y="1898450"/>
            <a:ext cx="991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email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33" name="Google Shape;1333;p79"/>
          <p:cNvSpPr txBox="1"/>
          <p:nvPr/>
        </p:nvSpPr>
        <p:spPr>
          <a:xfrm>
            <a:off x="1505975" y="3425100"/>
            <a:ext cx="991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Supplier has sap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34" name="Google Shape;1334;p7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8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M-140-170: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Notify different functions of Deviation/Non conformity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340" name="Google Shape;1340;p80"/>
          <p:cNvSpPr/>
          <p:nvPr/>
        </p:nvSpPr>
        <p:spPr>
          <a:xfrm>
            <a:off x="2659475" y="24911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notify Supply Chain of Deviation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341" name="Google Shape;1341;p80"/>
          <p:cNvSpPr/>
          <p:nvPr/>
        </p:nvSpPr>
        <p:spPr>
          <a:xfrm>
            <a:off x="5074925" y="25205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Supply chain of deviation notified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342" name="Google Shape;1342;p80"/>
          <p:cNvCxnSpPr>
            <a:stCxn id="1340" idx="6"/>
            <a:endCxn id="1343" idx="1"/>
          </p:cNvCxnSpPr>
          <p:nvPr/>
        </p:nvCxnSpPr>
        <p:spPr>
          <a:xfrm>
            <a:off x="3475475" y="2890275"/>
            <a:ext cx="2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3" name="Google Shape;1343;p80"/>
          <p:cNvSpPr/>
          <p:nvPr/>
        </p:nvSpPr>
        <p:spPr>
          <a:xfrm>
            <a:off x="3704949" y="25563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Notify supply chain of Deviation</a:t>
            </a:r>
            <a:endParaRPr sz="900"/>
          </a:p>
        </p:txBody>
      </p:sp>
      <p:cxnSp>
        <p:nvCxnSpPr>
          <p:cNvPr id="1344" name="Google Shape;1344;p80"/>
          <p:cNvCxnSpPr>
            <a:stCxn id="1343" idx="3"/>
            <a:endCxn id="1341" idx="2"/>
          </p:cNvCxnSpPr>
          <p:nvPr/>
        </p:nvCxnSpPr>
        <p:spPr>
          <a:xfrm>
            <a:off x="4771449" y="2890250"/>
            <a:ext cx="3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5" name="Google Shape;1345;p80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346" name="Google Shape;1346;p80"/>
          <p:cNvSpPr/>
          <p:nvPr/>
        </p:nvSpPr>
        <p:spPr>
          <a:xfrm>
            <a:off x="1213300" y="1686575"/>
            <a:ext cx="6143100" cy="1895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deleted because same as M-140-160: notify supplier/source of deviation 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81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M-140-200: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Return Material to Supplier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352" name="Google Shape;1352;p81"/>
          <p:cNvSpPr/>
          <p:nvPr/>
        </p:nvSpPr>
        <p:spPr>
          <a:xfrm>
            <a:off x="2659475" y="24911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return material to supplier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353" name="Google Shape;1353;p81"/>
          <p:cNvSpPr/>
          <p:nvPr/>
        </p:nvSpPr>
        <p:spPr>
          <a:xfrm>
            <a:off x="5074925" y="25205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material to supplier returned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354" name="Google Shape;1354;p81"/>
          <p:cNvCxnSpPr>
            <a:stCxn id="1352" idx="6"/>
            <a:endCxn id="1355" idx="1"/>
          </p:cNvCxnSpPr>
          <p:nvPr/>
        </p:nvCxnSpPr>
        <p:spPr>
          <a:xfrm>
            <a:off x="3475475" y="2890275"/>
            <a:ext cx="2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5" name="Google Shape;1355;p81"/>
          <p:cNvSpPr/>
          <p:nvPr/>
        </p:nvSpPr>
        <p:spPr>
          <a:xfrm>
            <a:off x="3704949" y="25563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return </a:t>
            </a:r>
            <a:r>
              <a:rPr lang="en" sz="900"/>
              <a:t>material</a:t>
            </a:r>
            <a:r>
              <a:rPr lang="en" sz="900"/>
              <a:t> (not rework) to supplier </a:t>
            </a:r>
            <a:endParaRPr sz="900"/>
          </a:p>
        </p:txBody>
      </p:sp>
      <p:cxnSp>
        <p:nvCxnSpPr>
          <p:cNvPr id="1356" name="Google Shape;1356;p81"/>
          <p:cNvCxnSpPr>
            <a:stCxn id="1355" idx="3"/>
            <a:endCxn id="1353" idx="2"/>
          </p:cNvCxnSpPr>
          <p:nvPr/>
        </p:nvCxnSpPr>
        <p:spPr>
          <a:xfrm>
            <a:off x="4771449" y="2890250"/>
            <a:ext cx="3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7" name="Google Shape;1357;p81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358" name="Google Shape;1358;p81"/>
          <p:cNvSpPr/>
          <p:nvPr/>
        </p:nvSpPr>
        <p:spPr>
          <a:xfrm>
            <a:off x="3657250" y="3357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1359" name="Google Shape;1359;p81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8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</a:t>
            </a:r>
            <a:r>
              <a:rPr lang="en" sz="1779"/>
              <a:t>-140-020: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Issue Return Notice (for Rework)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365" name="Google Shape;1365;p82"/>
          <p:cNvSpPr/>
          <p:nvPr/>
        </p:nvSpPr>
        <p:spPr>
          <a:xfrm>
            <a:off x="972813" y="24911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Issue Return Notice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366" name="Google Shape;1366;p82"/>
          <p:cNvSpPr/>
          <p:nvPr/>
        </p:nvSpPr>
        <p:spPr>
          <a:xfrm>
            <a:off x="7280088" y="25205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return notice issued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367" name="Google Shape;1367;p82"/>
          <p:cNvCxnSpPr>
            <a:stCxn id="1365" idx="6"/>
            <a:endCxn id="1368" idx="1"/>
          </p:cNvCxnSpPr>
          <p:nvPr/>
        </p:nvCxnSpPr>
        <p:spPr>
          <a:xfrm>
            <a:off x="1788813" y="2890275"/>
            <a:ext cx="3507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9" name="Google Shape;1369;p82"/>
          <p:cNvSpPr/>
          <p:nvPr/>
        </p:nvSpPr>
        <p:spPr>
          <a:xfrm>
            <a:off x="5754399" y="25563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Return Material to Supplier</a:t>
            </a:r>
            <a:endParaRPr sz="900"/>
          </a:p>
        </p:txBody>
      </p:sp>
      <p:cxnSp>
        <p:nvCxnSpPr>
          <p:cNvPr id="1370" name="Google Shape;1370;p82"/>
          <p:cNvCxnSpPr>
            <a:stCxn id="1371" idx="3"/>
            <a:endCxn id="1369" idx="1"/>
          </p:cNvCxnSpPr>
          <p:nvPr/>
        </p:nvCxnSpPr>
        <p:spPr>
          <a:xfrm>
            <a:off x="4572099" y="2890275"/>
            <a:ext cx="118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2" name="Google Shape;1372;p82"/>
          <p:cNvCxnSpPr>
            <a:stCxn id="1369" idx="3"/>
            <a:endCxn id="1366" idx="2"/>
          </p:cNvCxnSpPr>
          <p:nvPr/>
        </p:nvCxnSpPr>
        <p:spPr>
          <a:xfrm>
            <a:off x="6820899" y="2890275"/>
            <a:ext cx="45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3" name="Google Shape;1373;p82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374" name="Google Shape;1374;p82"/>
          <p:cNvSpPr/>
          <p:nvPr/>
        </p:nvSpPr>
        <p:spPr>
          <a:xfrm>
            <a:off x="3005701" y="3050388"/>
            <a:ext cx="964800" cy="6042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00" lIns="82700" spcFirstLastPara="1" rIns="82700" wrap="square" tIns="8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/>
              <a:t>Task:send task of deviation to supplier</a:t>
            </a:r>
            <a:endParaRPr sz="814"/>
          </a:p>
        </p:txBody>
      </p:sp>
      <p:cxnSp>
        <p:nvCxnSpPr>
          <p:cNvPr id="1375" name="Google Shape;1375;p82"/>
          <p:cNvCxnSpPr>
            <a:stCxn id="1376" idx="3"/>
          </p:cNvCxnSpPr>
          <p:nvPr/>
        </p:nvCxnSpPr>
        <p:spPr>
          <a:xfrm>
            <a:off x="5029547" y="2900862"/>
            <a:ext cx="454800" cy="0"/>
          </a:xfrm>
          <a:prstGeom prst="straightConnector1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7" name="Google Shape;1377;p82"/>
          <p:cNvSpPr/>
          <p:nvPr/>
        </p:nvSpPr>
        <p:spPr>
          <a:xfrm>
            <a:off x="2996745" y="3654540"/>
            <a:ext cx="1051200" cy="227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00" lIns="82700" spcFirstLastPara="1" rIns="82700" wrap="square" tIns="8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/>
              <a:t>Change quality notification</a:t>
            </a:r>
            <a:endParaRPr sz="904"/>
          </a:p>
        </p:txBody>
      </p:sp>
      <p:sp>
        <p:nvSpPr>
          <p:cNvPr id="1378" name="Google Shape;1378;p82"/>
          <p:cNvSpPr/>
          <p:nvPr/>
        </p:nvSpPr>
        <p:spPr>
          <a:xfrm>
            <a:off x="3039898" y="2065069"/>
            <a:ext cx="964800" cy="6042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00" lIns="82700" spcFirstLastPara="1" rIns="82700" wrap="square" tIns="8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/>
              <a:t>Task: Send email to supplier for deviation</a:t>
            </a:r>
            <a:endParaRPr sz="814"/>
          </a:p>
        </p:txBody>
      </p:sp>
      <p:sp>
        <p:nvSpPr>
          <p:cNvPr id="1368" name="Google Shape;1368;p82"/>
          <p:cNvSpPr/>
          <p:nvPr/>
        </p:nvSpPr>
        <p:spPr>
          <a:xfrm>
            <a:off x="2139550" y="2598762"/>
            <a:ext cx="527100" cy="604200"/>
          </a:xfrm>
          <a:prstGeom prst="diamond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00" lIns="82700" spcFirstLastPara="1" rIns="82700" wrap="square" tIns="8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/>
          </a:p>
        </p:txBody>
      </p:sp>
      <p:sp>
        <p:nvSpPr>
          <p:cNvPr id="1379" name="Google Shape;1379;p82"/>
          <p:cNvSpPr/>
          <p:nvPr/>
        </p:nvSpPr>
        <p:spPr>
          <a:xfrm>
            <a:off x="2235787" y="2720041"/>
            <a:ext cx="334500" cy="3615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00" lIns="82700" spcFirstLastPara="1" rIns="82700" wrap="square" tIns="8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/>
          </a:p>
        </p:txBody>
      </p:sp>
      <p:sp>
        <p:nvSpPr>
          <p:cNvPr id="1376" name="Google Shape;1376;p82"/>
          <p:cNvSpPr/>
          <p:nvPr/>
        </p:nvSpPr>
        <p:spPr>
          <a:xfrm>
            <a:off x="4502447" y="2598762"/>
            <a:ext cx="527100" cy="604200"/>
          </a:xfrm>
          <a:prstGeom prst="diamond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00" lIns="82700" spcFirstLastPara="1" rIns="82700" wrap="square" tIns="8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/>
          </a:p>
        </p:txBody>
      </p:sp>
      <p:sp>
        <p:nvSpPr>
          <p:cNvPr id="1380" name="Google Shape;1380;p82"/>
          <p:cNvSpPr/>
          <p:nvPr/>
        </p:nvSpPr>
        <p:spPr>
          <a:xfrm>
            <a:off x="4598684" y="2720041"/>
            <a:ext cx="334500" cy="3615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00" lIns="82700" spcFirstLastPara="1" rIns="82700" wrap="square" tIns="8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6"/>
          </a:p>
        </p:txBody>
      </p:sp>
      <p:cxnSp>
        <p:nvCxnSpPr>
          <p:cNvPr id="1381" name="Google Shape;1381;p82"/>
          <p:cNvCxnSpPr>
            <a:stCxn id="1368" idx="2"/>
            <a:endCxn id="1374" idx="1"/>
          </p:cNvCxnSpPr>
          <p:nvPr/>
        </p:nvCxnSpPr>
        <p:spPr>
          <a:xfrm flipH="1" rot="-5400000">
            <a:off x="2629750" y="2976312"/>
            <a:ext cx="149400" cy="602700"/>
          </a:xfrm>
          <a:prstGeom prst="bentConnector2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2" name="Google Shape;1382;p82"/>
          <p:cNvCxnSpPr>
            <a:stCxn id="1368" idx="0"/>
            <a:endCxn id="1378" idx="1"/>
          </p:cNvCxnSpPr>
          <p:nvPr/>
        </p:nvCxnSpPr>
        <p:spPr>
          <a:xfrm rot="-5400000">
            <a:off x="2605750" y="2164512"/>
            <a:ext cx="231600" cy="636900"/>
          </a:xfrm>
          <a:prstGeom prst="bentConnector2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3" name="Google Shape;1383;p82"/>
          <p:cNvCxnSpPr>
            <a:stCxn id="1378" idx="3"/>
            <a:endCxn id="1376" idx="0"/>
          </p:cNvCxnSpPr>
          <p:nvPr/>
        </p:nvCxnSpPr>
        <p:spPr>
          <a:xfrm>
            <a:off x="4004698" y="2367169"/>
            <a:ext cx="761400" cy="231600"/>
          </a:xfrm>
          <a:prstGeom prst="bentConnector2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4" name="Google Shape;1384;p82"/>
          <p:cNvCxnSpPr>
            <a:stCxn id="1374" idx="3"/>
            <a:endCxn id="1376" idx="2"/>
          </p:cNvCxnSpPr>
          <p:nvPr/>
        </p:nvCxnSpPr>
        <p:spPr>
          <a:xfrm flipH="1" rot="10800000">
            <a:off x="3970501" y="3203088"/>
            <a:ext cx="795600" cy="149400"/>
          </a:xfrm>
          <a:prstGeom prst="bentConnector2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5" name="Google Shape;1385;p82"/>
          <p:cNvSpPr txBox="1"/>
          <p:nvPr/>
        </p:nvSpPr>
        <p:spPr>
          <a:xfrm>
            <a:off x="2272810" y="2003550"/>
            <a:ext cx="8973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2700" lIns="82700" spcFirstLastPara="1" rIns="82700" wrap="square" tIns="8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>
                <a:solidFill>
                  <a:schemeClr val="dk2"/>
                </a:solidFill>
              </a:rPr>
              <a:t>email</a:t>
            </a:r>
            <a:endParaRPr sz="814">
              <a:solidFill>
                <a:schemeClr val="dk2"/>
              </a:solidFill>
            </a:endParaRPr>
          </a:p>
        </p:txBody>
      </p:sp>
      <p:sp>
        <p:nvSpPr>
          <p:cNvPr id="1386" name="Google Shape;1386;p82"/>
          <p:cNvSpPr txBox="1"/>
          <p:nvPr/>
        </p:nvSpPr>
        <p:spPr>
          <a:xfrm>
            <a:off x="2255712" y="3384694"/>
            <a:ext cx="8973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2700" lIns="82700" spcFirstLastPara="1" rIns="82700" wrap="square" tIns="8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4">
                <a:solidFill>
                  <a:schemeClr val="dk2"/>
                </a:solidFill>
              </a:rPr>
              <a:t>Supplier has sap</a:t>
            </a:r>
            <a:endParaRPr sz="814">
              <a:solidFill>
                <a:schemeClr val="dk2"/>
              </a:solidFill>
            </a:endParaRPr>
          </a:p>
        </p:txBody>
      </p:sp>
      <p:sp>
        <p:nvSpPr>
          <p:cNvPr id="1387" name="Google Shape;1387;p8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8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P-140-030: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Return Material to Supplier (for rework)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393" name="Google Shape;1393;p83"/>
          <p:cNvSpPr/>
          <p:nvPr/>
        </p:nvSpPr>
        <p:spPr>
          <a:xfrm>
            <a:off x="1414813" y="24325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Return Material to Supplier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394" name="Google Shape;1394;p83"/>
          <p:cNvSpPr/>
          <p:nvPr/>
        </p:nvSpPr>
        <p:spPr>
          <a:xfrm>
            <a:off x="8131513" y="25206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material to supplier returned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395" name="Google Shape;1395;p83"/>
          <p:cNvCxnSpPr>
            <a:stCxn id="1396" idx="3"/>
            <a:endCxn id="1397" idx="1"/>
          </p:cNvCxnSpPr>
          <p:nvPr/>
        </p:nvCxnSpPr>
        <p:spPr>
          <a:xfrm>
            <a:off x="2230687" y="2890250"/>
            <a:ext cx="4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7" name="Google Shape;1397;p83"/>
          <p:cNvSpPr/>
          <p:nvPr/>
        </p:nvSpPr>
        <p:spPr>
          <a:xfrm>
            <a:off x="2704687" y="25563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Prepare Material to return</a:t>
            </a:r>
            <a:endParaRPr sz="900"/>
          </a:p>
        </p:txBody>
      </p:sp>
      <p:sp>
        <p:nvSpPr>
          <p:cNvPr id="1398" name="Google Shape;1398;p83"/>
          <p:cNvSpPr/>
          <p:nvPr/>
        </p:nvSpPr>
        <p:spPr>
          <a:xfrm>
            <a:off x="5017912" y="33205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return PO</a:t>
            </a:r>
            <a:endParaRPr sz="900"/>
          </a:p>
        </p:txBody>
      </p:sp>
      <p:cxnSp>
        <p:nvCxnSpPr>
          <p:cNvPr id="1399" name="Google Shape;1399;p83"/>
          <p:cNvCxnSpPr>
            <a:stCxn id="1397" idx="3"/>
            <a:endCxn id="1400" idx="1"/>
          </p:cNvCxnSpPr>
          <p:nvPr/>
        </p:nvCxnSpPr>
        <p:spPr>
          <a:xfrm>
            <a:off x="3771187" y="2890250"/>
            <a:ext cx="47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1" name="Google Shape;1401;p83"/>
          <p:cNvSpPr/>
          <p:nvPr/>
        </p:nvSpPr>
        <p:spPr>
          <a:xfrm>
            <a:off x="5017899" y="1823313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return document</a:t>
            </a:r>
            <a:endParaRPr sz="900"/>
          </a:p>
        </p:txBody>
      </p:sp>
      <p:sp>
        <p:nvSpPr>
          <p:cNvPr id="1400" name="Google Shape;1400;p83"/>
          <p:cNvSpPr/>
          <p:nvPr/>
        </p:nvSpPr>
        <p:spPr>
          <a:xfrm>
            <a:off x="4245021" y="2549775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83"/>
          <p:cNvSpPr/>
          <p:nvPr/>
        </p:nvSpPr>
        <p:spPr>
          <a:xfrm rot="-2700000">
            <a:off x="4366157" y="2686510"/>
            <a:ext cx="420870" cy="407718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83"/>
          <p:cNvSpPr/>
          <p:nvPr/>
        </p:nvSpPr>
        <p:spPr>
          <a:xfrm>
            <a:off x="6116721" y="2549738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83"/>
          <p:cNvSpPr/>
          <p:nvPr/>
        </p:nvSpPr>
        <p:spPr>
          <a:xfrm rot="-2700000">
            <a:off x="6237857" y="2686472"/>
            <a:ext cx="420870" cy="407718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83"/>
          <p:cNvSpPr/>
          <p:nvPr/>
        </p:nvSpPr>
        <p:spPr>
          <a:xfrm>
            <a:off x="6922537" y="25563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return material to supplier</a:t>
            </a:r>
            <a:endParaRPr sz="900"/>
          </a:p>
        </p:txBody>
      </p:sp>
      <p:cxnSp>
        <p:nvCxnSpPr>
          <p:cNvPr id="1406" name="Google Shape;1406;p83"/>
          <p:cNvCxnSpPr>
            <a:stCxn id="1400" idx="2"/>
            <a:endCxn id="1398" idx="1"/>
          </p:cNvCxnSpPr>
          <p:nvPr/>
        </p:nvCxnSpPr>
        <p:spPr>
          <a:xfrm flipH="1" rot="-5400000">
            <a:off x="4585521" y="3221925"/>
            <a:ext cx="423600" cy="441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7" name="Google Shape;1407;p83"/>
          <p:cNvCxnSpPr>
            <a:stCxn id="1400" idx="0"/>
            <a:endCxn id="1401" idx="1"/>
          </p:cNvCxnSpPr>
          <p:nvPr/>
        </p:nvCxnSpPr>
        <p:spPr>
          <a:xfrm rot="-5400000">
            <a:off x="4600971" y="2132775"/>
            <a:ext cx="392700" cy="441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83"/>
          <p:cNvCxnSpPr>
            <a:stCxn id="1401" idx="3"/>
            <a:endCxn id="1403" idx="0"/>
          </p:cNvCxnSpPr>
          <p:nvPr/>
        </p:nvCxnSpPr>
        <p:spPr>
          <a:xfrm>
            <a:off x="6084399" y="2157213"/>
            <a:ext cx="363900" cy="392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9" name="Google Shape;1409;p83"/>
          <p:cNvCxnSpPr>
            <a:stCxn id="1398" idx="3"/>
            <a:endCxn id="1403" idx="2"/>
          </p:cNvCxnSpPr>
          <p:nvPr/>
        </p:nvCxnSpPr>
        <p:spPr>
          <a:xfrm flipH="1" rot="10800000">
            <a:off x="6084412" y="3230800"/>
            <a:ext cx="363900" cy="423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0" name="Google Shape;1410;p83"/>
          <p:cNvCxnSpPr>
            <a:stCxn id="1403" idx="3"/>
            <a:endCxn id="1405" idx="1"/>
          </p:cNvCxnSpPr>
          <p:nvPr/>
        </p:nvCxnSpPr>
        <p:spPr>
          <a:xfrm>
            <a:off x="6780021" y="2890238"/>
            <a:ext cx="14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1" name="Google Shape;1411;p83"/>
          <p:cNvCxnSpPr>
            <a:stCxn id="1405" idx="3"/>
            <a:endCxn id="1394" idx="2"/>
          </p:cNvCxnSpPr>
          <p:nvPr/>
        </p:nvCxnSpPr>
        <p:spPr>
          <a:xfrm>
            <a:off x="7989037" y="2890250"/>
            <a:ext cx="14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2" name="Google Shape;1412;p83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413" name="Google Shape;1413;p83"/>
          <p:cNvSpPr/>
          <p:nvPr/>
        </p:nvSpPr>
        <p:spPr>
          <a:xfrm>
            <a:off x="4922500" y="13575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1414" name="Google Shape;1414;p83"/>
          <p:cNvSpPr/>
          <p:nvPr/>
        </p:nvSpPr>
        <p:spPr>
          <a:xfrm>
            <a:off x="4970200" y="41514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ME21, Manage purchase orders</a:t>
            </a:r>
            <a:endParaRPr sz="1000"/>
          </a:p>
        </p:txBody>
      </p:sp>
      <p:sp>
        <p:nvSpPr>
          <p:cNvPr id="1415" name="Google Shape;1415;p8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8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7.4 Monitor quality of finished products, raw materials and intermediate products</a:t>
            </a:r>
            <a:endParaRPr/>
          </a:p>
        </p:txBody>
      </p:sp>
      <p:sp>
        <p:nvSpPr>
          <p:cNvPr id="1421" name="Google Shape;1421;p8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7.4.10 Release Products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8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Electronic Batch Record Release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1427" name="Google Shape;1427;p85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428" name="Google Shape;1428;p85"/>
          <p:cNvSpPr/>
          <p:nvPr/>
        </p:nvSpPr>
        <p:spPr>
          <a:xfrm>
            <a:off x="118863" y="24911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</a:t>
            </a:r>
            <a:r>
              <a:rPr lang="en" sz="600">
                <a:solidFill>
                  <a:schemeClr val="dk1"/>
                </a:solidFill>
              </a:rPr>
              <a:t>Inspection lot/Batch or Analytics results created or documented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29" name="Google Shape;1429;p85"/>
          <p:cNvSpPr/>
          <p:nvPr/>
        </p:nvSpPr>
        <p:spPr>
          <a:xfrm>
            <a:off x="1811687" y="15021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Automatically send inspection lot/ Batch</a:t>
            </a:r>
            <a:endParaRPr sz="900"/>
          </a:p>
        </p:txBody>
      </p:sp>
      <p:sp>
        <p:nvSpPr>
          <p:cNvPr id="1430" name="Google Shape;1430;p85"/>
          <p:cNvSpPr/>
          <p:nvPr/>
        </p:nvSpPr>
        <p:spPr>
          <a:xfrm>
            <a:off x="1811687" y="35104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Automatically send analytics results</a:t>
            </a:r>
            <a:endParaRPr sz="900"/>
          </a:p>
        </p:txBody>
      </p:sp>
      <p:sp>
        <p:nvSpPr>
          <p:cNvPr id="1431" name="Google Shape;1431;p85"/>
          <p:cNvSpPr/>
          <p:nvPr/>
        </p:nvSpPr>
        <p:spPr>
          <a:xfrm>
            <a:off x="3138537" y="15021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inspection lot/ Batch received in EBR</a:t>
            </a:r>
            <a:endParaRPr sz="900"/>
          </a:p>
        </p:txBody>
      </p:sp>
      <p:sp>
        <p:nvSpPr>
          <p:cNvPr id="1432" name="Google Shape;1432;p85"/>
          <p:cNvSpPr/>
          <p:nvPr/>
        </p:nvSpPr>
        <p:spPr>
          <a:xfrm>
            <a:off x="3184787" y="35104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analytics results received in EBR</a:t>
            </a:r>
            <a:endParaRPr sz="900"/>
          </a:p>
        </p:txBody>
      </p:sp>
      <p:sp>
        <p:nvSpPr>
          <p:cNvPr id="1433" name="Google Shape;1433;p85"/>
          <p:cNvSpPr/>
          <p:nvPr/>
        </p:nvSpPr>
        <p:spPr>
          <a:xfrm>
            <a:off x="4489676" y="25745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85"/>
          <p:cNvSpPr/>
          <p:nvPr/>
        </p:nvSpPr>
        <p:spPr>
          <a:xfrm rot="2522344">
            <a:off x="4596018" y="2708634"/>
            <a:ext cx="369603" cy="399551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85"/>
          <p:cNvSpPr/>
          <p:nvPr/>
        </p:nvSpPr>
        <p:spPr>
          <a:xfrm>
            <a:off x="1081976" y="257461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85"/>
          <p:cNvSpPr/>
          <p:nvPr/>
        </p:nvSpPr>
        <p:spPr>
          <a:xfrm>
            <a:off x="1188351" y="270867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85"/>
          <p:cNvSpPr/>
          <p:nvPr/>
        </p:nvSpPr>
        <p:spPr>
          <a:xfrm>
            <a:off x="5519612" y="25563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Send Usage Decision from EBR to SAP</a:t>
            </a:r>
            <a:endParaRPr sz="900"/>
          </a:p>
        </p:txBody>
      </p:sp>
      <p:sp>
        <p:nvSpPr>
          <p:cNvPr id="1438" name="Google Shape;1438;p85"/>
          <p:cNvSpPr/>
          <p:nvPr/>
        </p:nvSpPr>
        <p:spPr>
          <a:xfrm>
            <a:off x="7253163" y="250937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</a:t>
            </a:r>
            <a:r>
              <a:rPr lang="en" sz="600">
                <a:solidFill>
                  <a:schemeClr val="dk1"/>
                </a:solidFill>
              </a:rPr>
              <a:t>: IUsage Decision Reeived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39" name="Google Shape;1439;p8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8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M-130-020: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Complete Inspection Lot(UD) in Process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1445" name="Google Shape;1445;p86"/>
          <p:cNvSpPr/>
          <p:nvPr/>
        </p:nvSpPr>
        <p:spPr>
          <a:xfrm>
            <a:off x="16225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complete Inspection lot(UD)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46" name="Google Shape;1446;p86"/>
          <p:cNvSpPr/>
          <p:nvPr/>
        </p:nvSpPr>
        <p:spPr>
          <a:xfrm>
            <a:off x="8470375" y="2103950"/>
            <a:ext cx="5148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inspection lot(UD) completed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47" name="Google Shape;1447;p86"/>
          <p:cNvSpPr/>
          <p:nvPr/>
        </p:nvSpPr>
        <p:spPr>
          <a:xfrm>
            <a:off x="1192438" y="2139825"/>
            <a:ext cx="77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Review inspection Lots</a:t>
            </a:r>
            <a:endParaRPr sz="900"/>
          </a:p>
        </p:txBody>
      </p:sp>
      <p:sp>
        <p:nvSpPr>
          <p:cNvPr id="1448" name="Google Shape;1448;p86"/>
          <p:cNvSpPr/>
          <p:nvPr/>
        </p:nvSpPr>
        <p:spPr>
          <a:xfrm>
            <a:off x="2131551" y="21398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86"/>
          <p:cNvSpPr/>
          <p:nvPr/>
        </p:nvSpPr>
        <p:spPr>
          <a:xfrm>
            <a:off x="2237926" y="2273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86"/>
          <p:cNvSpPr/>
          <p:nvPr/>
        </p:nvSpPr>
        <p:spPr>
          <a:xfrm>
            <a:off x="2875987" y="2139825"/>
            <a:ext cx="77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Results recording in process</a:t>
            </a:r>
            <a:endParaRPr sz="900"/>
          </a:p>
        </p:txBody>
      </p:sp>
      <p:sp>
        <p:nvSpPr>
          <p:cNvPr id="1451" name="Google Shape;1451;p86"/>
          <p:cNvSpPr/>
          <p:nvPr/>
        </p:nvSpPr>
        <p:spPr>
          <a:xfrm>
            <a:off x="5267962" y="2139825"/>
            <a:ext cx="77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Usage Decision (manual)</a:t>
            </a:r>
            <a:endParaRPr sz="900"/>
          </a:p>
        </p:txBody>
      </p:sp>
      <p:sp>
        <p:nvSpPr>
          <p:cNvPr id="1452" name="Google Shape;1452;p86"/>
          <p:cNvSpPr/>
          <p:nvPr/>
        </p:nvSpPr>
        <p:spPr>
          <a:xfrm>
            <a:off x="3812201" y="21398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86"/>
          <p:cNvSpPr/>
          <p:nvPr/>
        </p:nvSpPr>
        <p:spPr>
          <a:xfrm>
            <a:off x="3918576" y="2273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4" name="Google Shape;1454;p86"/>
          <p:cNvCxnSpPr>
            <a:stCxn id="1452" idx="0"/>
            <a:endCxn id="1448" idx="0"/>
          </p:cNvCxnSpPr>
          <p:nvPr/>
        </p:nvCxnSpPr>
        <p:spPr>
          <a:xfrm rot="5400000">
            <a:off x="3262901" y="1299831"/>
            <a:ext cx="600" cy="1680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5" name="Google Shape;1455;p86"/>
          <p:cNvCxnSpPr>
            <a:stCxn id="1448" idx="3"/>
            <a:endCxn id="1450" idx="1"/>
          </p:cNvCxnSpPr>
          <p:nvPr/>
        </p:nvCxnSpPr>
        <p:spPr>
          <a:xfrm>
            <a:off x="2714151" y="2473731"/>
            <a:ext cx="16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6" name="Google Shape;1456;p86"/>
          <p:cNvCxnSpPr>
            <a:stCxn id="1450" idx="3"/>
            <a:endCxn id="1452" idx="1"/>
          </p:cNvCxnSpPr>
          <p:nvPr/>
        </p:nvCxnSpPr>
        <p:spPr>
          <a:xfrm>
            <a:off x="3653287" y="2473725"/>
            <a:ext cx="15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7" name="Google Shape;1457;p86"/>
          <p:cNvCxnSpPr>
            <a:stCxn id="1452" idx="3"/>
            <a:endCxn id="1451" idx="1"/>
          </p:cNvCxnSpPr>
          <p:nvPr/>
        </p:nvCxnSpPr>
        <p:spPr>
          <a:xfrm>
            <a:off x="4394801" y="2473731"/>
            <a:ext cx="87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8" name="Google Shape;1458;p86"/>
          <p:cNvCxnSpPr>
            <a:stCxn id="1447" idx="3"/>
            <a:endCxn id="1448" idx="1"/>
          </p:cNvCxnSpPr>
          <p:nvPr/>
        </p:nvCxnSpPr>
        <p:spPr>
          <a:xfrm>
            <a:off x="1969738" y="2473725"/>
            <a:ext cx="16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9" name="Google Shape;1459;p86"/>
          <p:cNvCxnSpPr>
            <a:stCxn id="1445" idx="6"/>
            <a:endCxn id="1447" idx="1"/>
          </p:cNvCxnSpPr>
          <p:nvPr/>
        </p:nvCxnSpPr>
        <p:spPr>
          <a:xfrm flipH="1" rot="10800000">
            <a:off x="832225" y="2473650"/>
            <a:ext cx="360300" cy="98100"/>
          </a:xfrm>
          <a:prstGeom prst="bentConnector3">
            <a:avLst>
              <a:gd fmla="val 4998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0" name="Google Shape;1460;p86"/>
          <p:cNvCxnSpPr>
            <a:stCxn id="1451" idx="3"/>
            <a:endCxn id="1461" idx="1"/>
          </p:cNvCxnSpPr>
          <p:nvPr/>
        </p:nvCxnSpPr>
        <p:spPr>
          <a:xfrm>
            <a:off x="6045262" y="2473725"/>
            <a:ext cx="170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2" name="Google Shape;1462;p86"/>
          <p:cNvSpPr txBox="1"/>
          <p:nvPr/>
        </p:nvSpPr>
        <p:spPr>
          <a:xfrm>
            <a:off x="4004792" y="158485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Is additional sample required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463" name="Google Shape;1463;p86"/>
          <p:cNvCxnSpPr>
            <a:stCxn id="1464" idx="3"/>
            <a:endCxn id="1446" idx="2"/>
          </p:cNvCxnSpPr>
          <p:nvPr/>
        </p:nvCxnSpPr>
        <p:spPr>
          <a:xfrm>
            <a:off x="8332375" y="2473700"/>
            <a:ext cx="13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5" name="Google Shape;1465;p86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466" name="Google Shape;1466;p86"/>
          <p:cNvSpPr/>
          <p:nvPr/>
        </p:nvSpPr>
        <p:spPr>
          <a:xfrm>
            <a:off x="974650" y="19704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1467" name="Google Shape;1467;p86"/>
          <p:cNvSpPr/>
          <p:nvPr/>
        </p:nvSpPr>
        <p:spPr>
          <a:xfrm>
            <a:off x="2730688" y="19704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1468" name="Google Shape;1468;p86"/>
          <p:cNvSpPr/>
          <p:nvPr/>
        </p:nvSpPr>
        <p:spPr>
          <a:xfrm>
            <a:off x="5114874" y="2990075"/>
            <a:ext cx="1031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QA11, QE51E</a:t>
            </a:r>
            <a:endParaRPr sz="1000"/>
          </a:p>
        </p:txBody>
      </p:sp>
      <p:sp>
        <p:nvSpPr>
          <p:cNvPr id="1469" name="Google Shape;1469;p86"/>
          <p:cNvSpPr/>
          <p:nvPr/>
        </p:nvSpPr>
        <p:spPr>
          <a:xfrm>
            <a:off x="4486751" y="21398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86"/>
          <p:cNvSpPr/>
          <p:nvPr/>
        </p:nvSpPr>
        <p:spPr>
          <a:xfrm>
            <a:off x="4593126" y="2273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86"/>
          <p:cNvSpPr/>
          <p:nvPr/>
        </p:nvSpPr>
        <p:spPr>
          <a:xfrm>
            <a:off x="7749776" y="21398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86"/>
          <p:cNvSpPr/>
          <p:nvPr/>
        </p:nvSpPr>
        <p:spPr>
          <a:xfrm>
            <a:off x="7856151" y="2273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86"/>
          <p:cNvSpPr txBox="1"/>
          <p:nvPr/>
        </p:nvSpPr>
        <p:spPr>
          <a:xfrm>
            <a:off x="4593117" y="2807625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LIMS not activated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3" name="Google Shape;1473;p86"/>
          <p:cNvSpPr/>
          <p:nvPr/>
        </p:nvSpPr>
        <p:spPr>
          <a:xfrm>
            <a:off x="5293227" y="1161075"/>
            <a:ext cx="675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Perform Decision in LIMS</a:t>
            </a:r>
            <a:endParaRPr sz="900"/>
          </a:p>
        </p:txBody>
      </p:sp>
      <p:sp>
        <p:nvSpPr>
          <p:cNvPr id="1474" name="Google Shape;1474;p86"/>
          <p:cNvSpPr/>
          <p:nvPr/>
        </p:nvSpPr>
        <p:spPr>
          <a:xfrm>
            <a:off x="6045252" y="1161075"/>
            <a:ext cx="675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Decision to SAP</a:t>
            </a:r>
            <a:endParaRPr sz="900"/>
          </a:p>
        </p:txBody>
      </p:sp>
      <p:sp>
        <p:nvSpPr>
          <p:cNvPr id="1475" name="Google Shape;1475;p86"/>
          <p:cNvSpPr/>
          <p:nvPr/>
        </p:nvSpPr>
        <p:spPr>
          <a:xfrm>
            <a:off x="6912777" y="1161075"/>
            <a:ext cx="675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</a:t>
            </a:r>
            <a:r>
              <a:rPr lang="en" sz="900"/>
              <a:t>Usage</a:t>
            </a:r>
            <a:r>
              <a:rPr lang="en" sz="900"/>
              <a:t> decision received</a:t>
            </a:r>
            <a:endParaRPr sz="900"/>
          </a:p>
        </p:txBody>
      </p:sp>
      <p:cxnSp>
        <p:nvCxnSpPr>
          <p:cNvPr id="1476" name="Google Shape;1476;p86"/>
          <p:cNvCxnSpPr>
            <a:stCxn id="1469" idx="0"/>
            <a:endCxn id="1473" idx="1"/>
          </p:cNvCxnSpPr>
          <p:nvPr/>
        </p:nvCxnSpPr>
        <p:spPr>
          <a:xfrm rot="-5400000">
            <a:off x="4713101" y="1559781"/>
            <a:ext cx="645000" cy="515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7" name="Google Shape;1477;p86"/>
          <p:cNvCxnSpPr>
            <a:stCxn id="1475" idx="3"/>
            <a:endCxn id="1461" idx="0"/>
          </p:cNvCxnSpPr>
          <p:nvPr/>
        </p:nvCxnSpPr>
        <p:spPr>
          <a:xfrm>
            <a:off x="7587777" y="1494975"/>
            <a:ext cx="453300" cy="645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8" name="Google Shape;1478;p86"/>
          <p:cNvSpPr txBox="1"/>
          <p:nvPr/>
        </p:nvSpPr>
        <p:spPr>
          <a:xfrm>
            <a:off x="3921717" y="257175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No additional sample isrequired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8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M-130-020: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Complete Inspection Lot(UD) after production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endParaRPr sz="1520"/>
          </a:p>
        </p:txBody>
      </p:sp>
      <p:sp>
        <p:nvSpPr>
          <p:cNvPr id="1484" name="Google Shape;1484;p87"/>
          <p:cNvSpPr/>
          <p:nvPr/>
        </p:nvSpPr>
        <p:spPr>
          <a:xfrm>
            <a:off x="174675" y="4755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485" name="Google Shape;1485;p8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1486" name="Google Shape;1486;p87"/>
          <p:cNvSpPr/>
          <p:nvPr/>
        </p:nvSpPr>
        <p:spPr>
          <a:xfrm>
            <a:off x="16225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complete Inspection lot(UD)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87" name="Google Shape;1487;p87"/>
          <p:cNvSpPr/>
          <p:nvPr/>
        </p:nvSpPr>
        <p:spPr>
          <a:xfrm>
            <a:off x="8470375" y="2103950"/>
            <a:ext cx="5148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inspection lot(UD) completed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88" name="Google Shape;1488;p87"/>
          <p:cNvSpPr/>
          <p:nvPr/>
        </p:nvSpPr>
        <p:spPr>
          <a:xfrm>
            <a:off x="1192438" y="2139825"/>
            <a:ext cx="77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Review inspection Lots</a:t>
            </a:r>
            <a:endParaRPr sz="900"/>
          </a:p>
        </p:txBody>
      </p:sp>
      <p:sp>
        <p:nvSpPr>
          <p:cNvPr id="1489" name="Google Shape;1489;p87"/>
          <p:cNvSpPr/>
          <p:nvPr/>
        </p:nvSpPr>
        <p:spPr>
          <a:xfrm>
            <a:off x="2131551" y="21398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87"/>
          <p:cNvSpPr/>
          <p:nvPr/>
        </p:nvSpPr>
        <p:spPr>
          <a:xfrm>
            <a:off x="2237926" y="2273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87"/>
          <p:cNvSpPr/>
          <p:nvPr/>
        </p:nvSpPr>
        <p:spPr>
          <a:xfrm>
            <a:off x="2875987" y="2139825"/>
            <a:ext cx="77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Results recording in process</a:t>
            </a:r>
            <a:endParaRPr sz="900"/>
          </a:p>
        </p:txBody>
      </p:sp>
      <p:sp>
        <p:nvSpPr>
          <p:cNvPr id="1492" name="Google Shape;1492;p87"/>
          <p:cNvSpPr/>
          <p:nvPr/>
        </p:nvSpPr>
        <p:spPr>
          <a:xfrm>
            <a:off x="5267962" y="2139825"/>
            <a:ext cx="777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Usage Decision (manual)</a:t>
            </a:r>
            <a:endParaRPr sz="900"/>
          </a:p>
        </p:txBody>
      </p:sp>
      <p:sp>
        <p:nvSpPr>
          <p:cNvPr id="1493" name="Google Shape;1493;p87"/>
          <p:cNvSpPr/>
          <p:nvPr/>
        </p:nvSpPr>
        <p:spPr>
          <a:xfrm>
            <a:off x="3812201" y="21398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87"/>
          <p:cNvSpPr/>
          <p:nvPr/>
        </p:nvSpPr>
        <p:spPr>
          <a:xfrm>
            <a:off x="3918576" y="2273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5" name="Google Shape;1495;p87"/>
          <p:cNvCxnSpPr>
            <a:stCxn id="1489" idx="0"/>
            <a:endCxn id="1493" idx="0"/>
          </p:cNvCxnSpPr>
          <p:nvPr/>
        </p:nvCxnSpPr>
        <p:spPr>
          <a:xfrm flipH="1" rot="-5400000">
            <a:off x="3262851" y="1299831"/>
            <a:ext cx="600" cy="1680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6" name="Google Shape;1496;p87"/>
          <p:cNvCxnSpPr>
            <a:stCxn id="1489" idx="3"/>
            <a:endCxn id="1491" idx="1"/>
          </p:cNvCxnSpPr>
          <p:nvPr/>
        </p:nvCxnSpPr>
        <p:spPr>
          <a:xfrm>
            <a:off x="2714151" y="2473731"/>
            <a:ext cx="16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7" name="Google Shape;1497;p87"/>
          <p:cNvCxnSpPr>
            <a:stCxn id="1491" idx="3"/>
            <a:endCxn id="1493" idx="1"/>
          </p:cNvCxnSpPr>
          <p:nvPr/>
        </p:nvCxnSpPr>
        <p:spPr>
          <a:xfrm>
            <a:off x="3653287" y="2473725"/>
            <a:ext cx="15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8" name="Google Shape;1498;p87"/>
          <p:cNvCxnSpPr>
            <a:stCxn id="1493" idx="3"/>
            <a:endCxn id="1492" idx="1"/>
          </p:cNvCxnSpPr>
          <p:nvPr/>
        </p:nvCxnSpPr>
        <p:spPr>
          <a:xfrm>
            <a:off x="4394801" y="2473731"/>
            <a:ext cx="87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9" name="Google Shape;1499;p87"/>
          <p:cNvCxnSpPr>
            <a:stCxn id="1488" idx="3"/>
            <a:endCxn id="1489" idx="1"/>
          </p:cNvCxnSpPr>
          <p:nvPr/>
        </p:nvCxnSpPr>
        <p:spPr>
          <a:xfrm>
            <a:off x="1969738" y="2473725"/>
            <a:ext cx="16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0" name="Google Shape;1500;p87"/>
          <p:cNvCxnSpPr>
            <a:stCxn id="1486" idx="6"/>
            <a:endCxn id="1488" idx="1"/>
          </p:cNvCxnSpPr>
          <p:nvPr/>
        </p:nvCxnSpPr>
        <p:spPr>
          <a:xfrm flipH="1" rot="10800000">
            <a:off x="832225" y="2473650"/>
            <a:ext cx="360300" cy="98100"/>
          </a:xfrm>
          <a:prstGeom prst="bentConnector3">
            <a:avLst>
              <a:gd fmla="val 4998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1" name="Google Shape;1501;p87"/>
          <p:cNvCxnSpPr>
            <a:stCxn id="1492" idx="3"/>
            <a:endCxn id="1502" idx="1"/>
          </p:cNvCxnSpPr>
          <p:nvPr/>
        </p:nvCxnSpPr>
        <p:spPr>
          <a:xfrm>
            <a:off x="6045262" y="2473725"/>
            <a:ext cx="170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3" name="Google Shape;1503;p87"/>
          <p:cNvSpPr txBox="1"/>
          <p:nvPr/>
        </p:nvSpPr>
        <p:spPr>
          <a:xfrm>
            <a:off x="2162042" y="2856175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Is additional sample required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504" name="Google Shape;1504;p87"/>
          <p:cNvCxnSpPr>
            <a:endCxn id="1487" idx="2"/>
          </p:cNvCxnSpPr>
          <p:nvPr/>
        </p:nvCxnSpPr>
        <p:spPr>
          <a:xfrm>
            <a:off x="8332375" y="2473700"/>
            <a:ext cx="13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5" name="Google Shape;1505;p87"/>
          <p:cNvSpPr txBox="1"/>
          <p:nvPr/>
        </p:nvSpPr>
        <p:spPr>
          <a:xfrm>
            <a:off x="2207464" y="1684763"/>
            <a:ext cx="2322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No additional sample required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06" name="Google Shape;1506;p87"/>
          <p:cNvSpPr/>
          <p:nvPr/>
        </p:nvSpPr>
        <p:spPr>
          <a:xfrm>
            <a:off x="974650" y="19704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1507" name="Google Shape;1507;p87"/>
          <p:cNvSpPr/>
          <p:nvPr/>
        </p:nvSpPr>
        <p:spPr>
          <a:xfrm>
            <a:off x="2730688" y="19704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1508" name="Google Shape;1508;p87"/>
          <p:cNvSpPr/>
          <p:nvPr/>
        </p:nvSpPr>
        <p:spPr>
          <a:xfrm>
            <a:off x="5114874" y="2990075"/>
            <a:ext cx="1031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QA11, QE51E</a:t>
            </a:r>
            <a:endParaRPr sz="1000"/>
          </a:p>
        </p:txBody>
      </p:sp>
      <p:sp>
        <p:nvSpPr>
          <p:cNvPr id="1509" name="Google Shape;1509;p87"/>
          <p:cNvSpPr/>
          <p:nvPr/>
        </p:nvSpPr>
        <p:spPr>
          <a:xfrm>
            <a:off x="4486751" y="21398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87"/>
          <p:cNvSpPr/>
          <p:nvPr/>
        </p:nvSpPr>
        <p:spPr>
          <a:xfrm>
            <a:off x="4593126" y="2273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87"/>
          <p:cNvSpPr/>
          <p:nvPr/>
        </p:nvSpPr>
        <p:spPr>
          <a:xfrm>
            <a:off x="7749776" y="21398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87"/>
          <p:cNvSpPr/>
          <p:nvPr/>
        </p:nvSpPr>
        <p:spPr>
          <a:xfrm>
            <a:off x="7856151" y="22738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87"/>
          <p:cNvSpPr txBox="1"/>
          <p:nvPr/>
        </p:nvSpPr>
        <p:spPr>
          <a:xfrm>
            <a:off x="4593117" y="2807625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LIMS not activated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3" name="Google Shape;1513;p87"/>
          <p:cNvSpPr/>
          <p:nvPr/>
        </p:nvSpPr>
        <p:spPr>
          <a:xfrm>
            <a:off x="5293227" y="1161075"/>
            <a:ext cx="675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Perform Decision in LIMS</a:t>
            </a:r>
            <a:endParaRPr sz="900"/>
          </a:p>
        </p:txBody>
      </p:sp>
      <p:sp>
        <p:nvSpPr>
          <p:cNvPr id="1514" name="Google Shape;1514;p87"/>
          <p:cNvSpPr/>
          <p:nvPr/>
        </p:nvSpPr>
        <p:spPr>
          <a:xfrm>
            <a:off x="6045252" y="1161075"/>
            <a:ext cx="675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Decision to SAP</a:t>
            </a:r>
            <a:endParaRPr sz="900"/>
          </a:p>
        </p:txBody>
      </p:sp>
      <p:sp>
        <p:nvSpPr>
          <p:cNvPr id="1515" name="Google Shape;1515;p87"/>
          <p:cNvSpPr/>
          <p:nvPr/>
        </p:nvSpPr>
        <p:spPr>
          <a:xfrm>
            <a:off x="6912777" y="1161075"/>
            <a:ext cx="675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Event: Usage decision received</a:t>
            </a:r>
            <a:endParaRPr sz="900"/>
          </a:p>
        </p:txBody>
      </p:sp>
      <p:cxnSp>
        <p:nvCxnSpPr>
          <p:cNvPr id="1516" name="Google Shape;1516;p87"/>
          <p:cNvCxnSpPr>
            <a:stCxn id="1509" idx="0"/>
            <a:endCxn id="1513" idx="1"/>
          </p:cNvCxnSpPr>
          <p:nvPr/>
        </p:nvCxnSpPr>
        <p:spPr>
          <a:xfrm rot="-5400000">
            <a:off x="4713101" y="1559781"/>
            <a:ext cx="645000" cy="515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7" name="Google Shape;1517;p87"/>
          <p:cNvCxnSpPr>
            <a:stCxn id="1515" idx="3"/>
            <a:endCxn id="1502" idx="0"/>
          </p:cNvCxnSpPr>
          <p:nvPr/>
        </p:nvCxnSpPr>
        <p:spPr>
          <a:xfrm>
            <a:off x="7587777" y="1494975"/>
            <a:ext cx="453300" cy="645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88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M-140-020: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Contain as Off-Spec Material for Another Customer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Engineer</a:t>
            </a:r>
            <a:endParaRPr sz="1520"/>
          </a:p>
        </p:txBody>
      </p:sp>
      <p:sp>
        <p:nvSpPr>
          <p:cNvPr id="1523" name="Google Shape;1523;p88"/>
          <p:cNvSpPr/>
          <p:nvPr/>
        </p:nvSpPr>
        <p:spPr>
          <a:xfrm>
            <a:off x="1157600" y="24911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contain as Off-spec material for another customer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524" name="Google Shape;1524;p88"/>
          <p:cNvSpPr/>
          <p:nvPr/>
        </p:nvSpPr>
        <p:spPr>
          <a:xfrm>
            <a:off x="7544725" y="25205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Off-Spec material contained for another customer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525" name="Google Shape;1525;p88"/>
          <p:cNvCxnSpPr>
            <a:stCxn id="1523" idx="6"/>
            <a:endCxn id="1526" idx="1"/>
          </p:cNvCxnSpPr>
          <p:nvPr/>
        </p:nvCxnSpPr>
        <p:spPr>
          <a:xfrm>
            <a:off x="1973600" y="2890250"/>
            <a:ext cx="182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6" name="Google Shape;1526;p88"/>
          <p:cNvSpPr/>
          <p:nvPr/>
        </p:nvSpPr>
        <p:spPr>
          <a:xfrm>
            <a:off x="3796424" y="25563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assigned sales order in process order with correct customer</a:t>
            </a:r>
            <a:endParaRPr sz="900"/>
          </a:p>
        </p:txBody>
      </p:sp>
      <p:cxnSp>
        <p:nvCxnSpPr>
          <p:cNvPr id="1527" name="Google Shape;1527;p88"/>
          <p:cNvCxnSpPr>
            <a:stCxn id="1526" idx="3"/>
            <a:endCxn id="1524" idx="2"/>
          </p:cNvCxnSpPr>
          <p:nvPr/>
        </p:nvCxnSpPr>
        <p:spPr>
          <a:xfrm>
            <a:off x="4862924" y="2890250"/>
            <a:ext cx="268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8" name="Google Shape;1528;p88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529" name="Google Shape;1529;p88"/>
          <p:cNvSpPr/>
          <p:nvPr/>
        </p:nvSpPr>
        <p:spPr>
          <a:xfrm>
            <a:off x="3748725" y="32241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orders, COR2</a:t>
            </a:r>
            <a:endParaRPr sz="1000"/>
          </a:p>
        </p:txBody>
      </p:sp>
      <p:sp>
        <p:nvSpPr>
          <p:cNvPr id="1530" name="Google Shape;1530;p88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8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M-140-040: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Post batch to unrestricted stock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Engineer</a:t>
            </a:r>
            <a:endParaRPr sz="1520"/>
          </a:p>
        </p:txBody>
      </p:sp>
      <p:sp>
        <p:nvSpPr>
          <p:cNvPr id="1536" name="Google Shape;1536;p89"/>
          <p:cNvSpPr/>
          <p:nvPr/>
        </p:nvSpPr>
        <p:spPr>
          <a:xfrm>
            <a:off x="396825" y="24911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transfer batch to unrestricted stock after UD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537" name="Google Shape;1537;p89"/>
          <p:cNvSpPr/>
          <p:nvPr/>
        </p:nvSpPr>
        <p:spPr>
          <a:xfrm>
            <a:off x="7509425" y="25205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batch moved to unrestricted stock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538" name="Google Shape;1538;p89"/>
          <p:cNvCxnSpPr>
            <a:stCxn id="1536" idx="6"/>
            <a:endCxn id="1539" idx="1"/>
          </p:cNvCxnSpPr>
          <p:nvPr/>
        </p:nvCxnSpPr>
        <p:spPr>
          <a:xfrm>
            <a:off x="1212825" y="2890250"/>
            <a:ext cx="249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9" name="Google Shape;1539;p89"/>
          <p:cNvSpPr/>
          <p:nvPr/>
        </p:nvSpPr>
        <p:spPr>
          <a:xfrm>
            <a:off x="3704949" y="25563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full batch to unrestricted stock </a:t>
            </a:r>
            <a:endParaRPr sz="900"/>
          </a:p>
        </p:txBody>
      </p:sp>
      <p:cxnSp>
        <p:nvCxnSpPr>
          <p:cNvPr id="1540" name="Google Shape;1540;p89"/>
          <p:cNvCxnSpPr>
            <a:stCxn id="1539" idx="3"/>
            <a:endCxn id="1537" idx="2"/>
          </p:cNvCxnSpPr>
          <p:nvPr/>
        </p:nvCxnSpPr>
        <p:spPr>
          <a:xfrm>
            <a:off x="4771449" y="2890250"/>
            <a:ext cx="273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1" name="Google Shape;1541;p89"/>
          <p:cNvSpPr/>
          <p:nvPr/>
        </p:nvSpPr>
        <p:spPr>
          <a:xfrm>
            <a:off x="1631063" y="25563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89"/>
          <p:cNvSpPr/>
          <p:nvPr/>
        </p:nvSpPr>
        <p:spPr>
          <a:xfrm rot="-2700000">
            <a:off x="1737525" y="2698636"/>
            <a:ext cx="369534" cy="371231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89"/>
          <p:cNvSpPr/>
          <p:nvPr/>
        </p:nvSpPr>
        <p:spPr>
          <a:xfrm>
            <a:off x="5538263" y="25563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89"/>
          <p:cNvSpPr/>
          <p:nvPr/>
        </p:nvSpPr>
        <p:spPr>
          <a:xfrm rot="-2700000">
            <a:off x="5644725" y="2698636"/>
            <a:ext cx="369534" cy="371231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89"/>
          <p:cNvSpPr/>
          <p:nvPr/>
        </p:nvSpPr>
        <p:spPr>
          <a:xfrm>
            <a:off x="3704949" y="34549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batch partially to unrestricted stock </a:t>
            </a:r>
            <a:endParaRPr sz="900"/>
          </a:p>
        </p:txBody>
      </p:sp>
      <p:cxnSp>
        <p:nvCxnSpPr>
          <p:cNvPr id="1546" name="Google Shape;1546;p89"/>
          <p:cNvCxnSpPr>
            <a:stCxn id="1541" idx="2"/>
            <a:endCxn id="1545" idx="1"/>
          </p:cNvCxnSpPr>
          <p:nvPr/>
        </p:nvCxnSpPr>
        <p:spPr>
          <a:xfrm flipH="1" rot="-5400000">
            <a:off x="2531363" y="2615156"/>
            <a:ext cx="564600" cy="1782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7" name="Google Shape;1547;p89"/>
          <p:cNvCxnSpPr>
            <a:stCxn id="1545" idx="3"/>
            <a:endCxn id="1543" idx="2"/>
          </p:cNvCxnSpPr>
          <p:nvPr/>
        </p:nvCxnSpPr>
        <p:spPr>
          <a:xfrm flipH="1" rot="10800000">
            <a:off x="4771449" y="3224275"/>
            <a:ext cx="1058100" cy="56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8" name="Google Shape;1548;p89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549" name="Google Shape;1549;p89"/>
          <p:cNvSpPr/>
          <p:nvPr/>
        </p:nvSpPr>
        <p:spPr>
          <a:xfrm>
            <a:off x="3657250" y="2148238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MIGO, QA11</a:t>
            </a:r>
            <a:endParaRPr sz="1000"/>
          </a:p>
        </p:txBody>
      </p:sp>
      <p:sp>
        <p:nvSpPr>
          <p:cNvPr id="1550" name="Google Shape;1550;p89"/>
          <p:cNvSpPr/>
          <p:nvPr/>
        </p:nvSpPr>
        <p:spPr>
          <a:xfrm>
            <a:off x="3679350" y="42660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1551" name="Google Shape;1551;p89"/>
          <p:cNvSpPr txBox="1"/>
          <p:nvPr/>
        </p:nvSpPr>
        <p:spPr>
          <a:xfrm>
            <a:off x="2281500" y="2382650"/>
            <a:ext cx="1216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batch need to be fully transferred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52" name="Google Shape;1552;p89"/>
          <p:cNvSpPr txBox="1"/>
          <p:nvPr/>
        </p:nvSpPr>
        <p:spPr>
          <a:xfrm>
            <a:off x="2065075" y="3866750"/>
            <a:ext cx="1216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batch need to be partially transferred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53" name="Google Shape;1553;p89"/>
          <p:cNvSpPr/>
          <p:nvPr/>
        </p:nvSpPr>
        <p:spPr>
          <a:xfrm>
            <a:off x="6267162" y="25563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Review Stock Transfer</a:t>
            </a:r>
            <a:endParaRPr sz="900"/>
          </a:p>
        </p:txBody>
      </p:sp>
      <p:sp>
        <p:nvSpPr>
          <p:cNvPr id="1554" name="Google Shape;1554;p89"/>
          <p:cNvSpPr/>
          <p:nvPr/>
        </p:nvSpPr>
        <p:spPr>
          <a:xfrm>
            <a:off x="6234200" y="31461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MMBE</a:t>
            </a:r>
            <a:endParaRPr sz="10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9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M-140-140: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Change batch status to available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Engineer</a:t>
            </a:r>
            <a:endParaRPr sz="1520"/>
          </a:p>
        </p:txBody>
      </p:sp>
      <p:sp>
        <p:nvSpPr>
          <p:cNvPr id="1560" name="Google Shape;1560;p90"/>
          <p:cNvSpPr/>
          <p:nvPr/>
        </p:nvSpPr>
        <p:spPr>
          <a:xfrm>
            <a:off x="1745075" y="23387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change batch status to available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561" name="Google Shape;1561;p90"/>
          <p:cNvSpPr/>
          <p:nvPr/>
        </p:nvSpPr>
        <p:spPr>
          <a:xfrm>
            <a:off x="4160525" y="23681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batch status changed to available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562" name="Google Shape;1562;p90"/>
          <p:cNvCxnSpPr>
            <a:stCxn id="1560" idx="6"/>
            <a:endCxn id="1563" idx="1"/>
          </p:cNvCxnSpPr>
          <p:nvPr/>
        </p:nvCxnSpPr>
        <p:spPr>
          <a:xfrm>
            <a:off x="2561075" y="2737875"/>
            <a:ext cx="2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3" name="Google Shape;1563;p90"/>
          <p:cNvSpPr/>
          <p:nvPr/>
        </p:nvSpPr>
        <p:spPr>
          <a:xfrm>
            <a:off x="2790549" y="2403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change batch status to available</a:t>
            </a:r>
            <a:endParaRPr sz="900"/>
          </a:p>
        </p:txBody>
      </p:sp>
      <p:cxnSp>
        <p:nvCxnSpPr>
          <p:cNvPr id="1564" name="Google Shape;1564;p90"/>
          <p:cNvCxnSpPr>
            <a:stCxn id="1563" idx="3"/>
            <a:endCxn id="1561" idx="2"/>
          </p:cNvCxnSpPr>
          <p:nvPr/>
        </p:nvCxnSpPr>
        <p:spPr>
          <a:xfrm>
            <a:off x="3857049" y="2737850"/>
            <a:ext cx="3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5" name="Google Shape;1565;p90"/>
          <p:cNvSpPr/>
          <p:nvPr/>
        </p:nvSpPr>
        <p:spPr>
          <a:xfrm>
            <a:off x="2742850" y="33283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batch</a:t>
            </a:r>
            <a:endParaRPr sz="1000"/>
          </a:p>
        </p:txBody>
      </p:sp>
      <p:sp>
        <p:nvSpPr>
          <p:cNvPr id="1566" name="Google Shape;1566;p90"/>
          <p:cNvSpPr/>
          <p:nvPr/>
        </p:nvSpPr>
        <p:spPr>
          <a:xfrm>
            <a:off x="5583950" y="4120200"/>
            <a:ext cx="3527700" cy="102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double checked.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7.4 Monitor quality of finished products, raw materials and intermediate products</a:t>
            </a:r>
            <a:endParaRPr/>
          </a:p>
        </p:txBody>
      </p:sp>
      <p:sp>
        <p:nvSpPr>
          <p:cNvPr id="1572" name="Google Shape;1572;p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7.4.3 Maintain production /batch records and manage lot traceability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9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</a:t>
            </a:r>
            <a:r>
              <a:rPr lang="en" sz="1779"/>
              <a:t>-110-010: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Establish batch level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r>
              <a:rPr lang="en" sz="1520"/>
              <a:t>Master Data Specialist - Product Data</a:t>
            </a:r>
            <a:endParaRPr sz="1520"/>
          </a:p>
        </p:txBody>
      </p:sp>
      <p:sp>
        <p:nvSpPr>
          <p:cNvPr id="1578" name="Google Shape;1578;p92"/>
          <p:cNvSpPr/>
          <p:nvPr/>
        </p:nvSpPr>
        <p:spPr>
          <a:xfrm>
            <a:off x="2659475" y="24911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establish a batch level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579" name="Google Shape;1579;p92"/>
          <p:cNvSpPr/>
          <p:nvPr/>
        </p:nvSpPr>
        <p:spPr>
          <a:xfrm>
            <a:off x="5074925" y="25205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Batch level established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580" name="Google Shape;1580;p92"/>
          <p:cNvCxnSpPr>
            <a:stCxn id="1578" idx="6"/>
            <a:endCxn id="1581" idx="1"/>
          </p:cNvCxnSpPr>
          <p:nvPr/>
        </p:nvCxnSpPr>
        <p:spPr>
          <a:xfrm>
            <a:off x="3475475" y="2890275"/>
            <a:ext cx="2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1" name="Google Shape;1581;p92"/>
          <p:cNvSpPr/>
          <p:nvPr/>
        </p:nvSpPr>
        <p:spPr>
          <a:xfrm>
            <a:off x="3704949" y="25563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/>
              <a:t>Activate batch unique at Material level</a:t>
            </a:r>
            <a:endParaRPr sz="900"/>
          </a:p>
        </p:txBody>
      </p:sp>
      <p:cxnSp>
        <p:nvCxnSpPr>
          <p:cNvPr id="1582" name="Google Shape;1582;p92"/>
          <p:cNvCxnSpPr>
            <a:stCxn id="1581" idx="3"/>
            <a:endCxn id="1579" idx="2"/>
          </p:cNvCxnSpPr>
          <p:nvPr/>
        </p:nvCxnSpPr>
        <p:spPr>
          <a:xfrm>
            <a:off x="4771449" y="2890250"/>
            <a:ext cx="3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3" name="Google Shape;1583;p92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584" name="Google Shape;1584;p92"/>
          <p:cNvSpPr/>
          <p:nvPr/>
        </p:nvSpPr>
        <p:spPr>
          <a:xfrm>
            <a:off x="3657250" y="34807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 master data</a:t>
            </a:r>
            <a:endParaRPr sz="1000"/>
          </a:p>
        </p:txBody>
      </p:sp>
      <p:sp>
        <p:nvSpPr>
          <p:cNvPr id="1585" name="Google Shape;1585;p92"/>
          <p:cNvSpPr/>
          <p:nvPr/>
        </p:nvSpPr>
        <p:spPr>
          <a:xfrm>
            <a:off x="2022725" y="1911500"/>
            <a:ext cx="4651200" cy="2077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Deleted</a:t>
            </a:r>
            <a:endParaRPr/>
          </a:p>
        </p:txBody>
      </p:sp>
      <p:sp>
        <p:nvSpPr>
          <p:cNvPr id="1586" name="Google Shape;1586;p9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9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L-110-020</a:t>
            </a:r>
            <a:r>
              <a:rPr lang="en" sz="1779"/>
              <a:t>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Establish batch status management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Master Data Specialist - Product Data</a:t>
            </a:r>
            <a:endParaRPr sz="1520"/>
          </a:p>
        </p:txBody>
      </p:sp>
      <p:sp>
        <p:nvSpPr>
          <p:cNvPr id="1592" name="Google Shape;1592;p93"/>
          <p:cNvSpPr/>
          <p:nvPr/>
        </p:nvSpPr>
        <p:spPr>
          <a:xfrm>
            <a:off x="1872100" y="2503425"/>
            <a:ext cx="565500" cy="58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establish batch status </a:t>
            </a:r>
            <a:r>
              <a:rPr lang="en" sz="600">
                <a:solidFill>
                  <a:schemeClr val="dk1"/>
                </a:solidFill>
              </a:rPr>
              <a:t>management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593" name="Google Shape;1593;p93"/>
          <p:cNvSpPr/>
          <p:nvPr/>
        </p:nvSpPr>
        <p:spPr>
          <a:xfrm>
            <a:off x="6392101" y="2529573"/>
            <a:ext cx="608100" cy="54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Batch status management established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594" name="Google Shape;1594;p93"/>
          <p:cNvCxnSpPr>
            <a:stCxn id="1592" idx="6"/>
            <a:endCxn id="1595" idx="1"/>
          </p:cNvCxnSpPr>
          <p:nvPr/>
        </p:nvCxnSpPr>
        <p:spPr>
          <a:xfrm>
            <a:off x="2437600" y="2798175"/>
            <a:ext cx="1527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6" name="Google Shape;1596;p93"/>
          <p:cNvSpPr/>
          <p:nvPr/>
        </p:nvSpPr>
        <p:spPr>
          <a:xfrm>
            <a:off x="3969539" y="2064966"/>
            <a:ext cx="738900" cy="4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unrestrict batch usage</a:t>
            </a:r>
            <a:endParaRPr sz="900"/>
          </a:p>
        </p:txBody>
      </p:sp>
      <p:sp>
        <p:nvSpPr>
          <p:cNvPr id="1597" name="Google Shape;1597;p93"/>
          <p:cNvSpPr/>
          <p:nvPr/>
        </p:nvSpPr>
        <p:spPr>
          <a:xfrm>
            <a:off x="99050" y="47532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595" name="Google Shape;1595;p93"/>
          <p:cNvSpPr/>
          <p:nvPr/>
        </p:nvSpPr>
        <p:spPr>
          <a:xfrm>
            <a:off x="2590408" y="2556057"/>
            <a:ext cx="403800" cy="493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93"/>
          <p:cNvSpPr/>
          <p:nvPr/>
        </p:nvSpPr>
        <p:spPr>
          <a:xfrm rot="-2807481">
            <a:off x="2659902" y="2665395"/>
            <a:ext cx="264658" cy="265725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93"/>
          <p:cNvSpPr/>
          <p:nvPr/>
        </p:nvSpPr>
        <p:spPr>
          <a:xfrm>
            <a:off x="3366724" y="2560489"/>
            <a:ext cx="403800" cy="493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93"/>
          <p:cNvSpPr/>
          <p:nvPr/>
        </p:nvSpPr>
        <p:spPr>
          <a:xfrm rot="-2807481">
            <a:off x="3436219" y="2669827"/>
            <a:ext cx="264658" cy="265725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1" name="Google Shape;1601;p93"/>
          <p:cNvCxnSpPr>
            <a:stCxn id="1595" idx="3"/>
            <a:endCxn id="1599" idx="1"/>
          </p:cNvCxnSpPr>
          <p:nvPr/>
        </p:nvCxnSpPr>
        <p:spPr>
          <a:xfrm>
            <a:off x="2994208" y="2802657"/>
            <a:ext cx="3726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2" name="Google Shape;1602;p93"/>
          <p:cNvSpPr txBox="1"/>
          <p:nvPr/>
        </p:nvSpPr>
        <p:spPr>
          <a:xfrm>
            <a:off x="2855638" y="2302001"/>
            <a:ext cx="6549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batch status required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3" name="Google Shape;1603;p93"/>
          <p:cNvSpPr/>
          <p:nvPr/>
        </p:nvSpPr>
        <p:spPr>
          <a:xfrm>
            <a:off x="3969539" y="2958883"/>
            <a:ext cx="738900" cy="4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restrict batch usage</a:t>
            </a:r>
            <a:endParaRPr sz="900"/>
          </a:p>
        </p:txBody>
      </p:sp>
      <p:cxnSp>
        <p:nvCxnSpPr>
          <p:cNvPr id="1604" name="Google Shape;1604;p93"/>
          <p:cNvCxnSpPr>
            <a:stCxn id="1599" idx="0"/>
            <a:endCxn id="1596" idx="1"/>
          </p:cNvCxnSpPr>
          <p:nvPr/>
        </p:nvCxnSpPr>
        <p:spPr>
          <a:xfrm rot="-5400000">
            <a:off x="3644524" y="2235589"/>
            <a:ext cx="249000" cy="400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5" name="Google Shape;1605;p93"/>
          <p:cNvCxnSpPr>
            <a:stCxn id="1599" idx="2"/>
            <a:endCxn id="1603" idx="1"/>
          </p:cNvCxnSpPr>
          <p:nvPr/>
        </p:nvCxnSpPr>
        <p:spPr>
          <a:xfrm flipH="1" rot="-5400000">
            <a:off x="3693124" y="2929189"/>
            <a:ext cx="151800" cy="400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6" name="Google Shape;1606;p93"/>
          <p:cNvSpPr/>
          <p:nvPr/>
        </p:nvSpPr>
        <p:spPr>
          <a:xfrm>
            <a:off x="4824110" y="2560489"/>
            <a:ext cx="403800" cy="493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93"/>
          <p:cNvSpPr/>
          <p:nvPr/>
        </p:nvSpPr>
        <p:spPr>
          <a:xfrm rot="-2807481">
            <a:off x="4893605" y="2669827"/>
            <a:ext cx="264658" cy="265725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8" name="Google Shape;1608;p93"/>
          <p:cNvCxnSpPr>
            <a:stCxn id="1596" idx="3"/>
            <a:endCxn id="1606" idx="0"/>
          </p:cNvCxnSpPr>
          <p:nvPr/>
        </p:nvCxnSpPr>
        <p:spPr>
          <a:xfrm>
            <a:off x="4708439" y="2311566"/>
            <a:ext cx="317700" cy="249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9" name="Google Shape;1609;p93"/>
          <p:cNvCxnSpPr>
            <a:stCxn id="1603" idx="3"/>
            <a:endCxn id="1606" idx="2"/>
          </p:cNvCxnSpPr>
          <p:nvPr/>
        </p:nvCxnSpPr>
        <p:spPr>
          <a:xfrm flipH="1" rot="10800000">
            <a:off x="4708439" y="3053683"/>
            <a:ext cx="317700" cy="151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0" name="Google Shape;1610;p93"/>
          <p:cNvSpPr/>
          <p:nvPr/>
        </p:nvSpPr>
        <p:spPr>
          <a:xfrm>
            <a:off x="5507198" y="2564921"/>
            <a:ext cx="403800" cy="493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93"/>
          <p:cNvSpPr/>
          <p:nvPr/>
        </p:nvSpPr>
        <p:spPr>
          <a:xfrm rot="-2807481">
            <a:off x="5576692" y="2674259"/>
            <a:ext cx="264658" cy="265725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2" name="Google Shape;1612;p93"/>
          <p:cNvCxnSpPr>
            <a:stCxn id="1606" idx="3"/>
            <a:endCxn id="1610" idx="1"/>
          </p:cNvCxnSpPr>
          <p:nvPr/>
        </p:nvCxnSpPr>
        <p:spPr>
          <a:xfrm>
            <a:off x="5227910" y="2807089"/>
            <a:ext cx="2793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3" name="Google Shape;1613;p93"/>
          <p:cNvCxnSpPr>
            <a:stCxn id="1610" idx="3"/>
            <a:endCxn id="1593" idx="2"/>
          </p:cNvCxnSpPr>
          <p:nvPr/>
        </p:nvCxnSpPr>
        <p:spPr>
          <a:xfrm flipH="1" rot="10800000">
            <a:off x="5910998" y="2802821"/>
            <a:ext cx="4812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4" name="Google Shape;1614;p93"/>
          <p:cNvSpPr txBox="1"/>
          <p:nvPr/>
        </p:nvSpPr>
        <p:spPr>
          <a:xfrm>
            <a:off x="2677253" y="3658440"/>
            <a:ext cx="6549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batch status not required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1615" name="Google Shape;1615;p93"/>
          <p:cNvCxnSpPr>
            <a:stCxn id="1595" idx="2"/>
            <a:endCxn id="1610" idx="2"/>
          </p:cNvCxnSpPr>
          <p:nvPr/>
        </p:nvCxnSpPr>
        <p:spPr>
          <a:xfrm flipH="1" rot="-5400000">
            <a:off x="4246258" y="1595307"/>
            <a:ext cx="9000" cy="2916900"/>
          </a:xfrm>
          <a:prstGeom prst="bentConnector3">
            <a:avLst>
              <a:gd fmla="val 651057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6" name="Google Shape;1616;p93"/>
          <p:cNvSpPr txBox="1"/>
          <p:nvPr/>
        </p:nvSpPr>
        <p:spPr>
          <a:xfrm>
            <a:off x="3469308" y="1904120"/>
            <a:ext cx="6549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unrestrict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17" name="Google Shape;1617;p93"/>
          <p:cNvSpPr txBox="1"/>
          <p:nvPr/>
        </p:nvSpPr>
        <p:spPr>
          <a:xfrm>
            <a:off x="3366663" y="3139017"/>
            <a:ext cx="6549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restrict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18" name="Google Shape;1618;p93"/>
          <p:cNvSpPr/>
          <p:nvPr/>
        </p:nvSpPr>
        <p:spPr>
          <a:xfrm>
            <a:off x="3936486" y="1773050"/>
            <a:ext cx="805200" cy="186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batch </a:t>
            </a:r>
            <a:endParaRPr sz="1000"/>
          </a:p>
        </p:txBody>
      </p:sp>
      <p:sp>
        <p:nvSpPr>
          <p:cNvPr id="1619" name="Google Shape;1619;p93"/>
          <p:cNvSpPr/>
          <p:nvPr/>
        </p:nvSpPr>
        <p:spPr>
          <a:xfrm>
            <a:off x="3936486" y="3658440"/>
            <a:ext cx="805200" cy="186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batch </a:t>
            </a:r>
            <a:endParaRPr sz="1000"/>
          </a:p>
        </p:txBody>
      </p:sp>
      <p:sp>
        <p:nvSpPr>
          <p:cNvPr id="1620" name="Google Shape;1620;p93"/>
          <p:cNvSpPr/>
          <p:nvPr/>
        </p:nvSpPr>
        <p:spPr>
          <a:xfrm>
            <a:off x="1356650" y="1475825"/>
            <a:ext cx="5986500" cy="3057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Deleted, part of establish material as batch management</a:t>
            </a:r>
            <a:endParaRPr/>
          </a:p>
        </p:txBody>
      </p:sp>
      <p:sp>
        <p:nvSpPr>
          <p:cNvPr id="1621" name="Google Shape;1621;p9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9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L-110-030: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Establish material as batch managed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Master Data Specialist - Product Data</a:t>
            </a:r>
            <a:endParaRPr sz="1520"/>
          </a:p>
        </p:txBody>
      </p:sp>
      <p:sp>
        <p:nvSpPr>
          <p:cNvPr id="1627" name="Google Shape;1627;p94"/>
          <p:cNvSpPr/>
          <p:nvPr/>
        </p:nvSpPr>
        <p:spPr>
          <a:xfrm>
            <a:off x="526775" y="2509362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establish a material as batch managed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628" name="Google Shape;1628;p94"/>
          <p:cNvSpPr/>
          <p:nvPr/>
        </p:nvSpPr>
        <p:spPr>
          <a:xfrm>
            <a:off x="6465975" y="25205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material is batch managed 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629" name="Google Shape;1629;p94"/>
          <p:cNvCxnSpPr>
            <a:stCxn id="1627" idx="6"/>
            <a:endCxn id="1630" idx="1"/>
          </p:cNvCxnSpPr>
          <p:nvPr/>
        </p:nvCxnSpPr>
        <p:spPr>
          <a:xfrm>
            <a:off x="1342775" y="2908512"/>
            <a:ext cx="16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1" name="Google Shape;1631;p94"/>
          <p:cNvSpPr/>
          <p:nvPr/>
        </p:nvSpPr>
        <p:spPr>
          <a:xfrm>
            <a:off x="5155724" y="25565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Activate batch management indicator of </a:t>
            </a:r>
            <a:r>
              <a:rPr lang="en" sz="900"/>
              <a:t>material</a:t>
            </a:r>
            <a:endParaRPr sz="900"/>
          </a:p>
        </p:txBody>
      </p:sp>
      <p:cxnSp>
        <p:nvCxnSpPr>
          <p:cNvPr id="1632" name="Google Shape;1632;p94"/>
          <p:cNvCxnSpPr>
            <a:stCxn id="1627" idx="6"/>
            <a:endCxn id="1631" idx="1"/>
          </p:cNvCxnSpPr>
          <p:nvPr/>
        </p:nvCxnSpPr>
        <p:spPr>
          <a:xfrm flipH="1" rot="10800000">
            <a:off x="1342775" y="2890512"/>
            <a:ext cx="3813000" cy="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3" name="Google Shape;1633;p94"/>
          <p:cNvCxnSpPr>
            <a:stCxn id="1631" idx="3"/>
            <a:endCxn id="1628" idx="2"/>
          </p:cNvCxnSpPr>
          <p:nvPr/>
        </p:nvCxnSpPr>
        <p:spPr>
          <a:xfrm flipH="1" rot="10800000">
            <a:off x="6222224" y="2890175"/>
            <a:ext cx="2439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4" name="Google Shape;1634;p94"/>
          <p:cNvSpPr/>
          <p:nvPr/>
        </p:nvSpPr>
        <p:spPr>
          <a:xfrm>
            <a:off x="1684487" y="25093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M-150-020: Process class (Create)</a:t>
            </a:r>
            <a:endParaRPr sz="900"/>
          </a:p>
        </p:txBody>
      </p:sp>
      <p:sp>
        <p:nvSpPr>
          <p:cNvPr id="1635" name="Google Shape;1635;p94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636" name="Google Shape;1636;p94"/>
          <p:cNvSpPr/>
          <p:nvPr/>
        </p:nvSpPr>
        <p:spPr>
          <a:xfrm>
            <a:off x="5108025" y="1371600"/>
            <a:ext cx="1161900" cy="10425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 master data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MM01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MM02</a:t>
            </a:r>
            <a:endParaRPr sz="1000"/>
          </a:p>
        </p:txBody>
      </p:sp>
      <p:sp>
        <p:nvSpPr>
          <p:cNvPr id="1637" name="Google Shape;1637;p9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1638" name="Google Shape;1638;p94"/>
          <p:cNvSpPr/>
          <p:nvPr/>
        </p:nvSpPr>
        <p:spPr>
          <a:xfrm>
            <a:off x="3249262" y="25563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M-150-040: Process class classification</a:t>
            </a:r>
            <a:endParaRPr sz="9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9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L-110-040: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Define batch Management Data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Master Data Specialist - Product Data</a:t>
            </a:r>
            <a:endParaRPr sz="1520"/>
          </a:p>
        </p:txBody>
      </p:sp>
      <p:sp>
        <p:nvSpPr>
          <p:cNvPr id="1644" name="Google Shape;1644;p95"/>
          <p:cNvSpPr/>
          <p:nvPr/>
        </p:nvSpPr>
        <p:spPr>
          <a:xfrm>
            <a:off x="371800" y="24911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establish batch </a:t>
            </a:r>
            <a:r>
              <a:rPr lang="en" sz="600">
                <a:solidFill>
                  <a:schemeClr val="dk1"/>
                </a:solidFill>
              </a:rPr>
              <a:t>characteristics</a:t>
            </a:r>
            <a:r>
              <a:rPr lang="en" sz="600">
                <a:solidFill>
                  <a:schemeClr val="dk1"/>
                </a:solidFill>
              </a:rPr>
              <a:t> and class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645" name="Google Shape;1645;p95"/>
          <p:cNvSpPr/>
          <p:nvPr/>
        </p:nvSpPr>
        <p:spPr>
          <a:xfrm>
            <a:off x="8197200" y="25205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class and batch characteristics are defined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646" name="Google Shape;1646;p95"/>
          <p:cNvCxnSpPr>
            <a:stCxn id="1644" idx="6"/>
            <a:endCxn id="1647" idx="1"/>
          </p:cNvCxnSpPr>
          <p:nvPr/>
        </p:nvCxnSpPr>
        <p:spPr>
          <a:xfrm>
            <a:off x="1187800" y="2890275"/>
            <a:ext cx="16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8" name="Google Shape;1648;p95"/>
          <p:cNvSpPr/>
          <p:nvPr/>
        </p:nvSpPr>
        <p:spPr>
          <a:xfrm>
            <a:off x="1357299" y="25565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</a:t>
            </a:r>
            <a:r>
              <a:rPr lang="en" sz="900"/>
              <a:t>M-150-020: Process class (Create)</a:t>
            </a:r>
            <a:endParaRPr sz="900"/>
          </a:p>
        </p:txBody>
      </p:sp>
      <p:cxnSp>
        <p:nvCxnSpPr>
          <p:cNvPr id="1649" name="Google Shape;1649;p95"/>
          <p:cNvCxnSpPr>
            <a:stCxn id="1650" idx="3"/>
            <a:endCxn id="1648" idx="1"/>
          </p:cNvCxnSpPr>
          <p:nvPr/>
        </p:nvCxnSpPr>
        <p:spPr>
          <a:xfrm>
            <a:off x="1294299" y="2890475"/>
            <a:ext cx="6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1" name="Google Shape;1651;p95"/>
          <p:cNvCxnSpPr>
            <a:stCxn id="1648" idx="3"/>
            <a:endCxn id="1645" idx="2"/>
          </p:cNvCxnSpPr>
          <p:nvPr/>
        </p:nvCxnSpPr>
        <p:spPr>
          <a:xfrm flipH="1" rot="10800000">
            <a:off x="2423799" y="2890175"/>
            <a:ext cx="57735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2" name="Google Shape;1652;p95"/>
          <p:cNvSpPr/>
          <p:nvPr/>
        </p:nvSpPr>
        <p:spPr>
          <a:xfrm>
            <a:off x="3921887" y="25565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</a:t>
            </a:r>
            <a:r>
              <a:rPr lang="en" sz="900"/>
              <a:t>L-110-070: Establish Batch Determination</a:t>
            </a:r>
            <a:endParaRPr sz="900"/>
          </a:p>
        </p:txBody>
      </p:sp>
      <p:sp>
        <p:nvSpPr>
          <p:cNvPr id="1653" name="Google Shape;1653;p95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654" name="Google Shape;1654;p95"/>
          <p:cNvSpPr/>
          <p:nvPr/>
        </p:nvSpPr>
        <p:spPr>
          <a:xfrm>
            <a:off x="5401912" y="25563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</a:t>
            </a:r>
            <a:r>
              <a:rPr lang="en" sz="900"/>
              <a:t>L-110-140: Activate Batch Derivation</a:t>
            </a:r>
            <a:endParaRPr sz="900"/>
          </a:p>
        </p:txBody>
      </p:sp>
      <p:sp>
        <p:nvSpPr>
          <p:cNvPr id="1655" name="Google Shape;1655;p95"/>
          <p:cNvSpPr/>
          <p:nvPr/>
        </p:nvSpPr>
        <p:spPr>
          <a:xfrm>
            <a:off x="6820387" y="25565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Activate shelf life expiry date</a:t>
            </a:r>
            <a:endParaRPr sz="900"/>
          </a:p>
        </p:txBody>
      </p:sp>
      <p:sp>
        <p:nvSpPr>
          <p:cNvPr id="1656" name="Google Shape;1656;p9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1657" name="Google Shape;1657;p95"/>
          <p:cNvSpPr/>
          <p:nvPr/>
        </p:nvSpPr>
        <p:spPr>
          <a:xfrm>
            <a:off x="2505674" y="25565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</a:t>
            </a:r>
            <a:r>
              <a:rPr lang="en" sz="900"/>
              <a:t>: M-150-040: Process material classification</a:t>
            </a:r>
            <a:endParaRPr sz="9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9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L-110-050: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Establish batch numbering    (</a:t>
            </a:r>
            <a:r>
              <a:rPr lang="en" sz="1520">
                <a:solidFill>
                  <a:schemeClr val="dk2"/>
                </a:solidFill>
              </a:rPr>
              <a:t>1/2</a:t>
            </a:r>
            <a:r>
              <a:rPr lang="en" sz="1520">
                <a:solidFill>
                  <a:schemeClr val="dk2"/>
                </a:solidFill>
              </a:rPr>
              <a:t>)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r>
              <a:rPr lang="en" sz="1520"/>
              <a:t>Production Supervisor - Procurement</a:t>
            </a:r>
            <a:endParaRPr sz="1520"/>
          </a:p>
        </p:txBody>
      </p:sp>
      <p:sp>
        <p:nvSpPr>
          <p:cNvPr id="1663" name="Google Shape;1663;p96"/>
          <p:cNvSpPr/>
          <p:nvPr/>
        </p:nvSpPr>
        <p:spPr>
          <a:xfrm>
            <a:off x="91600" y="23353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establish batch numbering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664" name="Google Shape;1664;p96"/>
          <p:cNvSpPr/>
          <p:nvPr/>
        </p:nvSpPr>
        <p:spPr>
          <a:xfrm>
            <a:off x="8024100" y="25388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batch numbering established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665" name="Google Shape;1665;p96"/>
          <p:cNvSpPr/>
          <p:nvPr/>
        </p:nvSpPr>
        <p:spPr>
          <a:xfrm>
            <a:off x="1024254" y="2407175"/>
            <a:ext cx="3318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96"/>
          <p:cNvSpPr/>
          <p:nvPr/>
        </p:nvSpPr>
        <p:spPr>
          <a:xfrm>
            <a:off x="1084822" y="2541259"/>
            <a:ext cx="210600" cy="399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96"/>
          <p:cNvSpPr/>
          <p:nvPr/>
        </p:nvSpPr>
        <p:spPr>
          <a:xfrm>
            <a:off x="5672108" y="2532150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96"/>
          <p:cNvSpPr/>
          <p:nvPr/>
        </p:nvSpPr>
        <p:spPr>
          <a:xfrm>
            <a:off x="5793245" y="2668885"/>
            <a:ext cx="4209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9" name="Google Shape;1669;p96"/>
          <p:cNvCxnSpPr>
            <a:stCxn id="1670" idx="3"/>
            <a:endCxn id="1667" idx="0"/>
          </p:cNvCxnSpPr>
          <p:nvPr/>
        </p:nvCxnSpPr>
        <p:spPr>
          <a:xfrm>
            <a:off x="4012449" y="2204100"/>
            <a:ext cx="1991400" cy="328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1" name="Google Shape;1671;p96"/>
          <p:cNvCxnSpPr>
            <a:stCxn id="1672" idx="3"/>
            <a:endCxn id="1667" idx="2"/>
          </p:cNvCxnSpPr>
          <p:nvPr/>
        </p:nvCxnSpPr>
        <p:spPr>
          <a:xfrm flipH="1" rot="10800000">
            <a:off x="4042799" y="3213225"/>
            <a:ext cx="1961100" cy="150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3" name="Google Shape;1673;p96"/>
          <p:cNvCxnSpPr>
            <a:stCxn id="1667" idx="3"/>
            <a:endCxn id="1664" idx="2"/>
          </p:cNvCxnSpPr>
          <p:nvPr/>
        </p:nvCxnSpPr>
        <p:spPr>
          <a:xfrm>
            <a:off x="6335408" y="2872650"/>
            <a:ext cx="1688700" cy="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4" name="Google Shape;1674;p96"/>
          <p:cNvSpPr txBox="1"/>
          <p:nvPr/>
        </p:nvSpPr>
        <p:spPr>
          <a:xfrm>
            <a:off x="414069" y="1843550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Condition:Manual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75" name="Google Shape;1675;p96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676" name="Google Shape;1676;p96"/>
          <p:cNvSpPr/>
          <p:nvPr/>
        </p:nvSpPr>
        <p:spPr>
          <a:xfrm>
            <a:off x="3762300" y="840650"/>
            <a:ext cx="49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VL31</a:t>
            </a:r>
            <a:endParaRPr sz="700"/>
          </a:p>
        </p:txBody>
      </p:sp>
      <p:sp>
        <p:nvSpPr>
          <p:cNvPr id="1677" name="Google Shape;1677;p96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1678" name="Google Shape;1678;p96"/>
          <p:cNvSpPr/>
          <p:nvPr/>
        </p:nvSpPr>
        <p:spPr>
          <a:xfrm>
            <a:off x="1356054" y="1739375"/>
            <a:ext cx="3318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96"/>
          <p:cNvSpPr/>
          <p:nvPr/>
        </p:nvSpPr>
        <p:spPr>
          <a:xfrm>
            <a:off x="1416622" y="1873459"/>
            <a:ext cx="210600" cy="399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96"/>
          <p:cNvSpPr txBox="1"/>
          <p:nvPr/>
        </p:nvSpPr>
        <p:spPr>
          <a:xfrm>
            <a:off x="1356044" y="867800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Inbound Delivery Creation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81" name="Google Shape;1681;p96"/>
          <p:cNvSpPr txBox="1"/>
          <p:nvPr/>
        </p:nvSpPr>
        <p:spPr>
          <a:xfrm>
            <a:off x="1591994" y="1370625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Goods Receipt Declaration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82" name="Google Shape;1682;p96"/>
          <p:cNvSpPr txBox="1"/>
          <p:nvPr/>
        </p:nvSpPr>
        <p:spPr>
          <a:xfrm>
            <a:off x="1600056" y="1752088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Creation of Process order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83" name="Google Shape;1683;p96"/>
          <p:cNvSpPr txBox="1"/>
          <p:nvPr/>
        </p:nvSpPr>
        <p:spPr>
          <a:xfrm>
            <a:off x="1503006" y="2444275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Release </a:t>
            </a:r>
            <a:r>
              <a:rPr lang="en" sz="800">
                <a:solidFill>
                  <a:schemeClr val="dk2"/>
                </a:solidFill>
              </a:rPr>
              <a:t>of Process order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84" name="Google Shape;1684;p96"/>
          <p:cNvSpPr txBox="1"/>
          <p:nvPr/>
        </p:nvSpPr>
        <p:spPr>
          <a:xfrm>
            <a:off x="1538169" y="2872650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Repetitive manufacturing declaration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85" name="Google Shape;1685;p96"/>
          <p:cNvSpPr txBox="1"/>
          <p:nvPr/>
        </p:nvSpPr>
        <p:spPr>
          <a:xfrm>
            <a:off x="1463119" y="3535525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Internal Transfer: Batch to Batch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86" name="Google Shape;1686;p96"/>
          <p:cNvSpPr txBox="1"/>
          <p:nvPr/>
        </p:nvSpPr>
        <p:spPr>
          <a:xfrm>
            <a:off x="1502994" y="3959075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Usage Decision from QM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87" name="Google Shape;1687;p96"/>
          <p:cNvSpPr txBox="1"/>
          <p:nvPr/>
        </p:nvSpPr>
        <p:spPr>
          <a:xfrm>
            <a:off x="1538175" y="4500550"/>
            <a:ext cx="1124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No Link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88" name="Google Shape;1688;p96"/>
          <p:cNvSpPr/>
          <p:nvPr/>
        </p:nvSpPr>
        <p:spPr>
          <a:xfrm>
            <a:off x="2786049" y="10127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Batch</a:t>
            </a:r>
            <a:endParaRPr sz="700"/>
          </a:p>
        </p:txBody>
      </p:sp>
      <p:sp>
        <p:nvSpPr>
          <p:cNvPr id="1689" name="Google Shape;1689;p96"/>
          <p:cNvSpPr/>
          <p:nvPr/>
        </p:nvSpPr>
        <p:spPr>
          <a:xfrm>
            <a:off x="2786049" y="15300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Batch</a:t>
            </a:r>
            <a:endParaRPr sz="700"/>
          </a:p>
        </p:txBody>
      </p:sp>
      <p:sp>
        <p:nvSpPr>
          <p:cNvPr id="1670" name="Google Shape;1670;p96"/>
          <p:cNvSpPr/>
          <p:nvPr/>
        </p:nvSpPr>
        <p:spPr>
          <a:xfrm>
            <a:off x="2786049" y="20473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Batch</a:t>
            </a:r>
            <a:endParaRPr sz="700"/>
          </a:p>
        </p:txBody>
      </p:sp>
      <p:sp>
        <p:nvSpPr>
          <p:cNvPr id="1690" name="Google Shape;1690;p96"/>
          <p:cNvSpPr/>
          <p:nvPr/>
        </p:nvSpPr>
        <p:spPr>
          <a:xfrm>
            <a:off x="2774074" y="25646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Batch</a:t>
            </a:r>
            <a:endParaRPr sz="700"/>
          </a:p>
        </p:txBody>
      </p:sp>
      <p:sp>
        <p:nvSpPr>
          <p:cNvPr id="1691" name="Google Shape;1691;p96"/>
          <p:cNvSpPr/>
          <p:nvPr/>
        </p:nvSpPr>
        <p:spPr>
          <a:xfrm>
            <a:off x="2786049" y="30819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Batch</a:t>
            </a:r>
            <a:endParaRPr sz="700"/>
          </a:p>
        </p:txBody>
      </p:sp>
      <p:sp>
        <p:nvSpPr>
          <p:cNvPr id="1692" name="Google Shape;1692;p96"/>
          <p:cNvSpPr/>
          <p:nvPr/>
        </p:nvSpPr>
        <p:spPr>
          <a:xfrm>
            <a:off x="2816399" y="35992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Batch</a:t>
            </a:r>
            <a:endParaRPr sz="700"/>
          </a:p>
        </p:txBody>
      </p:sp>
      <p:sp>
        <p:nvSpPr>
          <p:cNvPr id="1693" name="Google Shape;1693;p96"/>
          <p:cNvSpPr/>
          <p:nvPr/>
        </p:nvSpPr>
        <p:spPr>
          <a:xfrm>
            <a:off x="2816399" y="4053675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Batch</a:t>
            </a:r>
            <a:endParaRPr sz="700"/>
          </a:p>
        </p:txBody>
      </p:sp>
      <p:sp>
        <p:nvSpPr>
          <p:cNvPr id="1672" name="Google Shape;1672;p96"/>
          <p:cNvSpPr/>
          <p:nvPr/>
        </p:nvSpPr>
        <p:spPr>
          <a:xfrm>
            <a:off x="2816399" y="4564575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Batch</a:t>
            </a:r>
            <a:endParaRPr sz="700"/>
          </a:p>
        </p:txBody>
      </p:sp>
      <p:sp>
        <p:nvSpPr>
          <p:cNvPr id="1694" name="Google Shape;1694;p96"/>
          <p:cNvSpPr/>
          <p:nvPr/>
        </p:nvSpPr>
        <p:spPr>
          <a:xfrm>
            <a:off x="6848108" y="2550150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96"/>
          <p:cNvSpPr/>
          <p:nvPr/>
        </p:nvSpPr>
        <p:spPr>
          <a:xfrm>
            <a:off x="6969245" y="2686885"/>
            <a:ext cx="4209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6" name="Google Shape;1696;p96"/>
          <p:cNvCxnSpPr>
            <a:stCxn id="1689" idx="3"/>
            <a:endCxn id="1667" idx="0"/>
          </p:cNvCxnSpPr>
          <p:nvPr/>
        </p:nvCxnSpPr>
        <p:spPr>
          <a:xfrm>
            <a:off x="4012449" y="1686800"/>
            <a:ext cx="1991400" cy="84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7" name="Google Shape;1697;p96"/>
          <p:cNvCxnSpPr>
            <a:stCxn id="1688" idx="3"/>
            <a:endCxn id="1667" idx="0"/>
          </p:cNvCxnSpPr>
          <p:nvPr/>
        </p:nvCxnSpPr>
        <p:spPr>
          <a:xfrm>
            <a:off x="4012449" y="1169500"/>
            <a:ext cx="1991400" cy="1362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8" name="Google Shape;1698;p96"/>
          <p:cNvCxnSpPr>
            <a:stCxn id="1690" idx="3"/>
            <a:endCxn id="1667" idx="1"/>
          </p:cNvCxnSpPr>
          <p:nvPr/>
        </p:nvCxnSpPr>
        <p:spPr>
          <a:xfrm>
            <a:off x="4000474" y="2721400"/>
            <a:ext cx="1671600" cy="1512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9" name="Google Shape;1699;p96"/>
          <p:cNvCxnSpPr>
            <a:stCxn id="1691" idx="3"/>
            <a:endCxn id="1667" idx="1"/>
          </p:cNvCxnSpPr>
          <p:nvPr/>
        </p:nvCxnSpPr>
        <p:spPr>
          <a:xfrm flipH="1" rot="10800000">
            <a:off x="4012449" y="2872700"/>
            <a:ext cx="1659600" cy="3660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0" name="Google Shape;1700;p96"/>
          <p:cNvCxnSpPr>
            <a:stCxn id="1692" idx="3"/>
            <a:endCxn id="1667" idx="2"/>
          </p:cNvCxnSpPr>
          <p:nvPr/>
        </p:nvCxnSpPr>
        <p:spPr>
          <a:xfrm flipH="1" rot="10800000">
            <a:off x="4042799" y="3213300"/>
            <a:ext cx="1961100" cy="54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1" name="Google Shape;1701;p96"/>
          <p:cNvCxnSpPr>
            <a:stCxn id="1693" idx="3"/>
            <a:endCxn id="1667" idx="2"/>
          </p:cNvCxnSpPr>
          <p:nvPr/>
        </p:nvCxnSpPr>
        <p:spPr>
          <a:xfrm flipH="1" rot="10800000">
            <a:off x="4042799" y="3213225"/>
            <a:ext cx="1961100" cy="99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2" name="Google Shape;1702;p96"/>
          <p:cNvCxnSpPr>
            <a:stCxn id="1678" idx="2"/>
            <a:endCxn id="1672" idx="1"/>
          </p:cNvCxnSpPr>
          <p:nvPr/>
        </p:nvCxnSpPr>
        <p:spPr>
          <a:xfrm flipH="1" rot="-5400000">
            <a:off x="1012104" y="2917025"/>
            <a:ext cx="2314200" cy="1294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3" name="Google Shape;1703;p96"/>
          <p:cNvCxnSpPr>
            <a:stCxn id="1678" idx="2"/>
            <a:endCxn id="1693" idx="1"/>
          </p:cNvCxnSpPr>
          <p:nvPr/>
        </p:nvCxnSpPr>
        <p:spPr>
          <a:xfrm flipH="1" rot="-5400000">
            <a:off x="1267554" y="2661575"/>
            <a:ext cx="1803300" cy="1294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4" name="Google Shape;1704;p96"/>
          <p:cNvCxnSpPr>
            <a:stCxn id="1678" idx="2"/>
            <a:endCxn id="1692" idx="1"/>
          </p:cNvCxnSpPr>
          <p:nvPr/>
        </p:nvCxnSpPr>
        <p:spPr>
          <a:xfrm flipH="1" rot="-5400000">
            <a:off x="1494804" y="2434325"/>
            <a:ext cx="1348800" cy="1294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5" name="Google Shape;1705;p96"/>
          <p:cNvCxnSpPr>
            <a:stCxn id="1678" idx="2"/>
            <a:endCxn id="1691" idx="1"/>
          </p:cNvCxnSpPr>
          <p:nvPr/>
        </p:nvCxnSpPr>
        <p:spPr>
          <a:xfrm flipH="1" rot="-5400000">
            <a:off x="1738254" y="2190875"/>
            <a:ext cx="831600" cy="126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6" name="Google Shape;1706;p96"/>
          <p:cNvCxnSpPr>
            <a:stCxn id="1678" idx="3"/>
            <a:endCxn id="1690" idx="1"/>
          </p:cNvCxnSpPr>
          <p:nvPr/>
        </p:nvCxnSpPr>
        <p:spPr>
          <a:xfrm>
            <a:off x="1687854" y="2073275"/>
            <a:ext cx="1086300" cy="6480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7" name="Google Shape;1707;p96"/>
          <p:cNvCxnSpPr>
            <a:stCxn id="1678" idx="3"/>
            <a:endCxn id="1670" idx="1"/>
          </p:cNvCxnSpPr>
          <p:nvPr/>
        </p:nvCxnSpPr>
        <p:spPr>
          <a:xfrm>
            <a:off x="1687854" y="2073275"/>
            <a:ext cx="1098300" cy="1308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8" name="Google Shape;1708;p96"/>
          <p:cNvCxnSpPr>
            <a:stCxn id="1678" idx="0"/>
            <a:endCxn id="1689" idx="1"/>
          </p:cNvCxnSpPr>
          <p:nvPr/>
        </p:nvCxnSpPr>
        <p:spPr>
          <a:xfrm rot="-5400000">
            <a:off x="2127804" y="1081025"/>
            <a:ext cx="52500" cy="126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9" name="Google Shape;1709;p96"/>
          <p:cNvCxnSpPr>
            <a:stCxn id="1678" idx="0"/>
            <a:endCxn id="1688" idx="1"/>
          </p:cNvCxnSpPr>
          <p:nvPr/>
        </p:nvCxnSpPr>
        <p:spPr>
          <a:xfrm rot="-5400000">
            <a:off x="1869054" y="822275"/>
            <a:ext cx="570000" cy="126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0" name="Google Shape;1710;p96"/>
          <p:cNvCxnSpPr>
            <a:stCxn id="1665" idx="0"/>
            <a:endCxn id="1678" idx="1"/>
          </p:cNvCxnSpPr>
          <p:nvPr/>
        </p:nvCxnSpPr>
        <p:spPr>
          <a:xfrm rot="-5400000">
            <a:off x="1106154" y="2157275"/>
            <a:ext cx="333900" cy="16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1" name="Google Shape;1711;p96"/>
          <p:cNvCxnSpPr>
            <a:stCxn id="1663" idx="6"/>
            <a:endCxn id="1665" idx="1"/>
          </p:cNvCxnSpPr>
          <p:nvPr/>
        </p:nvCxnSpPr>
        <p:spPr>
          <a:xfrm>
            <a:off x="907600" y="2734475"/>
            <a:ext cx="1167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2" name="Google Shape;1712;p96"/>
          <p:cNvSpPr/>
          <p:nvPr/>
        </p:nvSpPr>
        <p:spPr>
          <a:xfrm>
            <a:off x="3881475" y="1380675"/>
            <a:ext cx="49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MIGO</a:t>
            </a:r>
            <a:endParaRPr sz="700"/>
          </a:p>
        </p:txBody>
      </p:sp>
      <p:sp>
        <p:nvSpPr>
          <p:cNvPr id="1713" name="Google Shape;1713;p96"/>
          <p:cNvSpPr/>
          <p:nvPr/>
        </p:nvSpPr>
        <p:spPr>
          <a:xfrm>
            <a:off x="3881475" y="1919850"/>
            <a:ext cx="1264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COR1, manage process orders</a:t>
            </a:r>
            <a:endParaRPr sz="700"/>
          </a:p>
        </p:txBody>
      </p:sp>
      <p:sp>
        <p:nvSpPr>
          <p:cNvPr id="1714" name="Google Shape;1714;p96"/>
          <p:cNvSpPr/>
          <p:nvPr/>
        </p:nvSpPr>
        <p:spPr>
          <a:xfrm>
            <a:off x="3833750" y="2396275"/>
            <a:ext cx="1264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COR2, manage process orders</a:t>
            </a:r>
            <a:endParaRPr sz="700"/>
          </a:p>
        </p:txBody>
      </p:sp>
      <p:sp>
        <p:nvSpPr>
          <p:cNvPr id="1715" name="Google Shape;1715;p96"/>
          <p:cNvSpPr/>
          <p:nvPr/>
        </p:nvSpPr>
        <p:spPr>
          <a:xfrm>
            <a:off x="3833750" y="2997775"/>
            <a:ext cx="49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MF50</a:t>
            </a:r>
            <a:endParaRPr sz="700"/>
          </a:p>
        </p:txBody>
      </p:sp>
      <p:sp>
        <p:nvSpPr>
          <p:cNvPr id="1716" name="Google Shape;1716;p96"/>
          <p:cNvSpPr/>
          <p:nvPr/>
        </p:nvSpPr>
        <p:spPr>
          <a:xfrm>
            <a:off x="4000475" y="3520338"/>
            <a:ext cx="49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MIGO</a:t>
            </a:r>
            <a:endParaRPr sz="700"/>
          </a:p>
        </p:txBody>
      </p:sp>
      <p:sp>
        <p:nvSpPr>
          <p:cNvPr id="1717" name="Google Shape;1717;p96"/>
          <p:cNvSpPr/>
          <p:nvPr/>
        </p:nvSpPr>
        <p:spPr>
          <a:xfrm>
            <a:off x="3940225" y="3945088"/>
            <a:ext cx="49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QA11</a:t>
            </a:r>
            <a:endParaRPr sz="700"/>
          </a:p>
        </p:txBody>
      </p:sp>
      <p:sp>
        <p:nvSpPr>
          <p:cNvPr id="1718" name="Google Shape;1718;p96"/>
          <p:cNvSpPr/>
          <p:nvPr/>
        </p:nvSpPr>
        <p:spPr>
          <a:xfrm>
            <a:off x="4000475" y="4414238"/>
            <a:ext cx="49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MSC1N</a:t>
            </a:r>
            <a:endParaRPr sz="7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9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L-110-050: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Establish batch numbering    (2/2)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Supervisor - Procurement</a:t>
            </a:r>
            <a:endParaRPr sz="1520"/>
          </a:p>
        </p:txBody>
      </p:sp>
      <p:sp>
        <p:nvSpPr>
          <p:cNvPr id="1724" name="Google Shape;1724;p97"/>
          <p:cNvSpPr/>
          <p:nvPr/>
        </p:nvSpPr>
        <p:spPr>
          <a:xfrm>
            <a:off x="91600" y="23353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establish batch numbering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725" name="Google Shape;1725;p97"/>
          <p:cNvSpPr/>
          <p:nvPr/>
        </p:nvSpPr>
        <p:spPr>
          <a:xfrm>
            <a:off x="8024100" y="25388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batch numbering established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726" name="Google Shape;1726;p97"/>
          <p:cNvSpPr/>
          <p:nvPr/>
        </p:nvSpPr>
        <p:spPr>
          <a:xfrm>
            <a:off x="1024254" y="2407175"/>
            <a:ext cx="3318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97"/>
          <p:cNvSpPr/>
          <p:nvPr/>
        </p:nvSpPr>
        <p:spPr>
          <a:xfrm>
            <a:off x="1084822" y="2541259"/>
            <a:ext cx="210600" cy="399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97"/>
          <p:cNvSpPr/>
          <p:nvPr/>
        </p:nvSpPr>
        <p:spPr>
          <a:xfrm>
            <a:off x="5672108" y="2532150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97"/>
          <p:cNvSpPr/>
          <p:nvPr/>
        </p:nvSpPr>
        <p:spPr>
          <a:xfrm>
            <a:off x="5793245" y="2668885"/>
            <a:ext cx="4209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0" name="Google Shape;1730;p97"/>
          <p:cNvCxnSpPr>
            <a:stCxn id="1731" idx="3"/>
            <a:endCxn id="1728" idx="0"/>
          </p:cNvCxnSpPr>
          <p:nvPr/>
        </p:nvCxnSpPr>
        <p:spPr>
          <a:xfrm>
            <a:off x="4012449" y="2204100"/>
            <a:ext cx="1991400" cy="328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2" name="Google Shape;1732;p97"/>
          <p:cNvCxnSpPr>
            <a:stCxn id="1733" idx="3"/>
            <a:endCxn id="1728" idx="2"/>
          </p:cNvCxnSpPr>
          <p:nvPr/>
        </p:nvCxnSpPr>
        <p:spPr>
          <a:xfrm flipH="1" rot="10800000">
            <a:off x="4042799" y="3213225"/>
            <a:ext cx="1961100" cy="150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4" name="Google Shape;1734;p97"/>
          <p:cNvCxnSpPr>
            <a:stCxn id="1728" idx="3"/>
            <a:endCxn id="1725" idx="2"/>
          </p:cNvCxnSpPr>
          <p:nvPr/>
        </p:nvCxnSpPr>
        <p:spPr>
          <a:xfrm>
            <a:off x="6335408" y="2872650"/>
            <a:ext cx="1688700" cy="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5" name="Google Shape;1735;p97"/>
          <p:cNvSpPr txBox="1"/>
          <p:nvPr/>
        </p:nvSpPr>
        <p:spPr>
          <a:xfrm>
            <a:off x="414069" y="1843550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Condition:Manual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36" name="Google Shape;1736;p97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737" name="Google Shape;1737;p9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1738" name="Google Shape;1738;p97"/>
          <p:cNvSpPr/>
          <p:nvPr/>
        </p:nvSpPr>
        <p:spPr>
          <a:xfrm>
            <a:off x="1356054" y="1739375"/>
            <a:ext cx="3318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97"/>
          <p:cNvSpPr/>
          <p:nvPr/>
        </p:nvSpPr>
        <p:spPr>
          <a:xfrm>
            <a:off x="1416622" y="1873459"/>
            <a:ext cx="210600" cy="399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97"/>
          <p:cNvSpPr txBox="1"/>
          <p:nvPr/>
        </p:nvSpPr>
        <p:spPr>
          <a:xfrm>
            <a:off x="1356044" y="867800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Inbound Delivery Creation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41" name="Google Shape;1741;p97"/>
          <p:cNvSpPr txBox="1"/>
          <p:nvPr/>
        </p:nvSpPr>
        <p:spPr>
          <a:xfrm>
            <a:off x="1591994" y="1370625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Goods Receipt Declaration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42" name="Google Shape;1742;p97"/>
          <p:cNvSpPr txBox="1"/>
          <p:nvPr/>
        </p:nvSpPr>
        <p:spPr>
          <a:xfrm>
            <a:off x="1600056" y="1752088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Creation of Process order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43" name="Google Shape;1743;p97"/>
          <p:cNvSpPr txBox="1"/>
          <p:nvPr/>
        </p:nvSpPr>
        <p:spPr>
          <a:xfrm>
            <a:off x="1503006" y="2444275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Release of Process order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44" name="Google Shape;1744;p97"/>
          <p:cNvSpPr txBox="1"/>
          <p:nvPr/>
        </p:nvSpPr>
        <p:spPr>
          <a:xfrm>
            <a:off x="1538169" y="2872650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Repetitive manufacturing declaration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45" name="Google Shape;1745;p97"/>
          <p:cNvSpPr txBox="1"/>
          <p:nvPr/>
        </p:nvSpPr>
        <p:spPr>
          <a:xfrm>
            <a:off x="1463119" y="3535525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Internal Transfer: Batch to Batch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46" name="Google Shape;1746;p97"/>
          <p:cNvSpPr txBox="1"/>
          <p:nvPr/>
        </p:nvSpPr>
        <p:spPr>
          <a:xfrm>
            <a:off x="1502994" y="3959075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Usage Decision from QM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47" name="Google Shape;1747;p97"/>
          <p:cNvSpPr txBox="1"/>
          <p:nvPr/>
        </p:nvSpPr>
        <p:spPr>
          <a:xfrm>
            <a:off x="1538175" y="4500550"/>
            <a:ext cx="1124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No Link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48" name="Google Shape;1748;p97"/>
          <p:cNvSpPr/>
          <p:nvPr/>
        </p:nvSpPr>
        <p:spPr>
          <a:xfrm>
            <a:off x="2786049" y="10127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Batch automatic</a:t>
            </a:r>
            <a:endParaRPr sz="700"/>
          </a:p>
        </p:txBody>
      </p:sp>
      <p:sp>
        <p:nvSpPr>
          <p:cNvPr id="1749" name="Google Shape;1749;p97"/>
          <p:cNvSpPr/>
          <p:nvPr/>
        </p:nvSpPr>
        <p:spPr>
          <a:xfrm>
            <a:off x="2786049" y="15300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Task: Create Batch automatic</a:t>
            </a:r>
            <a:endParaRPr sz="700"/>
          </a:p>
        </p:txBody>
      </p:sp>
      <p:sp>
        <p:nvSpPr>
          <p:cNvPr id="1731" name="Google Shape;1731;p97"/>
          <p:cNvSpPr/>
          <p:nvPr/>
        </p:nvSpPr>
        <p:spPr>
          <a:xfrm>
            <a:off x="2786049" y="20473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Task: Create Batch automatic</a:t>
            </a:r>
            <a:endParaRPr sz="700"/>
          </a:p>
        </p:txBody>
      </p:sp>
      <p:sp>
        <p:nvSpPr>
          <p:cNvPr id="1750" name="Google Shape;1750;p97"/>
          <p:cNvSpPr/>
          <p:nvPr/>
        </p:nvSpPr>
        <p:spPr>
          <a:xfrm>
            <a:off x="2774074" y="25646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Task: Create Batch automatic</a:t>
            </a:r>
            <a:endParaRPr sz="700"/>
          </a:p>
        </p:txBody>
      </p:sp>
      <p:sp>
        <p:nvSpPr>
          <p:cNvPr id="1751" name="Google Shape;1751;p97"/>
          <p:cNvSpPr/>
          <p:nvPr/>
        </p:nvSpPr>
        <p:spPr>
          <a:xfrm>
            <a:off x="2786049" y="30819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Task: Create Batch automatic</a:t>
            </a:r>
            <a:endParaRPr sz="700"/>
          </a:p>
        </p:txBody>
      </p:sp>
      <p:sp>
        <p:nvSpPr>
          <p:cNvPr id="1752" name="Google Shape;1752;p97"/>
          <p:cNvSpPr/>
          <p:nvPr/>
        </p:nvSpPr>
        <p:spPr>
          <a:xfrm>
            <a:off x="2816399" y="3599250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Task: Create Batch automatic</a:t>
            </a:r>
            <a:endParaRPr sz="700"/>
          </a:p>
        </p:txBody>
      </p:sp>
      <p:sp>
        <p:nvSpPr>
          <p:cNvPr id="1753" name="Google Shape;1753;p97"/>
          <p:cNvSpPr/>
          <p:nvPr/>
        </p:nvSpPr>
        <p:spPr>
          <a:xfrm>
            <a:off x="2816399" y="4053675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Task: Create Batch automatic</a:t>
            </a:r>
            <a:endParaRPr sz="700"/>
          </a:p>
        </p:txBody>
      </p:sp>
      <p:sp>
        <p:nvSpPr>
          <p:cNvPr id="1733" name="Google Shape;1733;p97"/>
          <p:cNvSpPr/>
          <p:nvPr/>
        </p:nvSpPr>
        <p:spPr>
          <a:xfrm>
            <a:off x="2816399" y="4564575"/>
            <a:ext cx="1226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Task: Create Batch automatic</a:t>
            </a:r>
            <a:endParaRPr sz="700"/>
          </a:p>
        </p:txBody>
      </p:sp>
      <p:sp>
        <p:nvSpPr>
          <p:cNvPr id="1754" name="Google Shape;1754;p97"/>
          <p:cNvSpPr/>
          <p:nvPr/>
        </p:nvSpPr>
        <p:spPr>
          <a:xfrm>
            <a:off x="6848108" y="2550150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97"/>
          <p:cNvSpPr/>
          <p:nvPr/>
        </p:nvSpPr>
        <p:spPr>
          <a:xfrm>
            <a:off x="6969245" y="2686885"/>
            <a:ext cx="4209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6" name="Google Shape;1756;p97"/>
          <p:cNvCxnSpPr>
            <a:stCxn id="1749" idx="3"/>
            <a:endCxn id="1728" idx="0"/>
          </p:cNvCxnSpPr>
          <p:nvPr/>
        </p:nvCxnSpPr>
        <p:spPr>
          <a:xfrm>
            <a:off x="4012449" y="1686800"/>
            <a:ext cx="1991400" cy="84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7" name="Google Shape;1757;p97"/>
          <p:cNvCxnSpPr>
            <a:stCxn id="1748" idx="3"/>
            <a:endCxn id="1728" idx="0"/>
          </p:cNvCxnSpPr>
          <p:nvPr/>
        </p:nvCxnSpPr>
        <p:spPr>
          <a:xfrm>
            <a:off x="4012449" y="1169500"/>
            <a:ext cx="1991400" cy="1362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8" name="Google Shape;1758;p97"/>
          <p:cNvCxnSpPr>
            <a:stCxn id="1750" idx="3"/>
            <a:endCxn id="1728" idx="1"/>
          </p:cNvCxnSpPr>
          <p:nvPr/>
        </p:nvCxnSpPr>
        <p:spPr>
          <a:xfrm>
            <a:off x="4000474" y="2721400"/>
            <a:ext cx="1671600" cy="1512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9" name="Google Shape;1759;p97"/>
          <p:cNvCxnSpPr>
            <a:stCxn id="1751" idx="3"/>
            <a:endCxn id="1728" idx="1"/>
          </p:cNvCxnSpPr>
          <p:nvPr/>
        </p:nvCxnSpPr>
        <p:spPr>
          <a:xfrm flipH="1" rot="10800000">
            <a:off x="4012449" y="2872700"/>
            <a:ext cx="1659600" cy="3660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0" name="Google Shape;1760;p97"/>
          <p:cNvCxnSpPr>
            <a:stCxn id="1752" idx="3"/>
            <a:endCxn id="1728" idx="2"/>
          </p:cNvCxnSpPr>
          <p:nvPr/>
        </p:nvCxnSpPr>
        <p:spPr>
          <a:xfrm flipH="1" rot="10800000">
            <a:off x="4042799" y="3213300"/>
            <a:ext cx="1961100" cy="54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1" name="Google Shape;1761;p97"/>
          <p:cNvCxnSpPr>
            <a:stCxn id="1753" idx="3"/>
            <a:endCxn id="1728" idx="2"/>
          </p:cNvCxnSpPr>
          <p:nvPr/>
        </p:nvCxnSpPr>
        <p:spPr>
          <a:xfrm flipH="1" rot="10800000">
            <a:off x="4042799" y="3213225"/>
            <a:ext cx="1961100" cy="99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2" name="Google Shape;1762;p97"/>
          <p:cNvCxnSpPr>
            <a:stCxn id="1738" idx="2"/>
            <a:endCxn id="1733" idx="1"/>
          </p:cNvCxnSpPr>
          <p:nvPr/>
        </p:nvCxnSpPr>
        <p:spPr>
          <a:xfrm flipH="1" rot="-5400000">
            <a:off x="1012104" y="2917025"/>
            <a:ext cx="2314200" cy="1294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3" name="Google Shape;1763;p97"/>
          <p:cNvCxnSpPr>
            <a:stCxn id="1738" idx="2"/>
            <a:endCxn id="1753" idx="1"/>
          </p:cNvCxnSpPr>
          <p:nvPr/>
        </p:nvCxnSpPr>
        <p:spPr>
          <a:xfrm flipH="1" rot="-5400000">
            <a:off x="1267554" y="2661575"/>
            <a:ext cx="1803300" cy="1294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4" name="Google Shape;1764;p97"/>
          <p:cNvCxnSpPr>
            <a:stCxn id="1738" idx="2"/>
            <a:endCxn id="1752" idx="1"/>
          </p:cNvCxnSpPr>
          <p:nvPr/>
        </p:nvCxnSpPr>
        <p:spPr>
          <a:xfrm flipH="1" rot="-5400000">
            <a:off x="1494804" y="2434325"/>
            <a:ext cx="1348800" cy="1294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5" name="Google Shape;1765;p97"/>
          <p:cNvCxnSpPr>
            <a:stCxn id="1738" idx="2"/>
            <a:endCxn id="1751" idx="1"/>
          </p:cNvCxnSpPr>
          <p:nvPr/>
        </p:nvCxnSpPr>
        <p:spPr>
          <a:xfrm flipH="1" rot="-5400000">
            <a:off x="1738254" y="2190875"/>
            <a:ext cx="831600" cy="126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6" name="Google Shape;1766;p97"/>
          <p:cNvCxnSpPr>
            <a:stCxn id="1738" idx="3"/>
            <a:endCxn id="1750" idx="1"/>
          </p:cNvCxnSpPr>
          <p:nvPr/>
        </p:nvCxnSpPr>
        <p:spPr>
          <a:xfrm>
            <a:off x="1687854" y="2073275"/>
            <a:ext cx="1086300" cy="6480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7" name="Google Shape;1767;p97"/>
          <p:cNvCxnSpPr>
            <a:stCxn id="1738" idx="3"/>
            <a:endCxn id="1731" idx="1"/>
          </p:cNvCxnSpPr>
          <p:nvPr/>
        </p:nvCxnSpPr>
        <p:spPr>
          <a:xfrm>
            <a:off x="1687854" y="2073275"/>
            <a:ext cx="1098300" cy="1308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8" name="Google Shape;1768;p97"/>
          <p:cNvCxnSpPr>
            <a:stCxn id="1738" idx="0"/>
            <a:endCxn id="1749" idx="1"/>
          </p:cNvCxnSpPr>
          <p:nvPr/>
        </p:nvCxnSpPr>
        <p:spPr>
          <a:xfrm rot="-5400000">
            <a:off x="2127804" y="1081025"/>
            <a:ext cx="52500" cy="126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9" name="Google Shape;1769;p97"/>
          <p:cNvCxnSpPr>
            <a:stCxn id="1738" idx="0"/>
            <a:endCxn id="1748" idx="1"/>
          </p:cNvCxnSpPr>
          <p:nvPr/>
        </p:nvCxnSpPr>
        <p:spPr>
          <a:xfrm rot="-5400000">
            <a:off x="1869054" y="822275"/>
            <a:ext cx="570000" cy="126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0" name="Google Shape;1770;p97"/>
          <p:cNvCxnSpPr>
            <a:stCxn id="1726" idx="0"/>
            <a:endCxn id="1738" idx="1"/>
          </p:cNvCxnSpPr>
          <p:nvPr/>
        </p:nvCxnSpPr>
        <p:spPr>
          <a:xfrm rot="-5400000">
            <a:off x="1106154" y="2157275"/>
            <a:ext cx="333900" cy="16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1" name="Google Shape;1771;p97"/>
          <p:cNvCxnSpPr>
            <a:stCxn id="1724" idx="6"/>
            <a:endCxn id="1726" idx="1"/>
          </p:cNvCxnSpPr>
          <p:nvPr/>
        </p:nvCxnSpPr>
        <p:spPr>
          <a:xfrm>
            <a:off x="907600" y="2734475"/>
            <a:ext cx="1167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98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L-110-060: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Establish produced batch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</a:t>
            </a:r>
            <a:r>
              <a:rPr lang="en" sz="1520"/>
              <a:t>Production Engineering - Process Manufacturing</a:t>
            </a:r>
            <a:endParaRPr sz="1520"/>
          </a:p>
        </p:txBody>
      </p:sp>
      <p:sp>
        <p:nvSpPr>
          <p:cNvPr id="1777" name="Google Shape;1777;p98"/>
          <p:cNvSpPr/>
          <p:nvPr/>
        </p:nvSpPr>
        <p:spPr>
          <a:xfrm>
            <a:off x="1582900" y="250607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establish produced batch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778" name="Google Shape;1778;p98"/>
          <p:cNvSpPr/>
          <p:nvPr/>
        </p:nvSpPr>
        <p:spPr>
          <a:xfrm>
            <a:off x="6263400" y="253547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Produced </a:t>
            </a:r>
            <a:r>
              <a:rPr lang="en" sz="600">
                <a:solidFill>
                  <a:schemeClr val="dk1"/>
                </a:solidFill>
              </a:rPr>
              <a:t>batch established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779" name="Google Shape;1779;p98"/>
          <p:cNvCxnSpPr>
            <a:stCxn id="1777" idx="6"/>
            <a:endCxn id="1780" idx="1"/>
          </p:cNvCxnSpPr>
          <p:nvPr/>
        </p:nvCxnSpPr>
        <p:spPr>
          <a:xfrm>
            <a:off x="2398900" y="2905225"/>
            <a:ext cx="16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1" name="Google Shape;1781;p98"/>
          <p:cNvSpPr/>
          <p:nvPr/>
        </p:nvSpPr>
        <p:spPr>
          <a:xfrm>
            <a:off x="3286449" y="18072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Batch assignment to process/planned order (automatic)</a:t>
            </a:r>
            <a:endParaRPr sz="900"/>
          </a:p>
        </p:txBody>
      </p:sp>
      <p:sp>
        <p:nvSpPr>
          <p:cNvPr id="1780" name="Google Shape;1780;p98"/>
          <p:cNvSpPr/>
          <p:nvPr/>
        </p:nvSpPr>
        <p:spPr>
          <a:xfrm>
            <a:off x="2568321" y="2564725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98"/>
          <p:cNvSpPr/>
          <p:nvPr/>
        </p:nvSpPr>
        <p:spPr>
          <a:xfrm>
            <a:off x="2689457" y="2701460"/>
            <a:ext cx="4209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98"/>
          <p:cNvSpPr/>
          <p:nvPr/>
        </p:nvSpPr>
        <p:spPr>
          <a:xfrm>
            <a:off x="4470121" y="2564825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98"/>
          <p:cNvSpPr/>
          <p:nvPr/>
        </p:nvSpPr>
        <p:spPr>
          <a:xfrm>
            <a:off x="4591257" y="2701560"/>
            <a:ext cx="4209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98"/>
          <p:cNvSpPr/>
          <p:nvPr/>
        </p:nvSpPr>
        <p:spPr>
          <a:xfrm>
            <a:off x="3264399" y="32255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manually create batch</a:t>
            </a:r>
            <a:endParaRPr sz="900"/>
          </a:p>
        </p:txBody>
      </p:sp>
      <p:cxnSp>
        <p:nvCxnSpPr>
          <p:cNvPr id="1786" name="Google Shape;1786;p98"/>
          <p:cNvCxnSpPr>
            <a:stCxn id="1780" idx="0"/>
            <a:endCxn id="1781" idx="1"/>
          </p:cNvCxnSpPr>
          <p:nvPr/>
        </p:nvCxnSpPr>
        <p:spPr>
          <a:xfrm rot="-5400000">
            <a:off x="2881371" y="2159725"/>
            <a:ext cx="423600" cy="386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7" name="Google Shape;1787;p98"/>
          <p:cNvCxnSpPr>
            <a:stCxn id="1780" idx="2"/>
            <a:endCxn id="1785" idx="1"/>
          </p:cNvCxnSpPr>
          <p:nvPr/>
        </p:nvCxnSpPr>
        <p:spPr>
          <a:xfrm flipH="1" rot="-5400000">
            <a:off x="2925321" y="3220375"/>
            <a:ext cx="313800" cy="364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8" name="Google Shape;1788;p98"/>
          <p:cNvCxnSpPr>
            <a:stCxn id="1781" idx="3"/>
            <a:endCxn id="1783" idx="0"/>
          </p:cNvCxnSpPr>
          <p:nvPr/>
        </p:nvCxnSpPr>
        <p:spPr>
          <a:xfrm>
            <a:off x="4352949" y="2141100"/>
            <a:ext cx="448800" cy="423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9" name="Google Shape;1789;p98"/>
          <p:cNvCxnSpPr>
            <a:stCxn id="1785" idx="3"/>
            <a:endCxn id="1783" idx="2"/>
          </p:cNvCxnSpPr>
          <p:nvPr/>
        </p:nvCxnSpPr>
        <p:spPr>
          <a:xfrm flipH="1" rot="10800000">
            <a:off x="4330899" y="3245950"/>
            <a:ext cx="471000" cy="313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0" name="Google Shape;1790;p98"/>
          <p:cNvCxnSpPr>
            <a:stCxn id="1783" idx="3"/>
            <a:endCxn id="1778" idx="2"/>
          </p:cNvCxnSpPr>
          <p:nvPr/>
        </p:nvCxnSpPr>
        <p:spPr>
          <a:xfrm>
            <a:off x="5133421" y="2905325"/>
            <a:ext cx="113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1" name="Google Shape;1791;p98"/>
          <p:cNvSpPr txBox="1"/>
          <p:nvPr/>
        </p:nvSpPr>
        <p:spPr>
          <a:xfrm>
            <a:off x="2212969" y="1609788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Process Order/Planned Order Created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92" name="Google Shape;1792;p98"/>
          <p:cNvSpPr txBox="1"/>
          <p:nvPr/>
        </p:nvSpPr>
        <p:spPr>
          <a:xfrm>
            <a:off x="2185969" y="3530063"/>
            <a:ext cx="1124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No Process order/Planned Order created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93" name="Google Shape;1793;p98"/>
          <p:cNvSpPr/>
          <p:nvPr/>
        </p:nvSpPr>
        <p:spPr>
          <a:xfrm>
            <a:off x="3059975" y="4058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process orders</a:t>
            </a:r>
            <a:endParaRPr sz="1000"/>
          </a:p>
        </p:txBody>
      </p:sp>
      <p:sp>
        <p:nvSpPr>
          <p:cNvPr id="1794" name="Google Shape;1794;p98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795" name="Google Shape;1795;p98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1796" name="Google Shape;1796;p98"/>
          <p:cNvSpPr/>
          <p:nvPr/>
        </p:nvSpPr>
        <p:spPr>
          <a:xfrm>
            <a:off x="735300" y="1521875"/>
            <a:ext cx="7611300" cy="2932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deleted because part of establish batch numbering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1" name="Google Shape;1801;p99"/>
          <p:cNvCxnSpPr>
            <a:endCxn id="1802" idx="1"/>
          </p:cNvCxnSpPr>
          <p:nvPr/>
        </p:nvCxnSpPr>
        <p:spPr>
          <a:xfrm>
            <a:off x="4380175" y="1902250"/>
            <a:ext cx="1423500" cy="7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3" name="Google Shape;1803;p99"/>
          <p:cNvCxnSpPr>
            <a:stCxn id="1804" idx="3"/>
            <a:endCxn id="1805" idx="1"/>
          </p:cNvCxnSpPr>
          <p:nvPr/>
        </p:nvCxnSpPr>
        <p:spPr>
          <a:xfrm>
            <a:off x="1553150" y="2769024"/>
            <a:ext cx="233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6" name="Google Shape;1806;p9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L-110-070: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Establish batch determination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Engineering - Process Manufacturing</a:t>
            </a:r>
            <a:endParaRPr sz="1520"/>
          </a:p>
        </p:txBody>
      </p:sp>
      <p:sp>
        <p:nvSpPr>
          <p:cNvPr id="1807" name="Google Shape;1807;p99"/>
          <p:cNvSpPr/>
          <p:nvPr/>
        </p:nvSpPr>
        <p:spPr>
          <a:xfrm>
            <a:off x="10250" y="21659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establish batch determination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808" name="Google Shape;1808;p99"/>
          <p:cNvSpPr/>
          <p:nvPr/>
        </p:nvSpPr>
        <p:spPr>
          <a:xfrm>
            <a:off x="8599825" y="2478000"/>
            <a:ext cx="5046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batch determination established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809" name="Google Shape;1809;p99"/>
          <p:cNvCxnSpPr>
            <a:stCxn id="1807" idx="6"/>
            <a:endCxn id="1810" idx="1"/>
          </p:cNvCxnSpPr>
          <p:nvPr/>
        </p:nvCxnSpPr>
        <p:spPr>
          <a:xfrm>
            <a:off x="826250" y="2565100"/>
            <a:ext cx="16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4" name="Google Shape;1804;p99"/>
          <p:cNvSpPr/>
          <p:nvPr/>
        </p:nvSpPr>
        <p:spPr>
          <a:xfrm>
            <a:off x="995750" y="2464674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99"/>
          <p:cNvSpPr/>
          <p:nvPr/>
        </p:nvSpPr>
        <p:spPr>
          <a:xfrm>
            <a:off x="1097597" y="2586878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99"/>
          <p:cNvSpPr/>
          <p:nvPr/>
        </p:nvSpPr>
        <p:spPr>
          <a:xfrm>
            <a:off x="7877628" y="2543402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99"/>
          <p:cNvSpPr/>
          <p:nvPr/>
        </p:nvSpPr>
        <p:spPr>
          <a:xfrm>
            <a:off x="7979476" y="2665606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4" name="Google Shape;1814;p99"/>
          <p:cNvCxnSpPr>
            <a:stCxn id="1804" idx="2"/>
            <a:endCxn id="1815" idx="1"/>
          </p:cNvCxnSpPr>
          <p:nvPr/>
        </p:nvCxnSpPr>
        <p:spPr>
          <a:xfrm flipH="1" rot="-5400000">
            <a:off x="2076800" y="2271024"/>
            <a:ext cx="984300" cy="2589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6" name="Google Shape;1816;p99"/>
          <p:cNvCxnSpPr>
            <a:stCxn id="1804" idx="0"/>
            <a:endCxn id="1817" idx="1"/>
          </p:cNvCxnSpPr>
          <p:nvPr/>
        </p:nvCxnSpPr>
        <p:spPr>
          <a:xfrm rot="-5400000">
            <a:off x="2289500" y="890724"/>
            <a:ext cx="558900" cy="2589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8" name="Google Shape;1818;p99"/>
          <p:cNvCxnSpPr/>
          <p:nvPr/>
        </p:nvCxnSpPr>
        <p:spPr>
          <a:xfrm>
            <a:off x="1907193" y="1617617"/>
            <a:ext cx="1511100" cy="600"/>
          </a:xfrm>
          <a:prstGeom prst="bentConnector3">
            <a:avLst>
              <a:gd fmla="val 5308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9" name="Google Shape;1819;p99"/>
          <p:cNvCxnSpPr>
            <a:stCxn id="1820" idx="3"/>
          </p:cNvCxnSpPr>
          <p:nvPr/>
        </p:nvCxnSpPr>
        <p:spPr>
          <a:xfrm flipH="1" rot="10800000">
            <a:off x="6160975" y="3152325"/>
            <a:ext cx="331800" cy="974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1" name="Google Shape;1821;p99"/>
          <p:cNvCxnSpPr>
            <a:endCxn id="1822" idx="1"/>
          </p:cNvCxnSpPr>
          <p:nvPr/>
        </p:nvCxnSpPr>
        <p:spPr>
          <a:xfrm>
            <a:off x="4728475" y="2715800"/>
            <a:ext cx="1075200" cy="10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3" name="Google Shape;1823;p99"/>
          <p:cNvCxnSpPr>
            <a:stCxn id="1824" idx="1"/>
            <a:endCxn id="1820" idx="1"/>
          </p:cNvCxnSpPr>
          <p:nvPr/>
        </p:nvCxnSpPr>
        <p:spPr>
          <a:xfrm>
            <a:off x="4436525" y="4092675"/>
            <a:ext cx="1363800" cy="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5" name="Google Shape;1825;p99"/>
          <p:cNvCxnSpPr>
            <a:stCxn id="1812" idx="3"/>
            <a:endCxn id="1808" idx="2"/>
          </p:cNvCxnSpPr>
          <p:nvPr/>
        </p:nvCxnSpPr>
        <p:spPr>
          <a:xfrm>
            <a:off x="8435028" y="2847752"/>
            <a:ext cx="16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6" name="Google Shape;1826;p99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827" name="Google Shape;1827;p99"/>
          <p:cNvSpPr txBox="1"/>
          <p:nvPr/>
        </p:nvSpPr>
        <p:spPr>
          <a:xfrm>
            <a:off x="1161500" y="1513675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Sales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28" name="Google Shape;1828;p9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1829" name="Google Shape;1829;p99"/>
          <p:cNvSpPr/>
          <p:nvPr/>
        </p:nvSpPr>
        <p:spPr>
          <a:xfrm>
            <a:off x="1622803" y="1601650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99"/>
          <p:cNvSpPr/>
          <p:nvPr/>
        </p:nvSpPr>
        <p:spPr>
          <a:xfrm>
            <a:off x="1724650" y="1723855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99"/>
          <p:cNvSpPr/>
          <p:nvPr/>
        </p:nvSpPr>
        <p:spPr>
          <a:xfrm>
            <a:off x="1647164" y="2464866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99"/>
          <p:cNvSpPr/>
          <p:nvPr/>
        </p:nvSpPr>
        <p:spPr>
          <a:xfrm>
            <a:off x="1749011" y="2587070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99"/>
          <p:cNvSpPr/>
          <p:nvPr/>
        </p:nvSpPr>
        <p:spPr>
          <a:xfrm>
            <a:off x="1594616" y="3788333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99"/>
          <p:cNvSpPr/>
          <p:nvPr/>
        </p:nvSpPr>
        <p:spPr>
          <a:xfrm>
            <a:off x="1696464" y="3910537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99"/>
          <p:cNvSpPr/>
          <p:nvPr/>
        </p:nvSpPr>
        <p:spPr>
          <a:xfrm>
            <a:off x="3133918" y="1601592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99"/>
          <p:cNvSpPr/>
          <p:nvPr/>
        </p:nvSpPr>
        <p:spPr>
          <a:xfrm>
            <a:off x="3235765" y="1723797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99"/>
          <p:cNvSpPr/>
          <p:nvPr/>
        </p:nvSpPr>
        <p:spPr>
          <a:xfrm>
            <a:off x="3146098" y="2464808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99"/>
          <p:cNvSpPr/>
          <p:nvPr/>
        </p:nvSpPr>
        <p:spPr>
          <a:xfrm>
            <a:off x="3247946" y="2587012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99"/>
          <p:cNvSpPr/>
          <p:nvPr/>
        </p:nvSpPr>
        <p:spPr>
          <a:xfrm>
            <a:off x="3211837" y="3753208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99"/>
          <p:cNvSpPr/>
          <p:nvPr/>
        </p:nvSpPr>
        <p:spPr>
          <a:xfrm>
            <a:off x="3313685" y="3875412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99"/>
          <p:cNvSpPr/>
          <p:nvPr/>
        </p:nvSpPr>
        <p:spPr>
          <a:xfrm>
            <a:off x="3863416" y="1601525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99"/>
          <p:cNvSpPr/>
          <p:nvPr/>
        </p:nvSpPr>
        <p:spPr>
          <a:xfrm>
            <a:off x="3965263" y="1723730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99"/>
          <p:cNvSpPr/>
          <p:nvPr/>
        </p:nvSpPr>
        <p:spPr>
          <a:xfrm>
            <a:off x="5113473" y="1635535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99"/>
          <p:cNvSpPr/>
          <p:nvPr/>
        </p:nvSpPr>
        <p:spPr>
          <a:xfrm>
            <a:off x="5215320" y="1757739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99"/>
          <p:cNvSpPr/>
          <p:nvPr/>
        </p:nvSpPr>
        <p:spPr>
          <a:xfrm>
            <a:off x="3886768" y="2464674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99"/>
          <p:cNvSpPr/>
          <p:nvPr/>
        </p:nvSpPr>
        <p:spPr>
          <a:xfrm>
            <a:off x="3988616" y="2586878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99"/>
          <p:cNvSpPr/>
          <p:nvPr/>
        </p:nvSpPr>
        <p:spPr>
          <a:xfrm>
            <a:off x="5092454" y="2570785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99"/>
          <p:cNvSpPr/>
          <p:nvPr/>
        </p:nvSpPr>
        <p:spPr>
          <a:xfrm>
            <a:off x="5194301" y="2692990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99"/>
          <p:cNvSpPr/>
          <p:nvPr/>
        </p:nvSpPr>
        <p:spPr>
          <a:xfrm>
            <a:off x="3863374" y="3753196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99"/>
          <p:cNvSpPr/>
          <p:nvPr/>
        </p:nvSpPr>
        <p:spPr>
          <a:xfrm>
            <a:off x="3965221" y="3875400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99"/>
          <p:cNvSpPr/>
          <p:nvPr/>
        </p:nvSpPr>
        <p:spPr>
          <a:xfrm>
            <a:off x="5113473" y="3822083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99"/>
          <p:cNvSpPr/>
          <p:nvPr/>
        </p:nvSpPr>
        <p:spPr>
          <a:xfrm>
            <a:off x="5215320" y="3944287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99"/>
          <p:cNvSpPr/>
          <p:nvPr/>
        </p:nvSpPr>
        <p:spPr>
          <a:xfrm>
            <a:off x="6209641" y="2543452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99"/>
          <p:cNvSpPr/>
          <p:nvPr/>
        </p:nvSpPr>
        <p:spPr>
          <a:xfrm>
            <a:off x="6311488" y="2665656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99"/>
          <p:cNvSpPr/>
          <p:nvPr/>
        </p:nvSpPr>
        <p:spPr>
          <a:xfrm>
            <a:off x="6778478" y="2543502"/>
            <a:ext cx="557400" cy="60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99"/>
          <p:cNvSpPr/>
          <p:nvPr/>
        </p:nvSpPr>
        <p:spPr>
          <a:xfrm>
            <a:off x="6880326" y="2665706"/>
            <a:ext cx="354000" cy="3642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99"/>
          <p:cNvSpPr/>
          <p:nvPr/>
        </p:nvSpPr>
        <p:spPr>
          <a:xfrm>
            <a:off x="2246037" y="1749250"/>
            <a:ext cx="833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Search Class</a:t>
            </a:r>
            <a:endParaRPr sz="700"/>
          </a:p>
        </p:txBody>
      </p:sp>
      <p:sp>
        <p:nvSpPr>
          <p:cNvPr id="1855" name="Google Shape;1855;p99"/>
          <p:cNvSpPr/>
          <p:nvPr/>
        </p:nvSpPr>
        <p:spPr>
          <a:xfrm>
            <a:off x="2258650" y="2612225"/>
            <a:ext cx="833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Search Class</a:t>
            </a:r>
            <a:endParaRPr sz="700"/>
          </a:p>
        </p:txBody>
      </p:sp>
      <p:sp>
        <p:nvSpPr>
          <p:cNvPr id="1856" name="Google Shape;1856;p99"/>
          <p:cNvSpPr/>
          <p:nvPr/>
        </p:nvSpPr>
        <p:spPr>
          <a:xfrm>
            <a:off x="2252512" y="3935750"/>
            <a:ext cx="833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Search Class</a:t>
            </a:r>
            <a:endParaRPr sz="700"/>
          </a:p>
        </p:txBody>
      </p:sp>
      <p:sp>
        <p:nvSpPr>
          <p:cNvPr id="1857" name="Google Shape;1857;p99"/>
          <p:cNvSpPr/>
          <p:nvPr/>
        </p:nvSpPr>
        <p:spPr>
          <a:xfrm>
            <a:off x="4436550" y="1715750"/>
            <a:ext cx="661200" cy="4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Sorting Rule</a:t>
            </a:r>
            <a:endParaRPr sz="700"/>
          </a:p>
        </p:txBody>
      </p:sp>
      <p:sp>
        <p:nvSpPr>
          <p:cNvPr id="1858" name="Google Shape;1858;p99"/>
          <p:cNvSpPr/>
          <p:nvPr/>
        </p:nvSpPr>
        <p:spPr>
          <a:xfrm>
            <a:off x="4437863" y="2545125"/>
            <a:ext cx="661200" cy="4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Sorting Rule</a:t>
            </a:r>
            <a:endParaRPr sz="700"/>
          </a:p>
        </p:txBody>
      </p:sp>
      <p:sp>
        <p:nvSpPr>
          <p:cNvPr id="1824" name="Google Shape;1824;p99"/>
          <p:cNvSpPr/>
          <p:nvPr/>
        </p:nvSpPr>
        <p:spPr>
          <a:xfrm>
            <a:off x="4436525" y="3868575"/>
            <a:ext cx="661200" cy="4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Sorting Rule</a:t>
            </a:r>
            <a:endParaRPr sz="700"/>
          </a:p>
        </p:txBody>
      </p:sp>
      <p:sp>
        <p:nvSpPr>
          <p:cNvPr id="1802" name="Google Shape;1802;p99"/>
          <p:cNvSpPr/>
          <p:nvPr/>
        </p:nvSpPr>
        <p:spPr>
          <a:xfrm>
            <a:off x="5803675" y="1749250"/>
            <a:ext cx="360600" cy="4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Task: Define Strategy</a:t>
            </a:r>
            <a:endParaRPr sz="500"/>
          </a:p>
        </p:txBody>
      </p:sp>
      <p:sp>
        <p:nvSpPr>
          <p:cNvPr id="1822" name="Google Shape;1822;p99"/>
          <p:cNvSpPr/>
          <p:nvPr/>
        </p:nvSpPr>
        <p:spPr>
          <a:xfrm>
            <a:off x="5803675" y="2597900"/>
            <a:ext cx="354000" cy="4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Task: Define Strategy</a:t>
            </a:r>
            <a:endParaRPr sz="500"/>
          </a:p>
        </p:txBody>
      </p:sp>
      <p:sp>
        <p:nvSpPr>
          <p:cNvPr id="1820" name="Google Shape;1820;p99"/>
          <p:cNvSpPr/>
          <p:nvPr/>
        </p:nvSpPr>
        <p:spPr>
          <a:xfrm>
            <a:off x="5800375" y="3902325"/>
            <a:ext cx="360600" cy="4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Task: Define Strategy</a:t>
            </a:r>
            <a:endParaRPr sz="500"/>
          </a:p>
        </p:txBody>
      </p:sp>
      <p:sp>
        <p:nvSpPr>
          <p:cNvPr id="1859" name="Google Shape;1859;p99"/>
          <p:cNvSpPr/>
          <p:nvPr/>
        </p:nvSpPr>
        <p:spPr>
          <a:xfrm>
            <a:off x="7236625" y="2105825"/>
            <a:ext cx="661200" cy="4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Send Batch to EWM from S4 (Automatic)</a:t>
            </a:r>
            <a:endParaRPr sz="700"/>
          </a:p>
        </p:txBody>
      </p:sp>
      <p:sp>
        <p:nvSpPr>
          <p:cNvPr id="1860" name="Google Shape;1860;p99"/>
          <p:cNvSpPr txBox="1"/>
          <p:nvPr/>
        </p:nvSpPr>
        <p:spPr>
          <a:xfrm>
            <a:off x="1337850" y="2113463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Process Manufacturing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61" name="Google Shape;1861;p99"/>
          <p:cNvSpPr txBox="1"/>
          <p:nvPr/>
        </p:nvSpPr>
        <p:spPr>
          <a:xfrm>
            <a:off x="1061525" y="3618463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IM (repetitive)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62" name="Google Shape;1862;p99"/>
          <p:cNvSpPr txBox="1"/>
          <p:nvPr/>
        </p:nvSpPr>
        <p:spPr>
          <a:xfrm>
            <a:off x="1982375" y="1976763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Not 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63" name="Google Shape;1863;p99"/>
          <p:cNvSpPr txBox="1"/>
          <p:nvPr/>
        </p:nvSpPr>
        <p:spPr>
          <a:xfrm>
            <a:off x="1982375" y="2925525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Not </a:t>
            </a:r>
            <a:r>
              <a:rPr lang="en" sz="700">
                <a:solidFill>
                  <a:schemeClr val="dk2"/>
                </a:solidFill>
              </a:rPr>
              <a:t>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64" name="Google Shape;1864;p99"/>
          <p:cNvSpPr txBox="1"/>
          <p:nvPr/>
        </p:nvSpPr>
        <p:spPr>
          <a:xfrm>
            <a:off x="2050475" y="4317813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Not </a:t>
            </a:r>
            <a:r>
              <a:rPr lang="en" sz="700">
                <a:solidFill>
                  <a:schemeClr val="dk2"/>
                </a:solidFill>
              </a:rPr>
              <a:t>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65" name="Google Shape;1865;p99"/>
          <p:cNvSpPr txBox="1"/>
          <p:nvPr/>
        </p:nvSpPr>
        <p:spPr>
          <a:xfrm>
            <a:off x="1831225" y="1184513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66" name="Google Shape;1866;p99"/>
          <p:cNvSpPr txBox="1"/>
          <p:nvPr/>
        </p:nvSpPr>
        <p:spPr>
          <a:xfrm>
            <a:off x="2020150" y="2277850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67" name="Google Shape;1867;p99"/>
          <p:cNvSpPr txBox="1"/>
          <p:nvPr/>
        </p:nvSpPr>
        <p:spPr>
          <a:xfrm>
            <a:off x="2050475" y="3573188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Present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868" name="Google Shape;1868;p99"/>
          <p:cNvCxnSpPr>
            <a:stCxn id="1831" idx="0"/>
            <a:endCxn id="1837" idx="0"/>
          </p:cNvCxnSpPr>
          <p:nvPr/>
        </p:nvCxnSpPr>
        <p:spPr>
          <a:xfrm flipH="1" rot="-5400000">
            <a:off x="2674964" y="1715766"/>
            <a:ext cx="600" cy="1498800"/>
          </a:xfrm>
          <a:prstGeom prst="bentConnector3">
            <a:avLst>
              <a:gd fmla="val -239026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9" name="Google Shape;1869;p99"/>
          <p:cNvCxnSpPr>
            <a:stCxn id="1833" idx="0"/>
            <a:endCxn id="1839" idx="0"/>
          </p:cNvCxnSpPr>
          <p:nvPr/>
        </p:nvCxnSpPr>
        <p:spPr>
          <a:xfrm rot="-5400000">
            <a:off x="2664416" y="2962133"/>
            <a:ext cx="35100" cy="1617300"/>
          </a:xfrm>
          <a:prstGeom prst="bentConnector3">
            <a:avLst>
              <a:gd fmla="val 4176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0" name="Google Shape;1870;p99"/>
          <p:cNvSpPr txBox="1"/>
          <p:nvPr/>
        </p:nvSpPr>
        <p:spPr>
          <a:xfrm>
            <a:off x="4263750" y="2260288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71" name="Google Shape;1871;p99"/>
          <p:cNvSpPr txBox="1"/>
          <p:nvPr/>
        </p:nvSpPr>
        <p:spPr>
          <a:xfrm>
            <a:off x="4142075" y="1245550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72" name="Google Shape;1872;p99"/>
          <p:cNvSpPr txBox="1"/>
          <p:nvPr/>
        </p:nvSpPr>
        <p:spPr>
          <a:xfrm>
            <a:off x="4373175" y="3573188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73" name="Google Shape;1873;p99"/>
          <p:cNvSpPr txBox="1"/>
          <p:nvPr/>
        </p:nvSpPr>
        <p:spPr>
          <a:xfrm>
            <a:off x="4250175" y="2951850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Not 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74" name="Google Shape;1874;p99"/>
          <p:cNvSpPr txBox="1"/>
          <p:nvPr/>
        </p:nvSpPr>
        <p:spPr>
          <a:xfrm>
            <a:off x="4250175" y="4239600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Not Present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75" name="Google Shape;1875;p99"/>
          <p:cNvSpPr txBox="1"/>
          <p:nvPr/>
        </p:nvSpPr>
        <p:spPr>
          <a:xfrm>
            <a:off x="4260688" y="1976775"/>
            <a:ext cx="557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Not Present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876" name="Google Shape;1876;p99"/>
          <p:cNvCxnSpPr>
            <a:stCxn id="1805" idx="0"/>
            <a:endCxn id="1845" idx="0"/>
          </p:cNvCxnSpPr>
          <p:nvPr/>
        </p:nvCxnSpPr>
        <p:spPr>
          <a:xfrm flipH="1" rot="-5400000">
            <a:off x="4715218" y="1914924"/>
            <a:ext cx="106200" cy="1205700"/>
          </a:xfrm>
          <a:prstGeom prst="bentConnector3">
            <a:avLst>
              <a:gd fmla="val -13486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7" name="Google Shape;1877;p99"/>
          <p:cNvCxnSpPr>
            <a:stCxn id="1815" idx="0"/>
            <a:endCxn id="1848" idx="0"/>
          </p:cNvCxnSpPr>
          <p:nvPr/>
        </p:nvCxnSpPr>
        <p:spPr>
          <a:xfrm flipH="1" rot="-5400000">
            <a:off x="4732624" y="3162646"/>
            <a:ext cx="69000" cy="1250100"/>
          </a:xfrm>
          <a:prstGeom prst="bentConnector3">
            <a:avLst>
              <a:gd fmla="val -3451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8" name="Google Shape;1878;p99"/>
          <p:cNvCxnSpPr>
            <a:stCxn id="1817" idx="0"/>
            <a:endCxn id="1842" idx="0"/>
          </p:cNvCxnSpPr>
          <p:nvPr/>
        </p:nvCxnSpPr>
        <p:spPr>
          <a:xfrm flipH="1" rot="-5400000">
            <a:off x="4750216" y="993425"/>
            <a:ext cx="33900" cy="1250100"/>
          </a:xfrm>
          <a:prstGeom prst="bentConnector3">
            <a:avLst>
              <a:gd fmla="val -31275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9" name="Google Shape;1879;p99"/>
          <p:cNvCxnSpPr>
            <a:stCxn id="1802" idx="3"/>
            <a:endCxn id="1850" idx="0"/>
          </p:cNvCxnSpPr>
          <p:nvPr/>
        </p:nvCxnSpPr>
        <p:spPr>
          <a:xfrm>
            <a:off x="6164275" y="1973350"/>
            <a:ext cx="324000" cy="570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0" name="Google Shape;1880;p99"/>
          <p:cNvCxnSpPr>
            <a:stCxn id="1822" idx="3"/>
            <a:endCxn id="1822" idx="3"/>
          </p:cNvCxnSpPr>
          <p:nvPr/>
        </p:nvCxnSpPr>
        <p:spPr>
          <a:xfrm>
            <a:off x="6157675" y="2822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1" name="Google Shape;1881;p99"/>
          <p:cNvSpPr txBox="1"/>
          <p:nvPr/>
        </p:nvSpPr>
        <p:spPr>
          <a:xfrm>
            <a:off x="7021800" y="1725325"/>
            <a:ext cx="1498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Batch Determination needs to be shared with EWM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882" name="Google Shape;1882;p99"/>
          <p:cNvCxnSpPr>
            <a:stCxn id="1859" idx="3"/>
            <a:endCxn id="1812" idx="0"/>
          </p:cNvCxnSpPr>
          <p:nvPr/>
        </p:nvCxnSpPr>
        <p:spPr>
          <a:xfrm>
            <a:off x="7897825" y="2329925"/>
            <a:ext cx="258600" cy="213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3" name="Google Shape;1883;p99"/>
          <p:cNvCxnSpPr>
            <a:stCxn id="1859" idx="1"/>
            <a:endCxn id="1852" idx="0"/>
          </p:cNvCxnSpPr>
          <p:nvPr/>
        </p:nvCxnSpPr>
        <p:spPr>
          <a:xfrm flipH="1">
            <a:off x="7057225" y="2329925"/>
            <a:ext cx="179400" cy="213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4" name="Google Shape;1884;p99"/>
          <p:cNvCxnSpPr>
            <a:stCxn id="1852" idx="3"/>
            <a:endCxn id="1812" idx="1"/>
          </p:cNvCxnSpPr>
          <p:nvPr/>
        </p:nvCxnSpPr>
        <p:spPr>
          <a:xfrm>
            <a:off x="7335878" y="2847852"/>
            <a:ext cx="54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5" name="Google Shape;1885;p99"/>
          <p:cNvSpPr txBox="1"/>
          <p:nvPr/>
        </p:nvSpPr>
        <p:spPr>
          <a:xfrm>
            <a:off x="7057225" y="3141675"/>
            <a:ext cx="1498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Batch Determination does not need to be shared with EWM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886" name="Google Shape;1886;p99"/>
          <p:cNvSpPr/>
          <p:nvPr/>
        </p:nvSpPr>
        <p:spPr>
          <a:xfrm>
            <a:off x="2638950" y="4251000"/>
            <a:ext cx="541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CL01</a:t>
            </a:r>
            <a:endParaRPr sz="1000"/>
          </a:p>
        </p:txBody>
      </p:sp>
      <p:sp>
        <p:nvSpPr>
          <p:cNvPr id="1887" name="Google Shape;1887;p99"/>
          <p:cNvSpPr/>
          <p:nvPr/>
        </p:nvSpPr>
        <p:spPr>
          <a:xfrm>
            <a:off x="2723988" y="2927363"/>
            <a:ext cx="541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CL01</a:t>
            </a:r>
            <a:endParaRPr sz="1000"/>
          </a:p>
        </p:txBody>
      </p:sp>
      <p:sp>
        <p:nvSpPr>
          <p:cNvPr id="1888" name="Google Shape;1888;p99"/>
          <p:cNvSpPr/>
          <p:nvPr/>
        </p:nvSpPr>
        <p:spPr>
          <a:xfrm>
            <a:off x="2700138" y="2013825"/>
            <a:ext cx="541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CL01</a:t>
            </a:r>
            <a:endParaRPr sz="1000"/>
          </a:p>
        </p:txBody>
      </p:sp>
      <p:sp>
        <p:nvSpPr>
          <p:cNvPr id="1889" name="Google Shape;1889;p99"/>
          <p:cNvSpPr/>
          <p:nvPr/>
        </p:nvSpPr>
        <p:spPr>
          <a:xfrm>
            <a:off x="4728475" y="4363150"/>
            <a:ext cx="541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CU70</a:t>
            </a:r>
            <a:endParaRPr sz="1000"/>
          </a:p>
        </p:txBody>
      </p:sp>
      <p:sp>
        <p:nvSpPr>
          <p:cNvPr id="1890" name="Google Shape;1890;p99"/>
          <p:cNvSpPr/>
          <p:nvPr/>
        </p:nvSpPr>
        <p:spPr>
          <a:xfrm>
            <a:off x="4741313" y="2997575"/>
            <a:ext cx="541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CU70</a:t>
            </a:r>
            <a:endParaRPr sz="1000"/>
          </a:p>
        </p:txBody>
      </p:sp>
      <p:sp>
        <p:nvSpPr>
          <p:cNvPr id="1891" name="Google Shape;1891;p99"/>
          <p:cNvSpPr/>
          <p:nvPr/>
        </p:nvSpPr>
        <p:spPr>
          <a:xfrm>
            <a:off x="4910200" y="2111111"/>
            <a:ext cx="404100" cy="106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CU70</a:t>
            </a:r>
            <a:endParaRPr sz="500"/>
          </a:p>
        </p:txBody>
      </p:sp>
      <p:sp>
        <p:nvSpPr>
          <p:cNvPr id="1892" name="Google Shape;1892;p99"/>
          <p:cNvSpPr/>
          <p:nvPr/>
        </p:nvSpPr>
        <p:spPr>
          <a:xfrm>
            <a:off x="6038750" y="2132136"/>
            <a:ext cx="404100" cy="106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VCH2</a:t>
            </a:r>
            <a:endParaRPr sz="500"/>
          </a:p>
        </p:txBody>
      </p:sp>
      <p:sp>
        <p:nvSpPr>
          <p:cNvPr id="1893" name="Google Shape;1893;p99"/>
          <p:cNvSpPr/>
          <p:nvPr/>
        </p:nvSpPr>
        <p:spPr>
          <a:xfrm>
            <a:off x="5907400" y="3070336"/>
            <a:ext cx="404100" cy="106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COB2</a:t>
            </a:r>
            <a:endParaRPr sz="500"/>
          </a:p>
        </p:txBody>
      </p:sp>
      <p:sp>
        <p:nvSpPr>
          <p:cNvPr id="1894" name="Google Shape;1894;p99"/>
          <p:cNvSpPr/>
          <p:nvPr/>
        </p:nvSpPr>
        <p:spPr>
          <a:xfrm>
            <a:off x="6084175" y="3875411"/>
            <a:ext cx="404100" cy="106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MBC2</a:t>
            </a:r>
            <a:endParaRPr sz="5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10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L-110-080-Determine Batch Where Used List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Master Data Specialist - Product Data</a:t>
            </a:r>
            <a:endParaRPr sz="1520"/>
          </a:p>
        </p:txBody>
      </p:sp>
      <p:sp>
        <p:nvSpPr>
          <p:cNvPr id="1900" name="Google Shape;1900;p100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cxnSp>
        <p:nvCxnSpPr>
          <p:cNvPr id="1901" name="Google Shape;1901;p100"/>
          <p:cNvCxnSpPr>
            <a:stCxn id="1902" idx="6"/>
            <a:endCxn id="1903" idx="2"/>
          </p:cNvCxnSpPr>
          <p:nvPr/>
        </p:nvCxnSpPr>
        <p:spPr>
          <a:xfrm>
            <a:off x="2885050" y="3042700"/>
            <a:ext cx="351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2" name="Google Shape;1902;p100"/>
          <p:cNvSpPr/>
          <p:nvPr/>
        </p:nvSpPr>
        <p:spPr>
          <a:xfrm>
            <a:off x="2102350" y="2543650"/>
            <a:ext cx="782700" cy="99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determine batch where used list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904" name="Google Shape;1904;p100"/>
          <p:cNvSpPr/>
          <p:nvPr/>
        </p:nvSpPr>
        <p:spPr>
          <a:xfrm>
            <a:off x="3607448" y="1734583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use </a:t>
            </a:r>
            <a:r>
              <a:rPr lang="en" sz="700"/>
              <a:t>batch</a:t>
            </a:r>
            <a:r>
              <a:rPr lang="en" sz="700"/>
              <a:t> information cockpit</a:t>
            </a:r>
            <a:endParaRPr sz="700"/>
          </a:p>
        </p:txBody>
      </p:sp>
      <p:sp>
        <p:nvSpPr>
          <p:cNvPr id="1905" name="Google Shape;1905;p100"/>
          <p:cNvSpPr/>
          <p:nvPr/>
        </p:nvSpPr>
        <p:spPr>
          <a:xfrm>
            <a:off x="3607461" y="2675883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use batch where used list</a:t>
            </a:r>
            <a:endParaRPr sz="600"/>
          </a:p>
        </p:txBody>
      </p:sp>
      <p:sp>
        <p:nvSpPr>
          <p:cNvPr id="1906" name="Google Shape;1906;p100"/>
          <p:cNvSpPr/>
          <p:nvPr/>
        </p:nvSpPr>
        <p:spPr>
          <a:xfrm>
            <a:off x="5143675" y="2633358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top down and bottom up analysis</a:t>
            </a:r>
            <a:endParaRPr sz="600"/>
          </a:p>
        </p:txBody>
      </p:sp>
      <p:sp>
        <p:nvSpPr>
          <p:cNvPr id="1903" name="Google Shape;1903;p100"/>
          <p:cNvSpPr/>
          <p:nvPr/>
        </p:nvSpPr>
        <p:spPr>
          <a:xfrm>
            <a:off x="6400801" y="2543650"/>
            <a:ext cx="828000" cy="99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batch where used list determined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907" name="Google Shape;1907;p100"/>
          <p:cNvSpPr/>
          <p:nvPr/>
        </p:nvSpPr>
        <p:spPr>
          <a:xfrm>
            <a:off x="3002850" y="2779750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100"/>
          <p:cNvSpPr/>
          <p:nvPr/>
        </p:nvSpPr>
        <p:spPr>
          <a:xfrm>
            <a:off x="3120900" y="2961400"/>
            <a:ext cx="161700" cy="16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9" name="Google Shape;1909;p100"/>
          <p:cNvCxnSpPr>
            <a:stCxn id="1907" idx="0"/>
            <a:endCxn id="1904" idx="1"/>
          </p:cNvCxnSpPr>
          <p:nvPr/>
        </p:nvCxnSpPr>
        <p:spPr>
          <a:xfrm rot="-5400000">
            <a:off x="3086700" y="2259100"/>
            <a:ext cx="635700" cy="405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0" name="Google Shape;1910;p100"/>
          <p:cNvSpPr/>
          <p:nvPr/>
        </p:nvSpPr>
        <p:spPr>
          <a:xfrm>
            <a:off x="4592500" y="2779750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100"/>
          <p:cNvSpPr/>
          <p:nvPr/>
        </p:nvSpPr>
        <p:spPr>
          <a:xfrm>
            <a:off x="4710550" y="2961400"/>
            <a:ext cx="161700" cy="16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2" name="Google Shape;1912;p100"/>
          <p:cNvCxnSpPr>
            <a:stCxn id="1904" idx="3"/>
            <a:endCxn id="1910" idx="0"/>
          </p:cNvCxnSpPr>
          <p:nvPr/>
        </p:nvCxnSpPr>
        <p:spPr>
          <a:xfrm>
            <a:off x="4331048" y="2143933"/>
            <a:ext cx="460500" cy="635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3" name="Google Shape;1913;p100"/>
          <p:cNvSpPr/>
          <p:nvPr/>
        </p:nvSpPr>
        <p:spPr>
          <a:xfrm>
            <a:off x="3433413" y="33426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MB57</a:t>
            </a:r>
            <a:endParaRPr sz="1000"/>
          </a:p>
        </p:txBody>
      </p:sp>
      <p:sp>
        <p:nvSpPr>
          <p:cNvPr id="1914" name="Google Shape;1914;p100"/>
          <p:cNvSpPr/>
          <p:nvPr/>
        </p:nvSpPr>
        <p:spPr>
          <a:xfrm>
            <a:off x="3388288" y="16291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BMBC</a:t>
            </a:r>
            <a:endParaRPr sz="1000"/>
          </a:p>
        </p:txBody>
      </p:sp>
      <p:sp>
        <p:nvSpPr>
          <p:cNvPr id="1915" name="Google Shape;1915;p10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101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L-110-110-Manage Batch Reporting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Master Data Specialist - Product Data</a:t>
            </a:r>
            <a:endParaRPr sz="1520"/>
          </a:p>
        </p:txBody>
      </p:sp>
      <p:sp>
        <p:nvSpPr>
          <p:cNvPr id="1921" name="Google Shape;1921;p101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cxnSp>
        <p:nvCxnSpPr>
          <p:cNvPr id="1922" name="Google Shape;1922;p101"/>
          <p:cNvCxnSpPr>
            <a:stCxn id="1923" idx="6"/>
            <a:endCxn id="1924" idx="2"/>
          </p:cNvCxnSpPr>
          <p:nvPr/>
        </p:nvCxnSpPr>
        <p:spPr>
          <a:xfrm>
            <a:off x="3534575" y="2953000"/>
            <a:ext cx="15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3" name="Google Shape;1923;p101"/>
          <p:cNvSpPr/>
          <p:nvPr/>
        </p:nvSpPr>
        <p:spPr>
          <a:xfrm>
            <a:off x="2751875" y="2453950"/>
            <a:ext cx="782700" cy="99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manage batch reporting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925" name="Google Shape;1925;p101"/>
          <p:cNvSpPr/>
          <p:nvPr/>
        </p:nvSpPr>
        <p:spPr>
          <a:xfrm>
            <a:off x="3898500" y="2543658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display batch information</a:t>
            </a:r>
            <a:endParaRPr sz="600"/>
          </a:p>
        </p:txBody>
      </p:sp>
      <p:sp>
        <p:nvSpPr>
          <p:cNvPr id="1924" name="Google Shape;1924;p101"/>
          <p:cNvSpPr/>
          <p:nvPr/>
        </p:nvSpPr>
        <p:spPr>
          <a:xfrm>
            <a:off x="5109801" y="2453950"/>
            <a:ext cx="828000" cy="99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batch reporting managed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926" name="Google Shape;1926;p101"/>
          <p:cNvSpPr/>
          <p:nvPr/>
        </p:nvSpPr>
        <p:spPr>
          <a:xfrm>
            <a:off x="3741238" y="32003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BMBC, MB52</a:t>
            </a:r>
            <a:endParaRPr sz="1000"/>
          </a:p>
        </p:txBody>
      </p:sp>
      <p:sp>
        <p:nvSpPr>
          <p:cNvPr id="1927" name="Google Shape;1927;p101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10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L-110-120: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Establish Procured batch 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Engineering - Process Manufacturing</a:t>
            </a:r>
            <a:endParaRPr sz="1520"/>
          </a:p>
        </p:txBody>
      </p:sp>
      <p:sp>
        <p:nvSpPr>
          <p:cNvPr id="1933" name="Google Shape;1933;p102"/>
          <p:cNvSpPr/>
          <p:nvPr/>
        </p:nvSpPr>
        <p:spPr>
          <a:xfrm>
            <a:off x="1582900" y="252407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establish procured batch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934" name="Google Shape;1934;p102"/>
          <p:cNvSpPr/>
          <p:nvPr/>
        </p:nvSpPr>
        <p:spPr>
          <a:xfrm>
            <a:off x="6263500" y="255347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procured batch established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935" name="Google Shape;1935;p102"/>
          <p:cNvCxnSpPr>
            <a:stCxn id="1933" idx="6"/>
            <a:endCxn id="1936" idx="1"/>
          </p:cNvCxnSpPr>
          <p:nvPr/>
        </p:nvCxnSpPr>
        <p:spPr>
          <a:xfrm>
            <a:off x="2398900" y="2923225"/>
            <a:ext cx="113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6" name="Google Shape;1936;p102"/>
          <p:cNvSpPr/>
          <p:nvPr/>
        </p:nvSpPr>
        <p:spPr>
          <a:xfrm>
            <a:off x="3530499" y="25893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Batch upon goods receipt</a:t>
            </a:r>
            <a:endParaRPr sz="900"/>
          </a:p>
        </p:txBody>
      </p:sp>
      <p:cxnSp>
        <p:nvCxnSpPr>
          <p:cNvPr id="1937" name="Google Shape;1937;p102"/>
          <p:cNvCxnSpPr>
            <a:stCxn id="1936" idx="3"/>
            <a:endCxn id="1934" idx="2"/>
          </p:cNvCxnSpPr>
          <p:nvPr/>
        </p:nvCxnSpPr>
        <p:spPr>
          <a:xfrm>
            <a:off x="4596999" y="2923225"/>
            <a:ext cx="166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8" name="Google Shape;1938;p102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939" name="Google Shape;1939;p102"/>
          <p:cNvSpPr/>
          <p:nvPr/>
        </p:nvSpPr>
        <p:spPr>
          <a:xfrm>
            <a:off x="3482800" y="33760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1940" name="Google Shape;1940;p102"/>
          <p:cNvSpPr/>
          <p:nvPr/>
        </p:nvSpPr>
        <p:spPr>
          <a:xfrm>
            <a:off x="735300" y="1521875"/>
            <a:ext cx="7611300" cy="2932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deleted because part of establish batch numbering</a:t>
            </a:r>
            <a:endParaRPr/>
          </a:p>
        </p:txBody>
      </p:sp>
      <p:sp>
        <p:nvSpPr>
          <p:cNvPr id="1941" name="Google Shape;1941;p10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0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L-110-140: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Activate Batch Derivation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Production Engineering - Process Manufacturing</a:t>
            </a:r>
            <a:endParaRPr sz="1520"/>
          </a:p>
        </p:txBody>
      </p:sp>
      <p:sp>
        <p:nvSpPr>
          <p:cNvPr id="1947" name="Google Shape;1947;p103"/>
          <p:cNvSpPr/>
          <p:nvPr/>
        </p:nvSpPr>
        <p:spPr>
          <a:xfrm>
            <a:off x="6078725" y="4506025"/>
            <a:ext cx="2960100" cy="560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the topic needs to be discussed</a:t>
            </a:r>
            <a:endParaRPr/>
          </a:p>
        </p:txBody>
      </p:sp>
      <p:sp>
        <p:nvSpPr>
          <p:cNvPr id="1948" name="Google Shape;1948;p10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1949" name="Google Shape;1949;p103"/>
          <p:cNvSpPr/>
          <p:nvPr/>
        </p:nvSpPr>
        <p:spPr>
          <a:xfrm>
            <a:off x="10250" y="2165950"/>
            <a:ext cx="658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activate batch derivation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950" name="Google Shape;1950;p103"/>
          <p:cNvSpPr/>
          <p:nvPr/>
        </p:nvSpPr>
        <p:spPr>
          <a:xfrm>
            <a:off x="820775" y="2308800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103"/>
          <p:cNvSpPr/>
          <p:nvPr/>
        </p:nvSpPr>
        <p:spPr>
          <a:xfrm>
            <a:off x="893483" y="2414366"/>
            <a:ext cx="252600" cy="314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03"/>
          <p:cNvSpPr/>
          <p:nvPr/>
        </p:nvSpPr>
        <p:spPr>
          <a:xfrm>
            <a:off x="1515550" y="1279975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103"/>
          <p:cNvSpPr/>
          <p:nvPr/>
        </p:nvSpPr>
        <p:spPr>
          <a:xfrm>
            <a:off x="1588258" y="1385541"/>
            <a:ext cx="252600" cy="314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103"/>
          <p:cNvSpPr/>
          <p:nvPr/>
        </p:nvSpPr>
        <p:spPr>
          <a:xfrm>
            <a:off x="3062975" y="1279975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103"/>
          <p:cNvSpPr/>
          <p:nvPr/>
        </p:nvSpPr>
        <p:spPr>
          <a:xfrm>
            <a:off x="3135683" y="1385541"/>
            <a:ext cx="252600" cy="314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103"/>
          <p:cNvSpPr/>
          <p:nvPr/>
        </p:nvSpPr>
        <p:spPr>
          <a:xfrm>
            <a:off x="1515450" y="3028500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03"/>
          <p:cNvSpPr/>
          <p:nvPr/>
        </p:nvSpPr>
        <p:spPr>
          <a:xfrm>
            <a:off x="1588158" y="3134066"/>
            <a:ext cx="252600" cy="314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03"/>
          <p:cNvSpPr/>
          <p:nvPr/>
        </p:nvSpPr>
        <p:spPr>
          <a:xfrm>
            <a:off x="2409025" y="3028500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103"/>
          <p:cNvSpPr/>
          <p:nvPr/>
        </p:nvSpPr>
        <p:spPr>
          <a:xfrm>
            <a:off x="2481733" y="3134066"/>
            <a:ext cx="252600" cy="314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103"/>
          <p:cNvSpPr/>
          <p:nvPr/>
        </p:nvSpPr>
        <p:spPr>
          <a:xfrm>
            <a:off x="4763875" y="3028450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03"/>
          <p:cNvSpPr/>
          <p:nvPr/>
        </p:nvSpPr>
        <p:spPr>
          <a:xfrm>
            <a:off x="4836583" y="3134016"/>
            <a:ext cx="252600" cy="314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103"/>
          <p:cNvSpPr/>
          <p:nvPr/>
        </p:nvSpPr>
        <p:spPr>
          <a:xfrm>
            <a:off x="5522500" y="3028425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103"/>
          <p:cNvSpPr/>
          <p:nvPr/>
        </p:nvSpPr>
        <p:spPr>
          <a:xfrm>
            <a:off x="5595208" y="3133991"/>
            <a:ext cx="252600" cy="314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103"/>
          <p:cNvSpPr/>
          <p:nvPr/>
        </p:nvSpPr>
        <p:spPr>
          <a:xfrm>
            <a:off x="6993575" y="2302150"/>
            <a:ext cx="397800" cy="525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103"/>
          <p:cNvSpPr/>
          <p:nvPr/>
        </p:nvSpPr>
        <p:spPr>
          <a:xfrm>
            <a:off x="7066283" y="2407716"/>
            <a:ext cx="252600" cy="314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103"/>
          <p:cNvSpPr/>
          <p:nvPr/>
        </p:nvSpPr>
        <p:spPr>
          <a:xfrm>
            <a:off x="2152287" y="1024275"/>
            <a:ext cx="833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Task: Batch Derivation Triggered in Background</a:t>
            </a:r>
            <a:endParaRPr sz="500"/>
          </a:p>
        </p:txBody>
      </p:sp>
      <p:sp>
        <p:nvSpPr>
          <p:cNvPr id="1967" name="Google Shape;1967;p103"/>
          <p:cNvSpPr/>
          <p:nvPr/>
        </p:nvSpPr>
        <p:spPr>
          <a:xfrm>
            <a:off x="2152287" y="1751650"/>
            <a:ext cx="833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Task: </a:t>
            </a:r>
            <a:r>
              <a:rPr lang="en" sz="500"/>
              <a:t>perform</a:t>
            </a:r>
            <a:r>
              <a:rPr lang="en" sz="500"/>
              <a:t> manual derivation</a:t>
            </a:r>
            <a:endParaRPr sz="500"/>
          </a:p>
        </p:txBody>
      </p:sp>
      <p:cxnSp>
        <p:nvCxnSpPr>
          <p:cNvPr id="1968" name="Google Shape;1968;p103"/>
          <p:cNvCxnSpPr>
            <a:stCxn id="1950" idx="0"/>
            <a:endCxn id="1952" idx="1"/>
          </p:cNvCxnSpPr>
          <p:nvPr/>
        </p:nvCxnSpPr>
        <p:spPr>
          <a:xfrm rot="-5400000">
            <a:off x="884675" y="1677900"/>
            <a:ext cx="765900" cy="49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9" name="Google Shape;1969;p103"/>
          <p:cNvCxnSpPr>
            <a:stCxn id="1950" idx="2"/>
            <a:endCxn id="1956" idx="1"/>
          </p:cNvCxnSpPr>
          <p:nvPr/>
        </p:nvCxnSpPr>
        <p:spPr>
          <a:xfrm flipH="1" rot="-5400000">
            <a:off x="1039325" y="2815050"/>
            <a:ext cx="456600" cy="49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0" name="Google Shape;1970;p103"/>
          <p:cNvSpPr txBox="1"/>
          <p:nvPr/>
        </p:nvSpPr>
        <p:spPr>
          <a:xfrm>
            <a:off x="687475" y="1137450"/>
            <a:ext cx="397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Push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971" name="Google Shape;1971;p103"/>
          <p:cNvSpPr txBox="1"/>
          <p:nvPr/>
        </p:nvSpPr>
        <p:spPr>
          <a:xfrm>
            <a:off x="621875" y="3190150"/>
            <a:ext cx="397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Pull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972" name="Google Shape;1972;p103"/>
          <p:cNvCxnSpPr>
            <a:stCxn id="1952" idx="0"/>
            <a:endCxn id="1966" idx="1"/>
          </p:cNvCxnSpPr>
          <p:nvPr/>
        </p:nvCxnSpPr>
        <p:spPr>
          <a:xfrm rot="-5400000">
            <a:off x="1883800" y="1011625"/>
            <a:ext cx="99000" cy="437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3" name="Google Shape;1973;p103"/>
          <p:cNvCxnSpPr>
            <a:stCxn id="1952" idx="2"/>
            <a:endCxn id="1967" idx="1"/>
          </p:cNvCxnSpPr>
          <p:nvPr/>
        </p:nvCxnSpPr>
        <p:spPr>
          <a:xfrm flipH="1" rot="-5400000">
            <a:off x="1882000" y="1638325"/>
            <a:ext cx="102600" cy="437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4" name="Google Shape;1974;p103"/>
          <p:cNvCxnSpPr>
            <a:stCxn id="1967" idx="3"/>
            <a:endCxn id="1954" idx="2"/>
          </p:cNvCxnSpPr>
          <p:nvPr/>
        </p:nvCxnSpPr>
        <p:spPr>
          <a:xfrm flipH="1" rot="10800000">
            <a:off x="2985687" y="1805800"/>
            <a:ext cx="276300" cy="102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5" name="Google Shape;1975;p103"/>
          <p:cNvCxnSpPr>
            <a:stCxn id="1966" idx="3"/>
            <a:endCxn id="1954" idx="0"/>
          </p:cNvCxnSpPr>
          <p:nvPr/>
        </p:nvCxnSpPr>
        <p:spPr>
          <a:xfrm>
            <a:off x="2985687" y="1181025"/>
            <a:ext cx="276300" cy="99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6" name="Google Shape;1976;p103"/>
          <p:cNvSpPr txBox="1"/>
          <p:nvPr/>
        </p:nvSpPr>
        <p:spPr>
          <a:xfrm>
            <a:off x="1489450" y="2004238"/>
            <a:ext cx="114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Manual derivation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977" name="Google Shape;1977;p103"/>
          <p:cNvSpPr txBox="1"/>
          <p:nvPr/>
        </p:nvSpPr>
        <p:spPr>
          <a:xfrm>
            <a:off x="1362400" y="874425"/>
            <a:ext cx="731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Usage decision from QM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978" name="Google Shape;1978;p103"/>
          <p:cNvSpPr/>
          <p:nvPr/>
        </p:nvSpPr>
        <p:spPr>
          <a:xfrm>
            <a:off x="3261987" y="2722425"/>
            <a:ext cx="833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Task: Tigger Batch derivation</a:t>
            </a:r>
            <a:endParaRPr sz="500"/>
          </a:p>
        </p:txBody>
      </p:sp>
      <p:sp>
        <p:nvSpPr>
          <p:cNvPr id="1979" name="Google Shape;1979;p103"/>
          <p:cNvSpPr/>
          <p:nvPr/>
        </p:nvSpPr>
        <p:spPr>
          <a:xfrm>
            <a:off x="3261987" y="3524800"/>
            <a:ext cx="833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Task: Batch derivation automatic</a:t>
            </a:r>
            <a:endParaRPr sz="500"/>
          </a:p>
        </p:txBody>
      </p:sp>
      <p:sp>
        <p:nvSpPr>
          <p:cNvPr id="1980" name="Google Shape;1980;p103"/>
          <p:cNvSpPr/>
          <p:nvPr/>
        </p:nvSpPr>
        <p:spPr>
          <a:xfrm>
            <a:off x="3261987" y="4133425"/>
            <a:ext cx="833400" cy="3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Task: Batch derivation triggered in background</a:t>
            </a:r>
            <a:endParaRPr sz="500"/>
          </a:p>
        </p:txBody>
      </p:sp>
      <p:cxnSp>
        <p:nvCxnSpPr>
          <p:cNvPr id="1981" name="Google Shape;1981;p103"/>
          <p:cNvCxnSpPr>
            <a:stCxn id="1956" idx="3"/>
            <a:endCxn id="1958" idx="1"/>
          </p:cNvCxnSpPr>
          <p:nvPr/>
        </p:nvCxnSpPr>
        <p:spPr>
          <a:xfrm>
            <a:off x="1913250" y="3291450"/>
            <a:ext cx="49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2" name="Google Shape;1982;p103"/>
          <p:cNvCxnSpPr>
            <a:stCxn id="1956" idx="2"/>
            <a:endCxn id="1980" idx="1"/>
          </p:cNvCxnSpPr>
          <p:nvPr/>
        </p:nvCxnSpPr>
        <p:spPr>
          <a:xfrm flipH="1" rot="-5400000">
            <a:off x="2120250" y="3148500"/>
            <a:ext cx="735900" cy="1547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3" name="Google Shape;1983;p103"/>
          <p:cNvCxnSpPr>
            <a:stCxn id="1958" idx="2"/>
            <a:endCxn id="1979" idx="1"/>
          </p:cNvCxnSpPr>
          <p:nvPr/>
        </p:nvCxnSpPr>
        <p:spPr>
          <a:xfrm flipH="1" rot="-5400000">
            <a:off x="2871325" y="3291000"/>
            <a:ext cx="127200" cy="65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4" name="Google Shape;1984;p103"/>
          <p:cNvCxnSpPr>
            <a:stCxn id="1958" idx="0"/>
            <a:endCxn id="1978" idx="1"/>
          </p:cNvCxnSpPr>
          <p:nvPr/>
        </p:nvCxnSpPr>
        <p:spPr>
          <a:xfrm rot="-5400000">
            <a:off x="2860225" y="2626800"/>
            <a:ext cx="149400" cy="65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5" name="Google Shape;1985;p103"/>
          <p:cNvCxnSpPr>
            <a:stCxn id="1978" idx="3"/>
            <a:endCxn id="1960" idx="0"/>
          </p:cNvCxnSpPr>
          <p:nvPr/>
        </p:nvCxnSpPr>
        <p:spPr>
          <a:xfrm>
            <a:off x="4095387" y="2879175"/>
            <a:ext cx="867300" cy="149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6" name="Google Shape;1986;p103"/>
          <p:cNvCxnSpPr>
            <a:stCxn id="1979" idx="3"/>
            <a:endCxn id="1960" idx="2"/>
          </p:cNvCxnSpPr>
          <p:nvPr/>
        </p:nvCxnSpPr>
        <p:spPr>
          <a:xfrm flipH="1" rot="10800000">
            <a:off x="4095387" y="3554350"/>
            <a:ext cx="867300" cy="12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7" name="Google Shape;1987;p103"/>
          <p:cNvSpPr txBox="1"/>
          <p:nvPr/>
        </p:nvSpPr>
        <p:spPr>
          <a:xfrm>
            <a:off x="1783125" y="2870513"/>
            <a:ext cx="114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Release Process Order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988" name="Google Shape;1988;p103"/>
          <p:cNvSpPr txBox="1"/>
          <p:nvPr/>
        </p:nvSpPr>
        <p:spPr>
          <a:xfrm>
            <a:off x="1840750" y="3990288"/>
            <a:ext cx="114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Goods Receipt for </a:t>
            </a:r>
            <a:r>
              <a:rPr lang="en" sz="700">
                <a:solidFill>
                  <a:schemeClr val="dk2"/>
                </a:solidFill>
              </a:rPr>
              <a:t>Process Order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989" name="Google Shape;1989;p103"/>
          <p:cNvSpPr txBox="1"/>
          <p:nvPr/>
        </p:nvSpPr>
        <p:spPr>
          <a:xfrm>
            <a:off x="2631250" y="2449600"/>
            <a:ext cx="114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Header Batch does not exist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990" name="Google Shape;1990;p103"/>
          <p:cNvSpPr txBox="1"/>
          <p:nvPr/>
        </p:nvSpPr>
        <p:spPr>
          <a:xfrm>
            <a:off x="2767663" y="3291513"/>
            <a:ext cx="114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Header Batch does exist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991" name="Google Shape;1991;p103"/>
          <p:cNvCxnSpPr>
            <a:stCxn id="1960" idx="3"/>
            <a:endCxn id="1962" idx="1"/>
          </p:cNvCxnSpPr>
          <p:nvPr/>
        </p:nvCxnSpPr>
        <p:spPr>
          <a:xfrm>
            <a:off x="5161675" y="3291400"/>
            <a:ext cx="36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2" name="Google Shape;1992;p103"/>
          <p:cNvCxnSpPr>
            <a:stCxn id="1962" idx="3"/>
            <a:endCxn id="1964" idx="2"/>
          </p:cNvCxnSpPr>
          <p:nvPr/>
        </p:nvCxnSpPr>
        <p:spPr>
          <a:xfrm flipH="1" rot="10800000">
            <a:off x="5920300" y="2828175"/>
            <a:ext cx="1272300" cy="463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3" name="Google Shape;1993;p103"/>
          <p:cNvCxnSpPr>
            <a:stCxn id="1954" idx="3"/>
            <a:endCxn id="1964" idx="0"/>
          </p:cNvCxnSpPr>
          <p:nvPr/>
        </p:nvCxnSpPr>
        <p:spPr>
          <a:xfrm>
            <a:off x="3460775" y="1542925"/>
            <a:ext cx="3731700" cy="759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4" name="Google Shape;1994;p103"/>
          <p:cNvSpPr/>
          <p:nvPr/>
        </p:nvSpPr>
        <p:spPr>
          <a:xfrm>
            <a:off x="8022000" y="2165950"/>
            <a:ext cx="658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Batch derivation activated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995" name="Google Shape;1995;p103"/>
          <p:cNvCxnSpPr>
            <a:stCxn id="1964" idx="3"/>
            <a:endCxn id="1994" idx="2"/>
          </p:cNvCxnSpPr>
          <p:nvPr/>
        </p:nvCxnSpPr>
        <p:spPr>
          <a:xfrm>
            <a:off x="7391375" y="2565100"/>
            <a:ext cx="63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6" name="Google Shape;1996;p103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1997" name="Google Shape;1997;p103"/>
          <p:cNvSpPr/>
          <p:nvPr/>
        </p:nvSpPr>
        <p:spPr>
          <a:xfrm>
            <a:off x="3011575" y="898575"/>
            <a:ext cx="6540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QA11</a:t>
            </a:r>
            <a:endParaRPr sz="1000"/>
          </a:p>
        </p:txBody>
      </p:sp>
      <p:sp>
        <p:nvSpPr>
          <p:cNvPr id="1998" name="Google Shape;1998;p103"/>
          <p:cNvSpPr/>
          <p:nvPr/>
        </p:nvSpPr>
        <p:spPr>
          <a:xfrm>
            <a:off x="3135675" y="2001888"/>
            <a:ext cx="13455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Execute manual derivation</a:t>
            </a:r>
            <a:endParaRPr sz="1000"/>
          </a:p>
        </p:txBody>
      </p:sp>
      <p:sp>
        <p:nvSpPr>
          <p:cNvPr id="1999" name="Google Shape;1999;p103"/>
          <p:cNvSpPr/>
          <p:nvPr/>
        </p:nvSpPr>
        <p:spPr>
          <a:xfrm>
            <a:off x="4018375" y="2565100"/>
            <a:ext cx="10125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COR2, manage process orders</a:t>
            </a:r>
            <a:endParaRPr sz="700"/>
          </a:p>
        </p:txBody>
      </p:sp>
      <p:cxnSp>
        <p:nvCxnSpPr>
          <p:cNvPr id="2000" name="Google Shape;2000;p103"/>
          <p:cNvCxnSpPr>
            <a:stCxn id="1980" idx="3"/>
            <a:endCxn id="1962" idx="2"/>
          </p:cNvCxnSpPr>
          <p:nvPr/>
        </p:nvCxnSpPr>
        <p:spPr>
          <a:xfrm flipH="1" rot="10800000">
            <a:off x="4095387" y="3554275"/>
            <a:ext cx="1626000" cy="73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1" name="Google Shape;2001;p103"/>
          <p:cNvSpPr/>
          <p:nvPr/>
        </p:nvSpPr>
        <p:spPr>
          <a:xfrm>
            <a:off x="4183275" y="4306075"/>
            <a:ext cx="10125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COR2, manage process orders</a:t>
            </a:r>
            <a:endParaRPr sz="7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10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7.4 Monitor quality of finished products, raw materials and intermediate products</a:t>
            </a:r>
            <a:endParaRPr/>
          </a:p>
        </p:txBody>
      </p:sp>
      <p:sp>
        <p:nvSpPr>
          <p:cNvPr id="2007" name="Google Shape;2007;p10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7.4.5 Recurring Inspections</a:t>
            </a:r>
            <a:endParaRPr/>
          </a:p>
        </p:txBody>
      </p:sp>
      <p:sp>
        <p:nvSpPr>
          <p:cNvPr id="2008" name="Google Shape;2008;p104"/>
          <p:cNvSpPr/>
          <p:nvPr/>
        </p:nvSpPr>
        <p:spPr>
          <a:xfrm>
            <a:off x="6098650" y="4359825"/>
            <a:ext cx="2960100" cy="560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where to put the recurring inspection flow?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3" name="Google Shape;2013;p105"/>
          <p:cNvCxnSpPr>
            <a:stCxn id="2014" idx="6"/>
            <a:endCxn id="2015" idx="2"/>
          </p:cNvCxnSpPr>
          <p:nvPr/>
        </p:nvCxnSpPr>
        <p:spPr>
          <a:xfrm>
            <a:off x="1473300" y="2472075"/>
            <a:ext cx="60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6" name="Google Shape;2016;p10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L-110-090-Activate shelf life expiry date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2017" name="Google Shape;2017;p105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014" name="Google Shape;2014;p105"/>
          <p:cNvSpPr/>
          <p:nvPr/>
        </p:nvSpPr>
        <p:spPr>
          <a:xfrm>
            <a:off x="690600" y="1973025"/>
            <a:ext cx="782700" cy="99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activate shelf life </a:t>
            </a:r>
            <a:r>
              <a:rPr lang="en" sz="600">
                <a:solidFill>
                  <a:schemeClr val="dk1"/>
                </a:solidFill>
              </a:rPr>
              <a:t>expiry</a:t>
            </a:r>
            <a:r>
              <a:rPr lang="en" sz="600">
                <a:solidFill>
                  <a:schemeClr val="dk1"/>
                </a:solidFill>
              </a:rPr>
              <a:t> date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018" name="Google Shape;2018;p105"/>
          <p:cNvSpPr/>
          <p:nvPr/>
        </p:nvSpPr>
        <p:spPr>
          <a:xfrm>
            <a:off x="1562423" y="2072058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Maintain the master data in the </a:t>
            </a:r>
            <a:r>
              <a:rPr lang="en" sz="700"/>
              <a:t>material</a:t>
            </a:r>
            <a:r>
              <a:rPr lang="en" sz="700"/>
              <a:t> master</a:t>
            </a:r>
            <a:endParaRPr sz="700"/>
          </a:p>
        </p:txBody>
      </p:sp>
      <p:sp>
        <p:nvSpPr>
          <p:cNvPr id="2019" name="Google Shape;2019;p105"/>
          <p:cNvSpPr/>
          <p:nvPr/>
        </p:nvSpPr>
        <p:spPr>
          <a:xfrm>
            <a:off x="2375036" y="2072058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GR with Shelf Life Entry</a:t>
            </a:r>
            <a:endParaRPr sz="600"/>
          </a:p>
        </p:txBody>
      </p:sp>
      <p:sp>
        <p:nvSpPr>
          <p:cNvPr id="2020" name="Google Shape;2020;p105"/>
          <p:cNvSpPr/>
          <p:nvPr/>
        </p:nvSpPr>
        <p:spPr>
          <a:xfrm>
            <a:off x="3187650" y="2072058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Automatic Expiry check &amp; inspection lot creation</a:t>
            </a:r>
            <a:endParaRPr sz="600"/>
          </a:p>
        </p:txBody>
      </p:sp>
      <p:sp>
        <p:nvSpPr>
          <p:cNvPr id="2021" name="Google Shape;2021;p105"/>
          <p:cNvSpPr/>
          <p:nvPr/>
        </p:nvSpPr>
        <p:spPr>
          <a:xfrm>
            <a:off x="4000264" y="2072058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Inspection &amp; Expiry date validation automatic</a:t>
            </a:r>
            <a:endParaRPr sz="600"/>
          </a:p>
        </p:txBody>
      </p:sp>
      <p:sp>
        <p:nvSpPr>
          <p:cNvPr id="2022" name="Google Shape;2022;p105"/>
          <p:cNvSpPr/>
          <p:nvPr/>
        </p:nvSpPr>
        <p:spPr>
          <a:xfrm>
            <a:off x="4812877" y="2072058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usage decision</a:t>
            </a:r>
            <a:endParaRPr sz="600"/>
          </a:p>
        </p:txBody>
      </p:sp>
      <p:sp>
        <p:nvSpPr>
          <p:cNvPr id="2023" name="Google Shape;2023;p105"/>
          <p:cNvSpPr/>
          <p:nvPr/>
        </p:nvSpPr>
        <p:spPr>
          <a:xfrm>
            <a:off x="5625491" y="2062651"/>
            <a:ext cx="723600" cy="81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Monitor batch expiry &amp; stock overview</a:t>
            </a:r>
            <a:endParaRPr sz="600"/>
          </a:p>
        </p:txBody>
      </p:sp>
      <p:sp>
        <p:nvSpPr>
          <p:cNvPr id="2015" name="Google Shape;2015;p105"/>
          <p:cNvSpPr/>
          <p:nvPr/>
        </p:nvSpPr>
        <p:spPr>
          <a:xfrm>
            <a:off x="7514901" y="1973025"/>
            <a:ext cx="828000" cy="99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</a:t>
            </a:r>
            <a:r>
              <a:rPr lang="en" sz="600">
                <a:solidFill>
                  <a:schemeClr val="dk1"/>
                </a:solidFill>
              </a:rPr>
              <a:t>: shelf life expiry date activated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024" name="Google Shape;2024;p105"/>
          <p:cNvSpPr/>
          <p:nvPr/>
        </p:nvSpPr>
        <p:spPr>
          <a:xfrm>
            <a:off x="1283625" y="2890750"/>
            <a:ext cx="94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MM02, manage product master data</a:t>
            </a:r>
            <a:endParaRPr sz="1000"/>
          </a:p>
        </p:txBody>
      </p:sp>
      <p:sp>
        <p:nvSpPr>
          <p:cNvPr id="2025" name="Google Shape;2025;p105"/>
          <p:cNvSpPr/>
          <p:nvPr/>
        </p:nvSpPr>
        <p:spPr>
          <a:xfrm>
            <a:off x="2434125" y="2881350"/>
            <a:ext cx="664500" cy="2115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2026" name="Google Shape;2026;p105"/>
          <p:cNvSpPr/>
          <p:nvPr/>
        </p:nvSpPr>
        <p:spPr>
          <a:xfrm>
            <a:off x="4842425" y="2881350"/>
            <a:ext cx="664500" cy="2115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QA11</a:t>
            </a:r>
            <a:endParaRPr sz="1000"/>
          </a:p>
        </p:txBody>
      </p:sp>
      <p:sp>
        <p:nvSpPr>
          <p:cNvPr id="2027" name="Google Shape;2027;p105"/>
          <p:cNvSpPr/>
          <p:nvPr/>
        </p:nvSpPr>
        <p:spPr>
          <a:xfrm>
            <a:off x="5655038" y="2881350"/>
            <a:ext cx="664500" cy="2115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MMBE, MB1C</a:t>
            </a:r>
            <a:endParaRPr sz="1000"/>
          </a:p>
        </p:txBody>
      </p:sp>
      <p:sp>
        <p:nvSpPr>
          <p:cNvPr id="2028" name="Google Shape;2028;p10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10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7.4 Monitor quality of finished products, raw materials and intermediate products</a:t>
            </a:r>
            <a:endParaRPr/>
          </a:p>
        </p:txBody>
      </p:sp>
      <p:sp>
        <p:nvSpPr>
          <p:cNvPr id="2034" name="Google Shape;2034;p10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7.4.6 Reports 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10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M-170-020-Report for Quality results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2040" name="Google Shape;2040;p107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cxnSp>
        <p:nvCxnSpPr>
          <p:cNvPr id="2041" name="Google Shape;2041;p107"/>
          <p:cNvCxnSpPr>
            <a:stCxn id="2042" idx="6"/>
            <a:endCxn id="2043" idx="2"/>
          </p:cNvCxnSpPr>
          <p:nvPr/>
        </p:nvCxnSpPr>
        <p:spPr>
          <a:xfrm>
            <a:off x="1473300" y="2472075"/>
            <a:ext cx="60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2" name="Google Shape;2042;p107"/>
          <p:cNvSpPr/>
          <p:nvPr/>
        </p:nvSpPr>
        <p:spPr>
          <a:xfrm>
            <a:off x="690600" y="1973025"/>
            <a:ext cx="782700" cy="99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display report for quality results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044" name="Google Shape;2044;p107"/>
          <p:cNvSpPr/>
          <p:nvPr/>
        </p:nvSpPr>
        <p:spPr>
          <a:xfrm>
            <a:off x="3322675" y="2138100"/>
            <a:ext cx="1582500" cy="3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display characteristics information</a:t>
            </a:r>
            <a:endParaRPr sz="600"/>
          </a:p>
        </p:txBody>
      </p:sp>
      <p:sp>
        <p:nvSpPr>
          <p:cNvPr id="2043" name="Google Shape;2043;p107"/>
          <p:cNvSpPr/>
          <p:nvPr/>
        </p:nvSpPr>
        <p:spPr>
          <a:xfrm>
            <a:off x="7514901" y="1973025"/>
            <a:ext cx="828000" cy="99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quality results displayed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045" name="Google Shape;2045;p107"/>
          <p:cNvSpPr/>
          <p:nvPr/>
        </p:nvSpPr>
        <p:spPr>
          <a:xfrm>
            <a:off x="2288088" y="2138106"/>
            <a:ext cx="4581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107"/>
          <p:cNvSpPr/>
          <p:nvPr/>
        </p:nvSpPr>
        <p:spPr>
          <a:xfrm>
            <a:off x="2371834" y="2272188"/>
            <a:ext cx="290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107"/>
          <p:cNvSpPr/>
          <p:nvPr/>
        </p:nvSpPr>
        <p:spPr>
          <a:xfrm>
            <a:off x="6825101" y="2138106"/>
            <a:ext cx="4581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107"/>
          <p:cNvSpPr/>
          <p:nvPr/>
        </p:nvSpPr>
        <p:spPr>
          <a:xfrm>
            <a:off x="6908846" y="2272188"/>
            <a:ext cx="290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107"/>
          <p:cNvSpPr/>
          <p:nvPr/>
        </p:nvSpPr>
        <p:spPr>
          <a:xfrm>
            <a:off x="4836800" y="429225"/>
            <a:ext cx="1413000" cy="4356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Stock - single material, stock - multiple material, MMBE</a:t>
            </a:r>
            <a:endParaRPr sz="800"/>
          </a:p>
        </p:txBody>
      </p:sp>
      <p:sp>
        <p:nvSpPr>
          <p:cNvPr id="2050" name="Google Shape;2050;p107"/>
          <p:cNvSpPr/>
          <p:nvPr/>
        </p:nvSpPr>
        <p:spPr>
          <a:xfrm>
            <a:off x="3322675" y="530025"/>
            <a:ext cx="1582500" cy="3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inventory with quality data</a:t>
            </a:r>
            <a:endParaRPr sz="600"/>
          </a:p>
        </p:txBody>
      </p:sp>
      <p:sp>
        <p:nvSpPr>
          <p:cNvPr id="2051" name="Google Shape;2051;p107"/>
          <p:cNvSpPr/>
          <p:nvPr/>
        </p:nvSpPr>
        <p:spPr>
          <a:xfrm>
            <a:off x="3322675" y="1043725"/>
            <a:ext cx="1582500" cy="3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display inspection results</a:t>
            </a:r>
            <a:endParaRPr sz="600"/>
          </a:p>
        </p:txBody>
      </p:sp>
      <p:sp>
        <p:nvSpPr>
          <p:cNvPr id="2052" name="Google Shape;2052;p107"/>
          <p:cNvSpPr/>
          <p:nvPr/>
        </p:nvSpPr>
        <p:spPr>
          <a:xfrm>
            <a:off x="3322675" y="1569750"/>
            <a:ext cx="1582500" cy="3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display inspection lots information</a:t>
            </a:r>
            <a:endParaRPr sz="600"/>
          </a:p>
        </p:txBody>
      </p:sp>
      <p:sp>
        <p:nvSpPr>
          <p:cNvPr id="2053" name="Google Shape;2053;p107"/>
          <p:cNvSpPr/>
          <p:nvPr/>
        </p:nvSpPr>
        <p:spPr>
          <a:xfrm>
            <a:off x="3291150" y="2881500"/>
            <a:ext cx="1582500" cy="3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display nonconformance information</a:t>
            </a:r>
            <a:endParaRPr sz="600"/>
          </a:p>
        </p:txBody>
      </p:sp>
      <p:sp>
        <p:nvSpPr>
          <p:cNvPr id="2054" name="Google Shape;2054;p107"/>
          <p:cNvSpPr/>
          <p:nvPr/>
        </p:nvSpPr>
        <p:spPr>
          <a:xfrm>
            <a:off x="3322675" y="3434600"/>
            <a:ext cx="1582500" cy="3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display quality tasks</a:t>
            </a:r>
            <a:endParaRPr sz="600"/>
          </a:p>
        </p:txBody>
      </p:sp>
      <p:sp>
        <p:nvSpPr>
          <p:cNvPr id="2055" name="Google Shape;2055;p107"/>
          <p:cNvSpPr/>
          <p:nvPr/>
        </p:nvSpPr>
        <p:spPr>
          <a:xfrm>
            <a:off x="3322675" y="3948275"/>
            <a:ext cx="1582500" cy="3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display usage decisions</a:t>
            </a:r>
            <a:endParaRPr sz="600"/>
          </a:p>
        </p:txBody>
      </p:sp>
      <p:sp>
        <p:nvSpPr>
          <p:cNvPr id="2056" name="Google Shape;2056;p107"/>
          <p:cNvSpPr/>
          <p:nvPr/>
        </p:nvSpPr>
        <p:spPr>
          <a:xfrm>
            <a:off x="4905175" y="1031888"/>
            <a:ext cx="1413000" cy="4356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Display inspection results for inspection lot</a:t>
            </a:r>
            <a:endParaRPr sz="800"/>
          </a:p>
        </p:txBody>
      </p:sp>
      <p:sp>
        <p:nvSpPr>
          <p:cNvPr id="2057" name="Google Shape;2057;p107"/>
          <p:cNvSpPr/>
          <p:nvPr/>
        </p:nvSpPr>
        <p:spPr>
          <a:xfrm>
            <a:off x="4836800" y="1551738"/>
            <a:ext cx="1413000" cy="4356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Manage inspection lots, inspection lot analytics, inspection lot detailed analytics</a:t>
            </a:r>
            <a:endParaRPr sz="800"/>
          </a:p>
        </p:txBody>
      </p:sp>
      <p:sp>
        <p:nvSpPr>
          <p:cNvPr id="2058" name="Google Shape;2058;p107"/>
          <p:cNvSpPr/>
          <p:nvPr/>
        </p:nvSpPr>
        <p:spPr>
          <a:xfrm>
            <a:off x="4936650" y="2138088"/>
            <a:ext cx="1413000" cy="4356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Characteristic detailed analytics, characteristic analytics</a:t>
            </a:r>
            <a:endParaRPr sz="800"/>
          </a:p>
        </p:txBody>
      </p:sp>
      <p:sp>
        <p:nvSpPr>
          <p:cNvPr id="2059" name="Google Shape;2059;p107"/>
          <p:cNvSpPr/>
          <p:nvPr/>
        </p:nvSpPr>
        <p:spPr>
          <a:xfrm>
            <a:off x="4936650" y="2805888"/>
            <a:ext cx="1413000" cy="4356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Nonconformance detailed analytics, nonconformacne analytics</a:t>
            </a:r>
            <a:endParaRPr sz="800"/>
          </a:p>
        </p:txBody>
      </p:sp>
      <p:sp>
        <p:nvSpPr>
          <p:cNvPr id="2060" name="Google Shape;2060;p107"/>
          <p:cNvSpPr/>
          <p:nvPr/>
        </p:nvSpPr>
        <p:spPr>
          <a:xfrm>
            <a:off x="4936650" y="3416588"/>
            <a:ext cx="1413000" cy="4356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Manage quality tasks</a:t>
            </a:r>
            <a:endParaRPr sz="800"/>
          </a:p>
        </p:txBody>
      </p:sp>
      <p:sp>
        <p:nvSpPr>
          <p:cNvPr id="2061" name="Google Shape;2061;p107"/>
          <p:cNvSpPr/>
          <p:nvPr/>
        </p:nvSpPr>
        <p:spPr>
          <a:xfrm>
            <a:off x="4964250" y="3930263"/>
            <a:ext cx="1413000" cy="4356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Manage usage decisions</a:t>
            </a:r>
            <a:endParaRPr sz="800"/>
          </a:p>
        </p:txBody>
      </p:sp>
      <p:sp>
        <p:nvSpPr>
          <p:cNvPr id="2062" name="Google Shape;2062;p10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10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7.4 Monitor quality of finished products, raw materials and intermediate products</a:t>
            </a:r>
            <a:endParaRPr/>
          </a:p>
        </p:txBody>
      </p:sp>
      <p:sp>
        <p:nvSpPr>
          <p:cNvPr id="2068" name="Google Shape;2068;p10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7.4.7 Quality Control of Raw Materials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10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</a:t>
            </a:r>
            <a:r>
              <a:rPr lang="en" sz="1779"/>
              <a:t>-130-010: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Generate Inspection lot for Partial PO Item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074" name="Google Shape;2074;p109"/>
          <p:cNvSpPr/>
          <p:nvPr/>
        </p:nvSpPr>
        <p:spPr>
          <a:xfrm>
            <a:off x="211500" y="2509362"/>
            <a:ext cx="6417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generate Inspection lot for Partial PO Item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075" name="Google Shape;2075;p109"/>
          <p:cNvSpPr/>
          <p:nvPr/>
        </p:nvSpPr>
        <p:spPr>
          <a:xfrm>
            <a:off x="8403550" y="2538775"/>
            <a:ext cx="643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inspection lot for Partial PO item generated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076" name="Google Shape;2076;p109"/>
          <p:cNvCxnSpPr>
            <a:stCxn id="2074" idx="6"/>
            <a:endCxn id="2077" idx="1"/>
          </p:cNvCxnSpPr>
          <p:nvPr/>
        </p:nvCxnSpPr>
        <p:spPr>
          <a:xfrm>
            <a:off x="853200" y="2908512"/>
            <a:ext cx="14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7" name="Google Shape;2077;p109"/>
          <p:cNvSpPr/>
          <p:nvPr/>
        </p:nvSpPr>
        <p:spPr>
          <a:xfrm>
            <a:off x="993586" y="2574613"/>
            <a:ext cx="838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Generate Inspection lot for PO item</a:t>
            </a:r>
            <a:endParaRPr sz="900"/>
          </a:p>
        </p:txBody>
      </p:sp>
      <p:cxnSp>
        <p:nvCxnSpPr>
          <p:cNvPr id="2078" name="Google Shape;2078;p109"/>
          <p:cNvCxnSpPr>
            <a:stCxn id="2077" idx="3"/>
            <a:endCxn id="2079" idx="1"/>
          </p:cNvCxnSpPr>
          <p:nvPr/>
        </p:nvCxnSpPr>
        <p:spPr>
          <a:xfrm flipH="1" rot="10800000">
            <a:off x="1832386" y="2896513"/>
            <a:ext cx="1404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0" name="Google Shape;2080;p109"/>
          <p:cNvSpPr/>
          <p:nvPr/>
        </p:nvSpPr>
        <p:spPr>
          <a:xfrm>
            <a:off x="2961774" y="970300"/>
            <a:ext cx="724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Inspection Plan</a:t>
            </a:r>
            <a:endParaRPr sz="900"/>
          </a:p>
        </p:txBody>
      </p:sp>
      <p:sp>
        <p:nvSpPr>
          <p:cNvPr id="2081" name="Google Shape;2081;p109"/>
          <p:cNvSpPr/>
          <p:nvPr/>
        </p:nvSpPr>
        <p:spPr>
          <a:xfrm>
            <a:off x="3873249" y="970300"/>
            <a:ext cx="643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Inspection plan to Inspection Lot</a:t>
            </a:r>
            <a:endParaRPr sz="900"/>
          </a:p>
        </p:txBody>
      </p:sp>
      <p:cxnSp>
        <p:nvCxnSpPr>
          <p:cNvPr id="2082" name="Google Shape;2082;p109"/>
          <p:cNvCxnSpPr>
            <a:stCxn id="2080" idx="3"/>
            <a:endCxn id="2081" idx="1"/>
          </p:cNvCxnSpPr>
          <p:nvPr/>
        </p:nvCxnSpPr>
        <p:spPr>
          <a:xfrm>
            <a:off x="3686574" y="1304200"/>
            <a:ext cx="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3" name="Google Shape;2083;p109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084" name="Google Shape;2084;p109"/>
          <p:cNvSpPr/>
          <p:nvPr/>
        </p:nvSpPr>
        <p:spPr>
          <a:xfrm>
            <a:off x="703150" y="3648350"/>
            <a:ext cx="157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2079" name="Google Shape;2079;p109"/>
          <p:cNvSpPr/>
          <p:nvPr/>
        </p:nvSpPr>
        <p:spPr>
          <a:xfrm>
            <a:off x="1972676" y="2562481"/>
            <a:ext cx="4581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109"/>
          <p:cNvSpPr/>
          <p:nvPr/>
        </p:nvSpPr>
        <p:spPr>
          <a:xfrm>
            <a:off x="2056421" y="2696563"/>
            <a:ext cx="290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09"/>
          <p:cNvSpPr/>
          <p:nvPr/>
        </p:nvSpPr>
        <p:spPr>
          <a:xfrm>
            <a:off x="2412724" y="1638106"/>
            <a:ext cx="4581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109"/>
          <p:cNvSpPr/>
          <p:nvPr/>
        </p:nvSpPr>
        <p:spPr>
          <a:xfrm>
            <a:off x="2496469" y="1772188"/>
            <a:ext cx="290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109"/>
          <p:cNvSpPr/>
          <p:nvPr/>
        </p:nvSpPr>
        <p:spPr>
          <a:xfrm>
            <a:off x="4943994" y="2574631"/>
            <a:ext cx="4581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109"/>
          <p:cNvSpPr/>
          <p:nvPr/>
        </p:nvSpPr>
        <p:spPr>
          <a:xfrm>
            <a:off x="5027739" y="2708713"/>
            <a:ext cx="290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09"/>
          <p:cNvSpPr/>
          <p:nvPr/>
        </p:nvSpPr>
        <p:spPr>
          <a:xfrm>
            <a:off x="4436382" y="1638106"/>
            <a:ext cx="4581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109"/>
          <p:cNvSpPr/>
          <p:nvPr/>
        </p:nvSpPr>
        <p:spPr>
          <a:xfrm>
            <a:off x="4520127" y="1772188"/>
            <a:ext cx="290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109"/>
          <p:cNvSpPr/>
          <p:nvPr/>
        </p:nvSpPr>
        <p:spPr>
          <a:xfrm>
            <a:off x="5505375" y="2593525"/>
            <a:ext cx="638400" cy="63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Release Inspection Lot (Automatic)</a:t>
            </a:r>
            <a:endParaRPr sz="900"/>
          </a:p>
        </p:txBody>
      </p:sp>
      <p:cxnSp>
        <p:nvCxnSpPr>
          <p:cNvPr id="2093" name="Google Shape;2093;p109"/>
          <p:cNvCxnSpPr>
            <a:stCxn id="2079" idx="0"/>
            <a:endCxn id="2086" idx="1"/>
          </p:cNvCxnSpPr>
          <p:nvPr/>
        </p:nvCxnSpPr>
        <p:spPr>
          <a:xfrm rot="-5400000">
            <a:off x="2011976" y="2161831"/>
            <a:ext cx="590400" cy="21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4" name="Google Shape;2094;p109"/>
          <p:cNvCxnSpPr>
            <a:stCxn id="2081" idx="3"/>
            <a:endCxn id="2090" idx="0"/>
          </p:cNvCxnSpPr>
          <p:nvPr/>
        </p:nvCxnSpPr>
        <p:spPr>
          <a:xfrm>
            <a:off x="4516749" y="1304200"/>
            <a:ext cx="148800" cy="33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5" name="Google Shape;2095;p109"/>
          <p:cNvCxnSpPr>
            <a:stCxn id="2086" idx="0"/>
            <a:endCxn id="2080" idx="1"/>
          </p:cNvCxnSpPr>
          <p:nvPr/>
        </p:nvCxnSpPr>
        <p:spPr>
          <a:xfrm rot="-5400000">
            <a:off x="2634874" y="1311106"/>
            <a:ext cx="333900" cy="320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6" name="Google Shape;2096;p109"/>
          <p:cNvCxnSpPr>
            <a:stCxn id="2090" idx="3"/>
            <a:endCxn id="2088" idx="0"/>
          </p:cNvCxnSpPr>
          <p:nvPr/>
        </p:nvCxnSpPr>
        <p:spPr>
          <a:xfrm>
            <a:off x="4894482" y="1972006"/>
            <a:ext cx="278700" cy="60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7" name="Google Shape;2097;p109"/>
          <p:cNvSpPr txBox="1"/>
          <p:nvPr/>
        </p:nvSpPr>
        <p:spPr>
          <a:xfrm>
            <a:off x="1483141" y="1713688"/>
            <a:ext cx="83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Inspection Plan Required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098" name="Google Shape;2098;p109"/>
          <p:cNvSpPr txBox="1"/>
          <p:nvPr/>
        </p:nvSpPr>
        <p:spPr>
          <a:xfrm>
            <a:off x="2430859" y="2896363"/>
            <a:ext cx="83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Inspection Plan Not Required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2099" name="Google Shape;2099;p109"/>
          <p:cNvCxnSpPr>
            <a:stCxn id="2079" idx="3"/>
            <a:endCxn id="2088" idx="1"/>
          </p:cNvCxnSpPr>
          <p:nvPr/>
        </p:nvCxnSpPr>
        <p:spPr>
          <a:xfrm>
            <a:off x="2430776" y="2896381"/>
            <a:ext cx="2513100" cy="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0" name="Google Shape;2100;p109"/>
          <p:cNvCxnSpPr>
            <a:stCxn id="2088" idx="3"/>
            <a:endCxn id="2092" idx="1"/>
          </p:cNvCxnSpPr>
          <p:nvPr/>
        </p:nvCxnSpPr>
        <p:spPr>
          <a:xfrm>
            <a:off x="5402094" y="2908531"/>
            <a:ext cx="10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1" name="Google Shape;2101;p109"/>
          <p:cNvCxnSpPr>
            <a:stCxn id="2092" idx="3"/>
            <a:endCxn id="2075" idx="2"/>
          </p:cNvCxnSpPr>
          <p:nvPr/>
        </p:nvCxnSpPr>
        <p:spPr>
          <a:xfrm>
            <a:off x="6143775" y="2908525"/>
            <a:ext cx="225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2" name="Google Shape;2102;p109"/>
          <p:cNvCxnSpPr>
            <a:stCxn id="2086" idx="3"/>
            <a:endCxn id="2090" idx="1"/>
          </p:cNvCxnSpPr>
          <p:nvPr/>
        </p:nvCxnSpPr>
        <p:spPr>
          <a:xfrm>
            <a:off x="2870824" y="1972006"/>
            <a:ext cx="156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3" name="Google Shape;2103;p109"/>
          <p:cNvSpPr txBox="1"/>
          <p:nvPr/>
        </p:nvSpPr>
        <p:spPr>
          <a:xfrm>
            <a:off x="2097993" y="941788"/>
            <a:ext cx="83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Inspection Plan Not Created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104" name="Google Shape;2104;p109"/>
          <p:cNvSpPr txBox="1"/>
          <p:nvPr/>
        </p:nvSpPr>
        <p:spPr>
          <a:xfrm>
            <a:off x="2847836" y="1919075"/>
            <a:ext cx="83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Inspection Plan Created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105" name="Google Shape;2105;p109"/>
          <p:cNvSpPr/>
          <p:nvPr/>
        </p:nvSpPr>
        <p:spPr>
          <a:xfrm>
            <a:off x="795288" y="3352150"/>
            <a:ext cx="1235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/>
              <a:t>inspection lot</a:t>
            </a:r>
            <a:endParaRPr sz="1000"/>
          </a:p>
        </p:txBody>
      </p:sp>
      <p:sp>
        <p:nvSpPr>
          <p:cNvPr id="2106" name="Google Shape;2106;p109"/>
          <p:cNvSpPr/>
          <p:nvPr/>
        </p:nvSpPr>
        <p:spPr>
          <a:xfrm>
            <a:off x="2081910" y="718600"/>
            <a:ext cx="17970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Plans &amp; create inspection plan</a:t>
            </a:r>
            <a:endParaRPr sz="1000"/>
          </a:p>
        </p:txBody>
      </p:sp>
      <p:sp>
        <p:nvSpPr>
          <p:cNvPr id="2107" name="Google Shape;2107;p109"/>
          <p:cNvSpPr/>
          <p:nvPr/>
        </p:nvSpPr>
        <p:spPr>
          <a:xfrm>
            <a:off x="3878986" y="747300"/>
            <a:ext cx="1235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2108" name="Google Shape;2108;p10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109" name="Google Shape;2109;p109"/>
          <p:cNvSpPr/>
          <p:nvPr/>
        </p:nvSpPr>
        <p:spPr>
          <a:xfrm>
            <a:off x="6663350" y="1952275"/>
            <a:ext cx="638400" cy="63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send inspection lot to LIMS</a:t>
            </a:r>
            <a:endParaRPr sz="700"/>
          </a:p>
        </p:txBody>
      </p:sp>
      <p:sp>
        <p:nvSpPr>
          <p:cNvPr id="2110" name="Google Shape;2110;p109"/>
          <p:cNvSpPr/>
          <p:nvPr/>
        </p:nvSpPr>
        <p:spPr>
          <a:xfrm>
            <a:off x="6288894" y="2562481"/>
            <a:ext cx="4581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109"/>
          <p:cNvSpPr/>
          <p:nvPr/>
        </p:nvSpPr>
        <p:spPr>
          <a:xfrm>
            <a:off x="6372639" y="2696563"/>
            <a:ext cx="290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109"/>
          <p:cNvSpPr/>
          <p:nvPr/>
        </p:nvSpPr>
        <p:spPr>
          <a:xfrm>
            <a:off x="7836944" y="2574631"/>
            <a:ext cx="4581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109"/>
          <p:cNvSpPr/>
          <p:nvPr/>
        </p:nvSpPr>
        <p:spPr>
          <a:xfrm>
            <a:off x="7920689" y="2708713"/>
            <a:ext cx="290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109"/>
          <p:cNvSpPr/>
          <p:nvPr/>
        </p:nvSpPr>
        <p:spPr>
          <a:xfrm>
            <a:off x="7406250" y="1958350"/>
            <a:ext cx="638400" cy="63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event</a:t>
            </a:r>
            <a:r>
              <a:rPr lang="en" sz="700"/>
              <a:t>: Inspection Lot Received</a:t>
            </a:r>
            <a:endParaRPr sz="700"/>
          </a:p>
        </p:txBody>
      </p:sp>
      <p:cxnSp>
        <p:nvCxnSpPr>
          <p:cNvPr id="2115" name="Google Shape;2115;p109"/>
          <p:cNvCxnSpPr>
            <a:stCxn id="2110" idx="0"/>
            <a:endCxn id="2109" idx="1"/>
          </p:cNvCxnSpPr>
          <p:nvPr/>
        </p:nvCxnSpPr>
        <p:spPr>
          <a:xfrm rot="-5400000">
            <a:off x="6443094" y="2342131"/>
            <a:ext cx="295200" cy="145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6" name="Google Shape;2116;p109"/>
          <p:cNvCxnSpPr>
            <a:stCxn id="2114" idx="3"/>
          </p:cNvCxnSpPr>
          <p:nvPr/>
        </p:nvCxnSpPr>
        <p:spPr>
          <a:xfrm>
            <a:off x="8044650" y="2273350"/>
            <a:ext cx="73500" cy="334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7" name="Google Shape;2117;p109"/>
          <p:cNvSpPr txBox="1"/>
          <p:nvPr/>
        </p:nvSpPr>
        <p:spPr>
          <a:xfrm>
            <a:off x="5994586" y="1646638"/>
            <a:ext cx="83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LIMS applicable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118" name="Google Shape;2118;p109"/>
          <p:cNvSpPr txBox="1"/>
          <p:nvPr/>
        </p:nvSpPr>
        <p:spPr>
          <a:xfrm>
            <a:off x="6612849" y="2867863"/>
            <a:ext cx="83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LIMS not applicable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3" name="Google Shape;2123;p110"/>
          <p:cNvCxnSpPr>
            <a:stCxn id="2124" idx="3"/>
            <a:endCxn id="2125" idx="1"/>
          </p:cNvCxnSpPr>
          <p:nvPr/>
        </p:nvCxnSpPr>
        <p:spPr>
          <a:xfrm flipH="1" rot="10800000">
            <a:off x="2975507" y="4323000"/>
            <a:ext cx="22968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6" name="Google Shape;2126;p110"/>
          <p:cNvSpPr/>
          <p:nvPr/>
        </p:nvSpPr>
        <p:spPr>
          <a:xfrm>
            <a:off x="2509357" y="2598300"/>
            <a:ext cx="607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Manage usage decision</a:t>
            </a:r>
            <a:endParaRPr sz="900"/>
          </a:p>
        </p:txBody>
      </p:sp>
      <p:sp>
        <p:nvSpPr>
          <p:cNvPr id="2127" name="Google Shape;2127;p11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P-130-030: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Usage Decision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128" name="Google Shape;2128;p110"/>
          <p:cNvSpPr/>
          <p:nvPr/>
        </p:nvSpPr>
        <p:spPr>
          <a:xfrm>
            <a:off x="28600" y="2533063"/>
            <a:ext cx="7227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make a usage decision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129" name="Google Shape;2129;p110"/>
          <p:cNvSpPr/>
          <p:nvPr/>
        </p:nvSpPr>
        <p:spPr>
          <a:xfrm>
            <a:off x="8526925" y="2562450"/>
            <a:ext cx="5826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usage decision made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130" name="Google Shape;2130;p110"/>
          <p:cNvCxnSpPr>
            <a:stCxn id="2128" idx="6"/>
            <a:endCxn id="2131" idx="1"/>
          </p:cNvCxnSpPr>
          <p:nvPr/>
        </p:nvCxnSpPr>
        <p:spPr>
          <a:xfrm>
            <a:off x="751300" y="2932213"/>
            <a:ext cx="9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1" name="Google Shape;2131;p110"/>
          <p:cNvSpPr/>
          <p:nvPr/>
        </p:nvSpPr>
        <p:spPr>
          <a:xfrm>
            <a:off x="1698775" y="2598325"/>
            <a:ext cx="734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Record Material Inspection Results</a:t>
            </a:r>
            <a:endParaRPr sz="900"/>
          </a:p>
        </p:txBody>
      </p:sp>
      <p:cxnSp>
        <p:nvCxnSpPr>
          <p:cNvPr id="2132" name="Google Shape;2132;p110"/>
          <p:cNvCxnSpPr>
            <a:stCxn id="2131" idx="3"/>
            <a:endCxn id="2126" idx="1"/>
          </p:cNvCxnSpPr>
          <p:nvPr/>
        </p:nvCxnSpPr>
        <p:spPr>
          <a:xfrm>
            <a:off x="2433475" y="2932225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3" name="Google Shape;2133;p110"/>
          <p:cNvSpPr/>
          <p:nvPr/>
        </p:nvSpPr>
        <p:spPr>
          <a:xfrm>
            <a:off x="3169682" y="2598331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110"/>
          <p:cNvSpPr/>
          <p:nvPr/>
        </p:nvSpPr>
        <p:spPr>
          <a:xfrm>
            <a:off x="3265551" y="2732413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110"/>
          <p:cNvSpPr/>
          <p:nvPr/>
        </p:nvSpPr>
        <p:spPr>
          <a:xfrm>
            <a:off x="6965570" y="2598331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110"/>
          <p:cNvSpPr/>
          <p:nvPr/>
        </p:nvSpPr>
        <p:spPr>
          <a:xfrm>
            <a:off x="7061360" y="2732388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110"/>
          <p:cNvSpPr/>
          <p:nvPr/>
        </p:nvSpPr>
        <p:spPr>
          <a:xfrm>
            <a:off x="5763506" y="2176213"/>
            <a:ext cx="9603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Put Stock to unrestricted</a:t>
            </a:r>
            <a:endParaRPr sz="900"/>
          </a:p>
        </p:txBody>
      </p:sp>
      <p:sp>
        <p:nvSpPr>
          <p:cNvPr id="2138" name="Google Shape;2138;p110"/>
          <p:cNvSpPr/>
          <p:nvPr/>
        </p:nvSpPr>
        <p:spPr>
          <a:xfrm>
            <a:off x="5779231" y="2704650"/>
            <a:ext cx="9603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Reclassify</a:t>
            </a:r>
            <a:endParaRPr sz="900"/>
          </a:p>
        </p:txBody>
      </p:sp>
      <p:sp>
        <p:nvSpPr>
          <p:cNvPr id="2139" name="Google Shape;2139;p110"/>
          <p:cNvSpPr/>
          <p:nvPr/>
        </p:nvSpPr>
        <p:spPr>
          <a:xfrm>
            <a:off x="5779243" y="3233075"/>
            <a:ext cx="9603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Reject</a:t>
            </a:r>
            <a:endParaRPr sz="900"/>
          </a:p>
        </p:txBody>
      </p:sp>
      <p:cxnSp>
        <p:nvCxnSpPr>
          <p:cNvPr id="2140" name="Google Shape;2140;p110"/>
          <p:cNvCxnSpPr>
            <a:stCxn id="2138" idx="3"/>
            <a:endCxn id="2135" idx="1"/>
          </p:cNvCxnSpPr>
          <p:nvPr/>
        </p:nvCxnSpPr>
        <p:spPr>
          <a:xfrm>
            <a:off x="6739531" y="2932200"/>
            <a:ext cx="22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1" name="Google Shape;2141;p110"/>
          <p:cNvCxnSpPr>
            <a:stCxn id="2133" idx="0"/>
            <a:endCxn id="2142" idx="1"/>
          </p:cNvCxnSpPr>
          <p:nvPr/>
        </p:nvCxnSpPr>
        <p:spPr>
          <a:xfrm rot="-5400000">
            <a:off x="3098432" y="2179231"/>
            <a:ext cx="752700" cy="85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3" name="Google Shape;2143;p110"/>
          <p:cNvCxnSpPr>
            <a:stCxn id="2137" idx="3"/>
            <a:endCxn id="2135" idx="0"/>
          </p:cNvCxnSpPr>
          <p:nvPr/>
        </p:nvCxnSpPr>
        <p:spPr>
          <a:xfrm>
            <a:off x="6723806" y="2403763"/>
            <a:ext cx="504000" cy="19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4" name="Google Shape;2144;p110"/>
          <p:cNvCxnSpPr>
            <a:stCxn id="2139" idx="3"/>
            <a:endCxn id="2135" idx="2"/>
          </p:cNvCxnSpPr>
          <p:nvPr/>
        </p:nvCxnSpPr>
        <p:spPr>
          <a:xfrm flipH="1" rot="10800000">
            <a:off x="6739543" y="3266225"/>
            <a:ext cx="488400" cy="194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5" name="Google Shape;2145;p110"/>
          <p:cNvSpPr txBox="1"/>
          <p:nvPr/>
        </p:nvSpPr>
        <p:spPr>
          <a:xfrm>
            <a:off x="2824180" y="1814114"/>
            <a:ext cx="6078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EWM managed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46" name="Google Shape;2146;p110"/>
          <p:cNvSpPr txBox="1"/>
          <p:nvPr/>
        </p:nvSpPr>
        <p:spPr>
          <a:xfrm>
            <a:off x="5156873" y="2507252"/>
            <a:ext cx="6078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Reclassify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47" name="Google Shape;2147;p110"/>
          <p:cNvSpPr txBox="1"/>
          <p:nvPr/>
        </p:nvSpPr>
        <p:spPr>
          <a:xfrm>
            <a:off x="5026042" y="3186902"/>
            <a:ext cx="6078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Reject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48" name="Google Shape;2148;p110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149" name="Google Shape;2149;p110"/>
          <p:cNvSpPr/>
          <p:nvPr/>
        </p:nvSpPr>
        <p:spPr>
          <a:xfrm>
            <a:off x="2423540" y="3384300"/>
            <a:ext cx="734700" cy="455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usage decision</a:t>
            </a:r>
            <a:endParaRPr sz="1000"/>
          </a:p>
        </p:txBody>
      </p:sp>
      <p:cxnSp>
        <p:nvCxnSpPr>
          <p:cNvPr id="2150" name="Google Shape;2150;p110"/>
          <p:cNvCxnSpPr>
            <a:stCxn id="2126" idx="3"/>
            <a:endCxn id="2133" idx="1"/>
          </p:cNvCxnSpPr>
          <p:nvPr/>
        </p:nvCxnSpPr>
        <p:spPr>
          <a:xfrm>
            <a:off x="3117157" y="2932200"/>
            <a:ext cx="5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1" name="Google Shape;2151;p110"/>
          <p:cNvSpPr/>
          <p:nvPr/>
        </p:nvSpPr>
        <p:spPr>
          <a:xfrm>
            <a:off x="2589485" y="2375250"/>
            <a:ext cx="492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QE11</a:t>
            </a:r>
            <a:endParaRPr sz="1000"/>
          </a:p>
        </p:txBody>
      </p:sp>
      <p:sp>
        <p:nvSpPr>
          <p:cNvPr id="2142" name="Google Shape;2142;p110"/>
          <p:cNvSpPr/>
          <p:nvPr/>
        </p:nvSpPr>
        <p:spPr>
          <a:xfrm>
            <a:off x="3517454" y="1511868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110"/>
          <p:cNvSpPr/>
          <p:nvPr/>
        </p:nvSpPr>
        <p:spPr>
          <a:xfrm>
            <a:off x="3613323" y="1645950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110"/>
          <p:cNvSpPr/>
          <p:nvPr/>
        </p:nvSpPr>
        <p:spPr>
          <a:xfrm>
            <a:off x="4045775" y="482393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110"/>
          <p:cNvSpPr/>
          <p:nvPr/>
        </p:nvSpPr>
        <p:spPr>
          <a:xfrm>
            <a:off x="4141645" y="616475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5" name="Google Shape;2155;p110"/>
          <p:cNvCxnSpPr>
            <a:stCxn id="2142" idx="0"/>
            <a:endCxn id="2153" idx="1"/>
          </p:cNvCxnSpPr>
          <p:nvPr/>
        </p:nvCxnSpPr>
        <p:spPr>
          <a:xfrm rot="-5400000">
            <a:off x="3565004" y="1030968"/>
            <a:ext cx="695700" cy="26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6" name="Google Shape;2156;p110"/>
          <p:cNvSpPr txBox="1"/>
          <p:nvPr/>
        </p:nvSpPr>
        <p:spPr>
          <a:xfrm>
            <a:off x="3234154" y="659364"/>
            <a:ext cx="6078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partially approved, rejected or reclassified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57" name="Google Shape;2157;p110"/>
          <p:cNvSpPr/>
          <p:nvPr/>
        </p:nvSpPr>
        <p:spPr>
          <a:xfrm>
            <a:off x="4999097" y="30650"/>
            <a:ext cx="9603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Put Stock to unrestricted</a:t>
            </a:r>
            <a:endParaRPr sz="900"/>
          </a:p>
        </p:txBody>
      </p:sp>
      <p:sp>
        <p:nvSpPr>
          <p:cNvPr id="2158" name="Google Shape;2158;p110"/>
          <p:cNvSpPr/>
          <p:nvPr/>
        </p:nvSpPr>
        <p:spPr>
          <a:xfrm>
            <a:off x="4999097" y="588750"/>
            <a:ext cx="9603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Reject</a:t>
            </a:r>
            <a:endParaRPr sz="900"/>
          </a:p>
        </p:txBody>
      </p:sp>
      <p:sp>
        <p:nvSpPr>
          <p:cNvPr id="2159" name="Google Shape;2159;p110"/>
          <p:cNvSpPr/>
          <p:nvPr/>
        </p:nvSpPr>
        <p:spPr>
          <a:xfrm>
            <a:off x="4988966" y="1146850"/>
            <a:ext cx="9603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Reclassify</a:t>
            </a:r>
            <a:endParaRPr sz="900"/>
          </a:p>
        </p:txBody>
      </p:sp>
      <p:cxnSp>
        <p:nvCxnSpPr>
          <p:cNvPr id="2160" name="Google Shape;2160;p110"/>
          <p:cNvCxnSpPr>
            <a:stCxn id="2153" idx="0"/>
            <a:endCxn id="2157" idx="1"/>
          </p:cNvCxnSpPr>
          <p:nvPr/>
        </p:nvCxnSpPr>
        <p:spPr>
          <a:xfrm rot="-5400000">
            <a:off x="4541525" y="24893"/>
            <a:ext cx="224100" cy="69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1" name="Google Shape;2161;p110"/>
          <p:cNvCxnSpPr>
            <a:stCxn id="2153" idx="2"/>
            <a:endCxn id="2159" idx="1"/>
          </p:cNvCxnSpPr>
          <p:nvPr/>
        </p:nvCxnSpPr>
        <p:spPr>
          <a:xfrm flipH="1" rot="-5400000">
            <a:off x="4536425" y="921893"/>
            <a:ext cx="224100" cy="680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2" name="Google Shape;2162;p110"/>
          <p:cNvCxnSpPr>
            <a:stCxn id="2153" idx="3"/>
            <a:endCxn id="2158" idx="1"/>
          </p:cNvCxnSpPr>
          <p:nvPr/>
        </p:nvCxnSpPr>
        <p:spPr>
          <a:xfrm>
            <a:off x="4570475" y="816293"/>
            <a:ext cx="42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3" name="Google Shape;2163;p110"/>
          <p:cNvSpPr txBox="1"/>
          <p:nvPr/>
        </p:nvSpPr>
        <p:spPr>
          <a:xfrm>
            <a:off x="3841982" y="60900"/>
            <a:ext cx="11826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partially approved,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64" name="Google Shape;2164;p110"/>
          <p:cNvSpPr txBox="1"/>
          <p:nvPr/>
        </p:nvSpPr>
        <p:spPr>
          <a:xfrm>
            <a:off x="4308102" y="391350"/>
            <a:ext cx="11826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partially Rejected,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65" name="Google Shape;2165;p110"/>
          <p:cNvSpPr txBox="1"/>
          <p:nvPr/>
        </p:nvSpPr>
        <p:spPr>
          <a:xfrm>
            <a:off x="4344865" y="952800"/>
            <a:ext cx="11826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partially reclassified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66" name="Google Shape;2166;p110"/>
          <p:cNvSpPr/>
          <p:nvPr/>
        </p:nvSpPr>
        <p:spPr>
          <a:xfrm>
            <a:off x="7061346" y="505593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110"/>
          <p:cNvSpPr/>
          <p:nvPr/>
        </p:nvSpPr>
        <p:spPr>
          <a:xfrm>
            <a:off x="7157216" y="639675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8" name="Google Shape;2168;p110"/>
          <p:cNvCxnSpPr>
            <a:stCxn id="2157" idx="3"/>
            <a:endCxn id="2166" idx="0"/>
          </p:cNvCxnSpPr>
          <p:nvPr/>
        </p:nvCxnSpPr>
        <p:spPr>
          <a:xfrm>
            <a:off x="5959397" y="258200"/>
            <a:ext cx="1364400" cy="247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9" name="Google Shape;2169;p110"/>
          <p:cNvCxnSpPr>
            <a:stCxn id="2159" idx="3"/>
            <a:endCxn id="2166" idx="2"/>
          </p:cNvCxnSpPr>
          <p:nvPr/>
        </p:nvCxnSpPr>
        <p:spPr>
          <a:xfrm flipH="1" rot="10800000">
            <a:off x="5949266" y="1173400"/>
            <a:ext cx="1374300" cy="201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0" name="Google Shape;2170;p110"/>
          <p:cNvCxnSpPr>
            <a:stCxn id="2158" idx="3"/>
            <a:endCxn id="2166" idx="1"/>
          </p:cNvCxnSpPr>
          <p:nvPr/>
        </p:nvCxnSpPr>
        <p:spPr>
          <a:xfrm>
            <a:off x="5959397" y="816300"/>
            <a:ext cx="11019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1" name="Google Shape;2171;p110"/>
          <p:cNvSpPr/>
          <p:nvPr/>
        </p:nvSpPr>
        <p:spPr>
          <a:xfrm>
            <a:off x="4658215" y="2598293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110"/>
          <p:cNvSpPr/>
          <p:nvPr/>
        </p:nvSpPr>
        <p:spPr>
          <a:xfrm>
            <a:off x="4754084" y="2732375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110"/>
          <p:cNvSpPr/>
          <p:nvPr/>
        </p:nvSpPr>
        <p:spPr>
          <a:xfrm>
            <a:off x="3935464" y="2598343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110"/>
          <p:cNvSpPr/>
          <p:nvPr/>
        </p:nvSpPr>
        <p:spPr>
          <a:xfrm>
            <a:off x="4031334" y="2732425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110"/>
          <p:cNvSpPr/>
          <p:nvPr/>
        </p:nvSpPr>
        <p:spPr>
          <a:xfrm>
            <a:off x="7602626" y="2598318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110"/>
          <p:cNvSpPr/>
          <p:nvPr/>
        </p:nvSpPr>
        <p:spPr>
          <a:xfrm>
            <a:off x="7698496" y="2732400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7" name="Google Shape;2177;p110"/>
          <p:cNvCxnSpPr/>
          <p:nvPr/>
        </p:nvCxnSpPr>
        <p:spPr>
          <a:xfrm>
            <a:off x="7433411" y="2932225"/>
            <a:ext cx="22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8" name="Google Shape;2178;p110"/>
          <p:cNvCxnSpPr/>
          <p:nvPr/>
        </p:nvCxnSpPr>
        <p:spPr>
          <a:xfrm>
            <a:off x="8127255" y="2932225"/>
            <a:ext cx="22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9" name="Google Shape;2179;p110"/>
          <p:cNvCxnSpPr>
            <a:stCxn id="2142" idx="3"/>
            <a:endCxn id="2173" idx="0"/>
          </p:cNvCxnSpPr>
          <p:nvPr/>
        </p:nvCxnSpPr>
        <p:spPr>
          <a:xfrm>
            <a:off x="4042154" y="1845768"/>
            <a:ext cx="155700" cy="75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0" name="Google Shape;2180;p110"/>
          <p:cNvCxnSpPr>
            <a:stCxn id="2133" idx="3"/>
            <a:endCxn id="2173" idx="1"/>
          </p:cNvCxnSpPr>
          <p:nvPr/>
        </p:nvCxnSpPr>
        <p:spPr>
          <a:xfrm>
            <a:off x="3694382" y="2932231"/>
            <a:ext cx="2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1" name="Google Shape;2181;p110"/>
          <p:cNvCxnSpPr>
            <a:stCxn id="2173" idx="3"/>
            <a:endCxn id="2171" idx="1"/>
          </p:cNvCxnSpPr>
          <p:nvPr/>
        </p:nvCxnSpPr>
        <p:spPr>
          <a:xfrm>
            <a:off x="4460164" y="2932243"/>
            <a:ext cx="19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2" name="Google Shape;2182;p110"/>
          <p:cNvCxnSpPr>
            <a:stCxn id="2171" idx="0"/>
            <a:endCxn id="2137" idx="1"/>
          </p:cNvCxnSpPr>
          <p:nvPr/>
        </p:nvCxnSpPr>
        <p:spPr>
          <a:xfrm rot="-5400000">
            <a:off x="5244865" y="2079593"/>
            <a:ext cx="194400" cy="843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3" name="Google Shape;2183;p110"/>
          <p:cNvCxnSpPr>
            <a:stCxn id="2171" idx="2"/>
            <a:endCxn id="2139" idx="1"/>
          </p:cNvCxnSpPr>
          <p:nvPr/>
        </p:nvCxnSpPr>
        <p:spPr>
          <a:xfrm flipH="1" rot="-5400000">
            <a:off x="5252665" y="2933993"/>
            <a:ext cx="194400" cy="85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4" name="Google Shape;2184;p110"/>
          <p:cNvCxnSpPr>
            <a:stCxn id="2171" idx="3"/>
            <a:endCxn id="2138" idx="1"/>
          </p:cNvCxnSpPr>
          <p:nvPr/>
        </p:nvCxnSpPr>
        <p:spPr>
          <a:xfrm>
            <a:off x="5182915" y="2932193"/>
            <a:ext cx="59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5" name="Google Shape;2185;p110"/>
          <p:cNvSpPr txBox="1"/>
          <p:nvPr/>
        </p:nvSpPr>
        <p:spPr>
          <a:xfrm>
            <a:off x="5115438" y="2001427"/>
            <a:ext cx="6078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Approve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2186" name="Google Shape;2186;p110"/>
          <p:cNvCxnSpPr>
            <a:stCxn id="2166" idx="3"/>
            <a:endCxn id="2175" idx="0"/>
          </p:cNvCxnSpPr>
          <p:nvPr/>
        </p:nvCxnSpPr>
        <p:spPr>
          <a:xfrm>
            <a:off x="7586046" y="839493"/>
            <a:ext cx="279000" cy="1758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7" name="Google Shape;2187;p110"/>
          <p:cNvSpPr txBox="1"/>
          <p:nvPr/>
        </p:nvSpPr>
        <p:spPr>
          <a:xfrm>
            <a:off x="3533817" y="3132014"/>
            <a:ext cx="6078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Not EWM managed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88" name="Google Shape;2188;p110"/>
          <p:cNvSpPr txBox="1"/>
          <p:nvPr/>
        </p:nvSpPr>
        <p:spPr>
          <a:xfrm>
            <a:off x="4127547" y="1675650"/>
            <a:ext cx="8589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Fully approved, rejected or reclassified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89" name="Google Shape;2189;p110"/>
          <p:cNvSpPr/>
          <p:nvPr/>
        </p:nvSpPr>
        <p:spPr>
          <a:xfrm>
            <a:off x="8168036" y="89775"/>
            <a:ext cx="7506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190" name="Google Shape;2190;p110"/>
          <p:cNvSpPr/>
          <p:nvPr/>
        </p:nvSpPr>
        <p:spPr>
          <a:xfrm>
            <a:off x="895307" y="2598356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110"/>
          <p:cNvSpPr/>
          <p:nvPr/>
        </p:nvSpPr>
        <p:spPr>
          <a:xfrm>
            <a:off x="991176" y="2732438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110"/>
          <p:cNvSpPr/>
          <p:nvPr/>
        </p:nvSpPr>
        <p:spPr>
          <a:xfrm>
            <a:off x="8070407" y="2598281"/>
            <a:ext cx="524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110"/>
          <p:cNvSpPr/>
          <p:nvPr/>
        </p:nvSpPr>
        <p:spPr>
          <a:xfrm>
            <a:off x="8166276" y="2732363"/>
            <a:ext cx="3327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110"/>
          <p:cNvSpPr txBox="1"/>
          <p:nvPr/>
        </p:nvSpPr>
        <p:spPr>
          <a:xfrm>
            <a:off x="1004100" y="2199650"/>
            <a:ext cx="1472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LIMS not applicable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95" name="Google Shape;2195;p110"/>
          <p:cNvSpPr txBox="1"/>
          <p:nvPr/>
        </p:nvSpPr>
        <p:spPr>
          <a:xfrm>
            <a:off x="1157650" y="4059350"/>
            <a:ext cx="1472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LIMS applicable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24" name="Google Shape;2124;p110"/>
          <p:cNvSpPr/>
          <p:nvPr/>
        </p:nvSpPr>
        <p:spPr>
          <a:xfrm>
            <a:off x="2367707" y="4005900"/>
            <a:ext cx="607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usage decision</a:t>
            </a:r>
            <a:endParaRPr sz="900"/>
          </a:p>
        </p:txBody>
      </p:sp>
      <p:sp>
        <p:nvSpPr>
          <p:cNvPr id="2196" name="Google Shape;2196;p110"/>
          <p:cNvSpPr/>
          <p:nvPr/>
        </p:nvSpPr>
        <p:spPr>
          <a:xfrm>
            <a:off x="3475763" y="4005900"/>
            <a:ext cx="15504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usage decision and batch </a:t>
            </a:r>
            <a:r>
              <a:rPr lang="en" sz="900"/>
              <a:t>determination</a:t>
            </a:r>
            <a:r>
              <a:rPr lang="en" sz="900"/>
              <a:t> to sap</a:t>
            </a:r>
            <a:endParaRPr sz="900"/>
          </a:p>
        </p:txBody>
      </p:sp>
      <p:sp>
        <p:nvSpPr>
          <p:cNvPr id="2125" name="Google Shape;2125;p110"/>
          <p:cNvSpPr/>
          <p:nvPr/>
        </p:nvSpPr>
        <p:spPr>
          <a:xfrm>
            <a:off x="5272188" y="3989050"/>
            <a:ext cx="15504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usage decision and batch determination received</a:t>
            </a:r>
            <a:endParaRPr sz="900"/>
          </a:p>
        </p:txBody>
      </p:sp>
      <p:cxnSp>
        <p:nvCxnSpPr>
          <p:cNvPr id="2197" name="Google Shape;2197;p110"/>
          <p:cNvCxnSpPr>
            <a:stCxn id="2190" idx="2"/>
            <a:endCxn id="2124" idx="1"/>
          </p:cNvCxnSpPr>
          <p:nvPr/>
        </p:nvCxnSpPr>
        <p:spPr>
          <a:xfrm flipH="1" rot="-5400000">
            <a:off x="1225907" y="3197906"/>
            <a:ext cx="1073700" cy="1210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8" name="Google Shape;2198;p110"/>
          <p:cNvCxnSpPr>
            <a:stCxn id="2125" idx="3"/>
            <a:endCxn id="2192" idx="2"/>
          </p:cNvCxnSpPr>
          <p:nvPr/>
        </p:nvCxnSpPr>
        <p:spPr>
          <a:xfrm flipH="1" rot="10800000">
            <a:off x="6822588" y="3266050"/>
            <a:ext cx="1510200" cy="1056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9" name="Google Shape;2199;p110"/>
          <p:cNvSpPr/>
          <p:nvPr/>
        </p:nvSpPr>
        <p:spPr>
          <a:xfrm>
            <a:off x="6030216" y="558100"/>
            <a:ext cx="9603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Placeholder: Restrict Batch of Product/Partial Lot</a:t>
            </a:r>
            <a:endParaRPr sz="700"/>
          </a:p>
        </p:txBody>
      </p:sp>
      <p:sp>
        <p:nvSpPr>
          <p:cNvPr id="2200" name="Google Shape;2200;p110"/>
          <p:cNvSpPr/>
          <p:nvPr/>
        </p:nvSpPr>
        <p:spPr>
          <a:xfrm>
            <a:off x="6518266" y="3186888"/>
            <a:ext cx="9603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Placeholder: Restrict Batch of Product/Partial Lot</a:t>
            </a:r>
            <a:endParaRPr sz="700"/>
          </a:p>
        </p:txBody>
      </p:sp>
      <p:sp>
        <p:nvSpPr>
          <p:cNvPr id="2201" name="Google Shape;2201;p110"/>
          <p:cNvSpPr/>
          <p:nvPr/>
        </p:nvSpPr>
        <p:spPr>
          <a:xfrm>
            <a:off x="7298425" y="4691050"/>
            <a:ext cx="1716000" cy="251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check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111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P-130-050: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Create Inspection Lot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207" name="Google Shape;2207;p111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208" name="Google Shape;2208;p111"/>
          <p:cNvSpPr/>
          <p:nvPr/>
        </p:nvSpPr>
        <p:spPr>
          <a:xfrm>
            <a:off x="0" y="2993637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generate Inspection lot for Partial PO Item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209" name="Google Shape;2209;p111"/>
          <p:cNvSpPr/>
          <p:nvPr/>
        </p:nvSpPr>
        <p:spPr>
          <a:xfrm>
            <a:off x="8344450" y="3023050"/>
            <a:ext cx="643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inspection lot for Partial PO item generated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210" name="Google Shape;2210;p111"/>
          <p:cNvCxnSpPr>
            <a:stCxn id="2208" idx="6"/>
            <a:endCxn id="2211" idx="1"/>
          </p:cNvCxnSpPr>
          <p:nvPr/>
        </p:nvCxnSpPr>
        <p:spPr>
          <a:xfrm>
            <a:off x="816000" y="3392787"/>
            <a:ext cx="1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1" name="Google Shape;2211;p111"/>
          <p:cNvSpPr/>
          <p:nvPr/>
        </p:nvSpPr>
        <p:spPr>
          <a:xfrm>
            <a:off x="994474" y="3058888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Generate Inspection lot for PO</a:t>
            </a:r>
            <a:endParaRPr sz="900"/>
          </a:p>
        </p:txBody>
      </p:sp>
      <p:cxnSp>
        <p:nvCxnSpPr>
          <p:cNvPr id="2212" name="Google Shape;2212;p111"/>
          <p:cNvCxnSpPr>
            <a:stCxn id="2211" idx="3"/>
            <a:endCxn id="2213" idx="1"/>
          </p:cNvCxnSpPr>
          <p:nvPr/>
        </p:nvCxnSpPr>
        <p:spPr>
          <a:xfrm flipH="1" rot="10800000">
            <a:off x="2060974" y="3380788"/>
            <a:ext cx="1785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4" name="Google Shape;2214;p111"/>
          <p:cNvSpPr/>
          <p:nvPr/>
        </p:nvSpPr>
        <p:spPr>
          <a:xfrm>
            <a:off x="3497149" y="14545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Inspection Plan</a:t>
            </a:r>
            <a:endParaRPr sz="900"/>
          </a:p>
        </p:txBody>
      </p:sp>
      <p:sp>
        <p:nvSpPr>
          <p:cNvPr id="2215" name="Google Shape;2215;p111"/>
          <p:cNvSpPr/>
          <p:nvPr/>
        </p:nvSpPr>
        <p:spPr>
          <a:xfrm>
            <a:off x="4656149" y="14545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Inspection plan to Inspection Lot</a:t>
            </a:r>
            <a:endParaRPr sz="900"/>
          </a:p>
        </p:txBody>
      </p:sp>
      <p:cxnSp>
        <p:nvCxnSpPr>
          <p:cNvPr id="2216" name="Google Shape;2216;p111"/>
          <p:cNvCxnSpPr>
            <a:stCxn id="2214" idx="3"/>
            <a:endCxn id="2215" idx="1"/>
          </p:cNvCxnSpPr>
          <p:nvPr/>
        </p:nvCxnSpPr>
        <p:spPr>
          <a:xfrm>
            <a:off x="4563649" y="1788475"/>
            <a:ext cx="9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7" name="Google Shape;2217;p111"/>
          <p:cNvSpPr/>
          <p:nvPr/>
        </p:nvSpPr>
        <p:spPr>
          <a:xfrm>
            <a:off x="742325" y="4225225"/>
            <a:ext cx="157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2213" name="Google Shape;2213;p111"/>
          <p:cNvSpPr/>
          <p:nvPr/>
        </p:nvSpPr>
        <p:spPr>
          <a:xfrm>
            <a:off x="2239451" y="30467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111"/>
          <p:cNvSpPr/>
          <p:nvPr/>
        </p:nvSpPr>
        <p:spPr>
          <a:xfrm>
            <a:off x="2345939" y="31808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111"/>
          <p:cNvSpPr/>
          <p:nvPr/>
        </p:nvSpPr>
        <p:spPr>
          <a:xfrm>
            <a:off x="2799001" y="21223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111"/>
          <p:cNvSpPr/>
          <p:nvPr/>
        </p:nvSpPr>
        <p:spPr>
          <a:xfrm>
            <a:off x="2905489" y="22564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111"/>
          <p:cNvSpPr/>
          <p:nvPr/>
        </p:nvSpPr>
        <p:spPr>
          <a:xfrm>
            <a:off x="6405251" y="30589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111"/>
          <p:cNvSpPr/>
          <p:nvPr/>
        </p:nvSpPr>
        <p:spPr>
          <a:xfrm>
            <a:off x="6511739" y="31929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111"/>
          <p:cNvSpPr/>
          <p:nvPr/>
        </p:nvSpPr>
        <p:spPr>
          <a:xfrm>
            <a:off x="5759788" y="21223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111"/>
          <p:cNvSpPr/>
          <p:nvPr/>
        </p:nvSpPr>
        <p:spPr>
          <a:xfrm>
            <a:off x="5866276" y="22564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111"/>
          <p:cNvSpPr/>
          <p:nvPr/>
        </p:nvSpPr>
        <p:spPr>
          <a:xfrm>
            <a:off x="7149850" y="3071800"/>
            <a:ext cx="960600" cy="63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Release Inspection Lot (Automatic)</a:t>
            </a:r>
            <a:endParaRPr sz="900"/>
          </a:p>
        </p:txBody>
      </p:sp>
      <p:cxnSp>
        <p:nvCxnSpPr>
          <p:cNvPr id="2226" name="Google Shape;2226;p111"/>
          <p:cNvCxnSpPr>
            <a:stCxn id="2213" idx="0"/>
            <a:endCxn id="2219" idx="1"/>
          </p:cNvCxnSpPr>
          <p:nvPr/>
        </p:nvCxnSpPr>
        <p:spPr>
          <a:xfrm rot="-5400000">
            <a:off x="2369651" y="2617456"/>
            <a:ext cx="590400" cy="268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7" name="Google Shape;2227;p111"/>
          <p:cNvCxnSpPr>
            <a:stCxn id="2215" idx="3"/>
            <a:endCxn id="2223" idx="0"/>
          </p:cNvCxnSpPr>
          <p:nvPr/>
        </p:nvCxnSpPr>
        <p:spPr>
          <a:xfrm>
            <a:off x="5722649" y="1788475"/>
            <a:ext cx="328500" cy="33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8" name="Google Shape;2228;p111"/>
          <p:cNvCxnSpPr>
            <a:stCxn id="2219" idx="0"/>
            <a:endCxn id="2214" idx="1"/>
          </p:cNvCxnSpPr>
          <p:nvPr/>
        </p:nvCxnSpPr>
        <p:spPr>
          <a:xfrm rot="-5400000">
            <a:off x="3126751" y="1752031"/>
            <a:ext cx="333900" cy="406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9" name="Google Shape;2229;p111"/>
          <p:cNvCxnSpPr>
            <a:stCxn id="2223" idx="3"/>
            <a:endCxn id="2221" idx="0"/>
          </p:cNvCxnSpPr>
          <p:nvPr/>
        </p:nvCxnSpPr>
        <p:spPr>
          <a:xfrm>
            <a:off x="6342388" y="2456281"/>
            <a:ext cx="354300" cy="60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0" name="Google Shape;2230;p111"/>
          <p:cNvSpPr txBox="1"/>
          <p:nvPr/>
        </p:nvSpPr>
        <p:spPr>
          <a:xfrm>
            <a:off x="1616975" y="2197963"/>
            <a:ext cx="10665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Inspection Plan Required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31" name="Google Shape;2231;p111"/>
          <p:cNvSpPr txBox="1"/>
          <p:nvPr/>
        </p:nvSpPr>
        <p:spPr>
          <a:xfrm>
            <a:off x="3000525" y="3561138"/>
            <a:ext cx="10665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Inspection Plan Not Required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2232" name="Google Shape;2232;p111"/>
          <p:cNvCxnSpPr>
            <a:stCxn id="2213" idx="3"/>
            <a:endCxn id="2221" idx="1"/>
          </p:cNvCxnSpPr>
          <p:nvPr/>
        </p:nvCxnSpPr>
        <p:spPr>
          <a:xfrm>
            <a:off x="2822051" y="3380656"/>
            <a:ext cx="3583200" cy="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3" name="Google Shape;2233;p111"/>
          <p:cNvCxnSpPr>
            <a:stCxn id="2221" idx="3"/>
            <a:endCxn id="2225" idx="1"/>
          </p:cNvCxnSpPr>
          <p:nvPr/>
        </p:nvCxnSpPr>
        <p:spPr>
          <a:xfrm flipH="1" rot="10800000">
            <a:off x="6987851" y="3386806"/>
            <a:ext cx="1620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4" name="Google Shape;2234;p111"/>
          <p:cNvCxnSpPr>
            <a:stCxn id="2225" idx="3"/>
            <a:endCxn id="2209" idx="2"/>
          </p:cNvCxnSpPr>
          <p:nvPr/>
        </p:nvCxnSpPr>
        <p:spPr>
          <a:xfrm>
            <a:off x="8110450" y="3386800"/>
            <a:ext cx="2340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5" name="Google Shape;2235;p111"/>
          <p:cNvCxnSpPr>
            <a:stCxn id="2219" idx="3"/>
            <a:endCxn id="2223" idx="1"/>
          </p:cNvCxnSpPr>
          <p:nvPr/>
        </p:nvCxnSpPr>
        <p:spPr>
          <a:xfrm>
            <a:off x="3381601" y="2456281"/>
            <a:ext cx="237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6" name="Google Shape;2236;p111"/>
          <p:cNvSpPr txBox="1"/>
          <p:nvPr/>
        </p:nvSpPr>
        <p:spPr>
          <a:xfrm>
            <a:off x="2398800" y="1426063"/>
            <a:ext cx="10665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Inspection Plan Not Created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37" name="Google Shape;2237;p111"/>
          <p:cNvSpPr txBox="1"/>
          <p:nvPr/>
        </p:nvSpPr>
        <p:spPr>
          <a:xfrm>
            <a:off x="3352275" y="2403350"/>
            <a:ext cx="10665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Inspection Plan Created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38" name="Google Shape;2238;p111"/>
          <p:cNvSpPr/>
          <p:nvPr/>
        </p:nvSpPr>
        <p:spPr>
          <a:xfrm>
            <a:off x="742325" y="3836425"/>
            <a:ext cx="157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inspection lot</a:t>
            </a:r>
            <a:endParaRPr sz="1000"/>
          </a:p>
        </p:txBody>
      </p:sp>
      <p:sp>
        <p:nvSpPr>
          <p:cNvPr id="2239" name="Google Shape;2239;p111"/>
          <p:cNvSpPr/>
          <p:nvPr/>
        </p:nvSpPr>
        <p:spPr>
          <a:xfrm>
            <a:off x="2530750" y="1202875"/>
            <a:ext cx="22851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Plans &amp; create inspection plan</a:t>
            </a:r>
            <a:endParaRPr sz="1000"/>
          </a:p>
        </p:txBody>
      </p:sp>
      <p:sp>
        <p:nvSpPr>
          <p:cNvPr id="2240" name="Google Shape;2240;p111"/>
          <p:cNvSpPr/>
          <p:nvPr/>
        </p:nvSpPr>
        <p:spPr>
          <a:xfrm>
            <a:off x="4815850" y="1231575"/>
            <a:ext cx="1570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2241" name="Google Shape;2241;p111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242" name="Google Shape;2242;p111"/>
          <p:cNvSpPr/>
          <p:nvPr/>
        </p:nvSpPr>
        <p:spPr>
          <a:xfrm>
            <a:off x="7719650" y="2403350"/>
            <a:ext cx="960600" cy="63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inspection lot to LIMS if applicable</a:t>
            </a:r>
            <a:endParaRPr sz="9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11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P-130-070: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Record Material Inspection Results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248" name="Google Shape;2248;p112"/>
          <p:cNvSpPr/>
          <p:nvPr/>
        </p:nvSpPr>
        <p:spPr>
          <a:xfrm>
            <a:off x="264550" y="2509362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record </a:t>
            </a:r>
            <a:r>
              <a:rPr lang="en" sz="600">
                <a:solidFill>
                  <a:schemeClr val="dk1"/>
                </a:solidFill>
              </a:rPr>
              <a:t>material</a:t>
            </a:r>
            <a:r>
              <a:rPr lang="en" sz="600">
                <a:solidFill>
                  <a:schemeClr val="dk1"/>
                </a:solidFill>
              </a:rPr>
              <a:t> inspection results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249" name="Google Shape;2249;p112"/>
          <p:cNvSpPr/>
          <p:nvPr/>
        </p:nvSpPr>
        <p:spPr>
          <a:xfrm>
            <a:off x="8199850" y="256247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material inspection results recorded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250" name="Google Shape;2250;p112"/>
          <p:cNvCxnSpPr>
            <a:stCxn id="2248" idx="6"/>
            <a:endCxn id="2251" idx="1"/>
          </p:cNvCxnSpPr>
          <p:nvPr/>
        </p:nvCxnSpPr>
        <p:spPr>
          <a:xfrm>
            <a:off x="1080550" y="2908512"/>
            <a:ext cx="24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1" name="Google Shape;2251;p112"/>
          <p:cNvSpPr/>
          <p:nvPr/>
        </p:nvSpPr>
        <p:spPr>
          <a:xfrm>
            <a:off x="1330449" y="25746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Inspection Lot</a:t>
            </a:r>
            <a:endParaRPr sz="900"/>
          </a:p>
        </p:txBody>
      </p:sp>
      <p:cxnSp>
        <p:nvCxnSpPr>
          <p:cNvPr id="2252" name="Google Shape;2252;p112"/>
          <p:cNvCxnSpPr>
            <a:stCxn id="2253" idx="3"/>
            <a:endCxn id="2249" idx="2"/>
          </p:cNvCxnSpPr>
          <p:nvPr/>
        </p:nvCxnSpPr>
        <p:spPr>
          <a:xfrm>
            <a:off x="4571999" y="2932225"/>
            <a:ext cx="36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3" name="Google Shape;2253;p112"/>
          <p:cNvSpPr/>
          <p:nvPr/>
        </p:nvSpPr>
        <p:spPr>
          <a:xfrm>
            <a:off x="3505499" y="25983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Review Testing Documentation</a:t>
            </a:r>
            <a:endParaRPr sz="900"/>
          </a:p>
        </p:txBody>
      </p:sp>
      <p:cxnSp>
        <p:nvCxnSpPr>
          <p:cNvPr id="2254" name="Google Shape;2254;p112"/>
          <p:cNvCxnSpPr>
            <a:stCxn id="2251" idx="3"/>
            <a:endCxn id="2253" idx="1"/>
          </p:cNvCxnSpPr>
          <p:nvPr/>
        </p:nvCxnSpPr>
        <p:spPr>
          <a:xfrm>
            <a:off x="2396949" y="2908500"/>
            <a:ext cx="1108500" cy="2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5" name="Google Shape;2255;p112"/>
          <p:cNvSpPr/>
          <p:nvPr/>
        </p:nvSpPr>
        <p:spPr>
          <a:xfrm>
            <a:off x="4922274" y="25893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inspection results</a:t>
            </a:r>
            <a:endParaRPr sz="900"/>
          </a:p>
        </p:txBody>
      </p:sp>
      <p:sp>
        <p:nvSpPr>
          <p:cNvPr id="2256" name="Google Shape;2256;p112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257" name="Google Shape;2257;p112"/>
          <p:cNvSpPr/>
          <p:nvPr/>
        </p:nvSpPr>
        <p:spPr>
          <a:xfrm>
            <a:off x="1282750" y="33791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2258" name="Google Shape;2258;p112"/>
          <p:cNvSpPr/>
          <p:nvPr/>
        </p:nvSpPr>
        <p:spPr>
          <a:xfrm>
            <a:off x="4487575" y="3450525"/>
            <a:ext cx="1676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Record Inspection Results</a:t>
            </a:r>
            <a:endParaRPr sz="1000"/>
          </a:p>
        </p:txBody>
      </p:sp>
      <p:sp>
        <p:nvSpPr>
          <p:cNvPr id="2259" name="Google Shape;2259;p112"/>
          <p:cNvSpPr/>
          <p:nvPr/>
        </p:nvSpPr>
        <p:spPr>
          <a:xfrm>
            <a:off x="4487575" y="3812875"/>
            <a:ext cx="1676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Record Inspection Results (Version 2)</a:t>
            </a:r>
            <a:endParaRPr sz="1000"/>
          </a:p>
        </p:txBody>
      </p:sp>
      <p:sp>
        <p:nvSpPr>
          <p:cNvPr id="2260" name="Google Shape;2260;p11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261" name="Google Shape;2261;p112"/>
          <p:cNvSpPr/>
          <p:nvPr/>
        </p:nvSpPr>
        <p:spPr>
          <a:xfrm>
            <a:off x="2659926" y="25746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112"/>
          <p:cNvSpPr/>
          <p:nvPr/>
        </p:nvSpPr>
        <p:spPr>
          <a:xfrm>
            <a:off x="2766414" y="27086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112"/>
          <p:cNvSpPr/>
          <p:nvPr/>
        </p:nvSpPr>
        <p:spPr>
          <a:xfrm>
            <a:off x="7508501" y="25746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112"/>
          <p:cNvSpPr/>
          <p:nvPr/>
        </p:nvSpPr>
        <p:spPr>
          <a:xfrm>
            <a:off x="7614989" y="27086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112"/>
          <p:cNvSpPr/>
          <p:nvPr/>
        </p:nvSpPr>
        <p:spPr>
          <a:xfrm>
            <a:off x="3505499" y="15630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results in LIMS</a:t>
            </a:r>
            <a:endParaRPr sz="900"/>
          </a:p>
        </p:txBody>
      </p:sp>
      <p:sp>
        <p:nvSpPr>
          <p:cNvPr id="2266" name="Google Shape;2266;p112"/>
          <p:cNvSpPr/>
          <p:nvPr/>
        </p:nvSpPr>
        <p:spPr>
          <a:xfrm>
            <a:off x="4988424" y="15630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results to SAP</a:t>
            </a:r>
            <a:endParaRPr sz="900"/>
          </a:p>
        </p:txBody>
      </p:sp>
      <p:sp>
        <p:nvSpPr>
          <p:cNvPr id="2267" name="Google Shape;2267;p112"/>
          <p:cNvSpPr/>
          <p:nvPr/>
        </p:nvSpPr>
        <p:spPr>
          <a:xfrm>
            <a:off x="6319549" y="15630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results received in sap</a:t>
            </a:r>
            <a:endParaRPr sz="900"/>
          </a:p>
        </p:txBody>
      </p:sp>
      <p:cxnSp>
        <p:nvCxnSpPr>
          <p:cNvPr id="2268" name="Google Shape;2268;p112"/>
          <p:cNvCxnSpPr>
            <a:stCxn id="2261" idx="0"/>
            <a:endCxn id="2265" idx="1"/>
          </p:cNvCxnSpPr>
          <p:nvPr/>
        </p:nvCxnSpPr>
        <p:spPr>
          <a:xfrm rot="-5400000">
            <a:off x="2889576" y="1958556"/>
            <a:ext cx="677700" cy="554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9" name="Google Shape;2269;p112"/>
          <p:cNvCxnSpPr>
            <a:stCxn id="2267" idx="3"/>
            <a:endCxn id="2263" idx="0"/>
          </p:cNvCxnSpPr>
          <p:nvPr/>
        </p:nvCxnSpPr>
        <p:spPr>
          <a:xfrm>
            <a:off x="7386049" y="1896975"/>
            <a:ext cx="413700" cy="677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11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P-130-090: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Identify Inspection/Quality Requirements for Supplier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275" name="Google Shape;2275;p113"/>
          <p:cNvSpPr/>
          <p:nvPr/>
        </p:nvSpPr>
        <p:spPr>
          <a:xfrm>
            <a:off x="91588" y="26497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identify inspection/quality requirements for supplier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276" name="Google Shape;2276;p113"/>
          <p:cNvSpPr/>
          <p:nvPr/>
        </p:nvSpPr>
        <p:spPr>
          <a:xfrm>
            <a:off x="8191638" y="26791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Inspection/quality requirements identified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277" name="Google Shape;2277;p113"/>
          <p:cNvCxnSpPr>
            <a:stCxn id="2275" idx="6"/>
            <a:endCxn id="2278" idx="1"/>
          </p:cNvCxnSpPr>
          <p:nvPr/>
        </p:nvCxnSpPr>
        <p:spPr>
          <a:xfrm>
            <a:off x="907588" y="3048850"/>
            <a:ext cx="20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8" name="Google Shape;2278;p113"/>
          <p:cNvSpPr/>
          <p:nvPr/>
        </p:nvSpPr>
        <p:spPr>
          <a:xfrm>
            <a:off x="1110762" y="2714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Inspection/Quality Requirements</a:t>
            </a:r>
            <a:endParaRPr sz="900"/>
          </a:p>
        </p:txBody>
      </p:sp>
      <p:cxnSp>
        <p:nvCxnSpPr>
          <p:cNvPr id="2279" name="Google Shape;2279;p113"/>
          <p:cNvCxnSpPr>
            <a:stCxn id="2278" idx="3"/>
            <a:endCxn id="2276" idx="2"/>
          </p:cNvCxnSpPr>
          <p:nvPr/>
        </p:nvCxnSpPr>
        <p:spPr>
          <a:xfrm>
            <a:off x="2177262" y="3048850"/>
            <a:ext cx="601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0" name="Google Shape;2280;p113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281" name="Google Shape;2281;p113"/>
          <p:cNvSpPr/>
          <p:nvPr/>
        </p:nvSpPr>
        <p:spPr>
          <a:xfrm>
            <a:off x="2422037" y="2714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Manage Quality Info Record</a:t>
            </a:r>
            <a:endParaRPr sz="900"/>
          </a:p>
        </p:txBody>
      </p:sp>
      <p:sp>
        <p:nvSpPr>
          <p:cNvPr id="2282" name="Google Shape;2282;p113"/>
          <p:cNvSpPr/>
          <p:nvPr/>
        </p:nvSpPr>
        <p:spPr>
          <a:xfrm>
            <a:off x="3809951" y="27149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113"/>
          <p:cNvSpPr/>
          <p:nvPr/>
        </p:nvSpPr>
        <p:spPr>
          <a:xfrm>
            <a:off x="3916439" y="28490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113"/>
          <p:cNvSpPr/>
          <p:nvPr/>
        </p:nvSpPr>
        <p:spPr>
          <a:xfrm>
            <a:off x="7345301" y="27149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113"/>
          <p:cNvSpPr/>
          <p:nvPr/>
        </p:nvSpPr>
        <p:spPr>
          <a:xfrm>
            <a:off x="7451789" y="28490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113"/>
          <p:cNvSpPr/>
          <p:nvPr/>
        </p:nvSpPr>
        <p:spPr>
          <a:xfrm>
            <a:off x="5388937" y="2714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Info Record</a:t>
            </a:r>
            <a:endParaRPr sz="900"/>
          </a:p>
        </p:txBody>
      </p:sp>
      <p:sp>
        <p:nvSpPr>
          <p:cNvPr id="2287" name="Google Shape;2287;p113"/>
          <p:cNvSpPr/>
          <p:nvPr/>
        </p:nvSpPr>
        <p:spPr>
          <a:xfrm>
            <a:off x="5388937" y="36411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/>
              <a:t>Update</a:t>
            </a:r>
            <a:r>
              <a:rPr lang="en" sz="900"/>
              <a:t> Info Record</a:t>
            </a:r>
            <a:endParaRPr sz="900"/>
          </a:p>
        </p:txBody>
      </p:sp>
      <p:cxnSp>
        <p:nvCxnSpPr>
          <p:cNvPr id="2288" name="Google Shape;2288;p113"/>
          <p:cNvCxnSpPr>
            <a:stCxn id="2282" idx="2"/>
            <a:endCxn id="2287" idx="1"/>
          </p:cNvCxnSpPr>
          <p:nvPr/>
        </p:nvCxnSpPr>
        <p:spPr>
          <a:xfrm flipH="1" rot="-5400000">
            <a:off x="4448951" y="3035056"/>
            <a:ext cx="592200" cy="1287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9" name="Google Shape;2289;p113"/>
          <p:cNvCxnSpPr>
            <a:stCxn id="2287" idx="3"/>
            <a:endCxn id="2284" idx="2"/>
          </p:cNvCxnSpPr>
          <p:nvPr/>
        </p:nvCxnSpPr>
        <p:spPr>
          <a:xfrm flipH="1" rot="10800000">
            <a:off x="6455437" y="3382825"/>
            <a:ext cx="1181100" cy="592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0" name="Google Shape;2290;p113"/>
          <p:cNvSpPr txBox="1"/>
          <p:nvPr/>
        </p:nvSpPr>
        <p:spPr>
          <a:xfrm>
            <a:off x="4249675" y="2342725"/>
            <a:ext cx="1066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Create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91" name="Google Shape;2291;p113"/>
          <p:cNvSpPr txBox="1"/>
          <p:nvPr/>
        </p:nvSpPr>
        <p:spPr>
          <a:xfrm>
            <a:off x="4211800" y="3382825"/>
            <a:ext cx="1066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Update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92" name="Google Shape;2292;p113"/>
          <p:cNvSpPr/>
          <p:nvPr/>
        </p:nvSpPr>
        <p:spPr>
          <a:xfrm>
            <a:off x="2374325" y="35530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Quality Info Records</a:t>
            </a:r>
            <a:endParaRPr sz="1000"/>
          </a:p>
        </p:txBody>
      </p:sp>
      <p:sp>
        <p:nvSpPr>
          <p:cNvPr id="2293" name="Google Shape;2293;p113"/>
          <p:cNvSpPr/>
          <p:nvPr/>
        </p:nvSpPr>
        <p:spPr>
          <a:xfrm>
            <a:off x="5388925" y="23689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Quality Info Records</a:t>
            </a:r>
            <a:endParaRPr sz="1000"/>
          </a:p>
        </p:txBody>
      </p:sp>
      <p:sp>
        <p:nvSpPr>
          <p:cNvPr id="2294" name="Google Shape;2294;p113"/>
          <p:cNvSpPr/>
          <p:nvPr/>
        </p:nvSpPr>
        <p:spPr>
          <a:xfrm>
            <a:off x="5361825" y="440025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Quality Info Records</a:t>
            </a:r>
            <a:endParaRPr sz="1000"/>
          </a:p>
        </p:txBody>
      </p:sp>
      <p:sp>
        <p:nvSpPr>
          <p:cNvPr id="2295" name="Google Shape;2295;p11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11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P-130-100: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Visually Inspect Goods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301" name="Google Shape;2301;p114"/>
          <p:cNvSpPr/>
          <p:nvPr/>
        </p:nvSpPr>
        <p:spPr>
          <a:xfrm>
            <a:off x="87613" y="26497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visually inspect goods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302" name="Google Shape;2302;p114"/>
          <p:cNvSpPr/>
          <p:nvPr/>
        </p:nvSpPr>
        <p:spPr>
          <a:xfrm>
            <a:off x="8002288" y="26791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Goods </a:t>
            </a:r>
            <a:r>
              <a:rPr lang="en" sz="600">
                <a:solidFill>
                  <a:schemeClr val="dk1"/>
                </a:solidFill>
              </a:rPr>
              <a:t>inspected visually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303" name="Google Shape;2303;p114"/>
          <p:cNvCxnSpPr>
            <a:stCxn id="2301" idx="6"/>
            <a:endCxn id="2304" idx="1"/>
          </p:cNvCxnSpPr>
          <p:nvPr/>
        </p:nvCxnSpPr>
        <p:spPr>
          <a:xfrm>
            <a:off x="903613" y="3048850"/>
            <a:ext cx="277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4" name="Google Shape;2304;p114"/>
          <p:cNvSpPr/>
          <p:nvPr/>
        </p:nvSpPr>
        <p:spPr>
          <a:xfrm>
            <a:off x="3680037" y="2714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Visually inspect goods</a:t>
            </a:r>
            <a:endParaRPr sz="900"/>
          </a:p>
        </p:txBody>
      </p:sp>
      <p:cxnSp>
        <p:nvCxnSpPr>
          <p:cNvPr id="2305" name="Google Shape;2305;p114"/>
          <p:cNvCxnSpPr>
            <a:stCxn id="2304" idx="3"/>
            <a:endCxn id="2302" idx="2"/>
          </p:cNvCxnSpPr>
          <p:nvPr/>
        </p:nvCxnSpPr>
        <p:spPr>
          <a:xfrm>
            <a:off x="4746537" y="3048850"/>
            <a:ext cx="325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6" name="Google Shape;2306;p11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11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P-130-110: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Document Results Inbound Certificate Check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312" name="Google Shape;2312;p115"/>
          <p:cNvSpPr/>
          <p:nvPr/>
        </p:nvSpPr>
        <p:spPr>
          <a:xfrm>
            <a:off x="124438" y="26644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Document Results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313" name="Google Shape;2313;p115"/>
          <p:cNvSpPr/>
          <p:nvPr/>
        </p:nvSpPr>
        <p:spPr>
          <a:xfrm>
            <a:off x="7765463" y="27149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Results Documented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314" name="Google Shape;2314;p115"/>
          <p:cNvCxnSpPr>
            <a:stCxn id="2312" idx="6"/>
            <a:endCxn id="2315" idx="1"/>
          </p:cNvCxnSpPr>
          <p:nvPr/>
        </p:nvCxnSpPr>
        <p:spPr>
          <a:xfrm flipH="1" rot="10800000">
            <a:off x="940438" y="3048850"/>
            <a:ext cx="27396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5" name="Google Shape;2315;p115"/>
          <p:cNvSpPr/>
          <p:nvPr/>
        </p:nvSpPr>
        <p:spPr>
          <a:xfrm>
            <a:off x="3680037" y="2714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Document Results </a:t>
            </a:r>
            <a:endParaRPr sz="900"/>
          </a:p>
        </p:txBody>
      </p:sp>
      <p:cxnSp>
        <p:nvCxnSpPr>
          <p:cNvPr id="2316" name="Google Shape;2316;p115"/>
          <p:cNvCxnSpPr>
            <a:stCxn id="2315" idx="3"/>
            <a:endCxn id="2313" idx="2"/>
          </p:cNvCxnSpPr>
          <p:nvPr/>
        </p:nvCxnSpPr>
        <p:spPr>
          <a:xfrm>
            <a:off x="4746537" y="3048850"/>
            <a:ext cx="3018900" cy="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7" name="Google Shape;2317;p115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318" name="Google Shape;2318;p115"/>
          <p:cNvSpPr/>
          <p:nvPr/>
        </p:nvSpPr>
        <p:spPr>
          <a:xfrm>
            <a:off x="1137101" y="27149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115"/>
          <p:cNvSpPr/>
          <p:nvPr/>
        </p:nvSpPr>
        <p:spPr>
          <a:xfrm>
            <a:off x="1243589" y="28490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115"/>
          <p:cNvSpPr/>
          <p:nvPr/>
        </p:nvSpPr>
        <p:spPr>
          <a:xfrm>
            <a:off x="2284337" y="2714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Certificate Receipt Status and </a:t>
            </a:r>
            <a:r>
              <a:rPr lang="en" sz="900"/>
              <a:t>Attachment</a:t>
            </a:r>
            <a:endParaRPr sz="900"/>
          </a:p>
        </p:txBody>
      </p:sp>
      <p:sp>
        <p:nvSpPr>
          <p:cNvPr id="2321" name="Google Shape;2321;p115"/>
          <p:cNvSpPr/>
          <p:nvPr/>
        </p:nvSpPr>
        <p:spPr>
          <a:xfrm>
            <a:off x="5666587" y="2750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Record Material Inspection Results</a:t>
            </a:r>
            <a:endParaRPr sz="900"/>
          </a:p>
        </p:txBody>
      </p:sp>
      <p:sp>
        <p:nvSpPr>
          <p:cNvPr id="2322" name="Google Shape;2322;p115"/>
          <p:cNvSpPr txBox="1"/>
          <p:nvPr/>
        </p:nvSpPr>
        <p:spPr>
          <a:xfrm>
            <a:off x="1423350" y="3214325"/>
            <a:ext cx="11385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Certificate Needed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323" name="Google Shape;2323;p115"/>
          <p:cNvSpPr/>
          <p:nvPr/>
        </p:nvSpPr>
        <p:spPr>
          <a:xfrm>
            <a:off x="2561850" y="3505050"/>
            <a:ext cx="633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QC51</a:t>
            </a:r>
            <a:endParaRPr sz="1000"/>
          </a:p>
        </p:txBody>
      </p:sp>
      <p:sp>
        <p:nvSpPr>
          <p:cNvPr id="2324" name="Google Shape;2324;p11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11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P-130-130: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Assign Priority Testing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330" name="Google Shape;2330;p116"/>
          <p:cNvSpPr/>
          <p:nvPr/>
        </p:nvSpPr>
        <p:spPr>
          <a:xfrm>
            <a:off x="2513888" y="26407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assign priority Testing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331" name="Google Shape;2331;p116"/>
          <p:cNvSpPr/>
          <p:nvPr/>
        </p:nvSpPr>
        <p:spPr>
          <a:xfrm>
            <a:off x="5129213" y="26791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Priority testing assigned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332" name="Google Shape;2332;p116"/>
          <p:cNvCxnSpPr>
            <a:stCxn id="2330" idx="6"/>
            <a:endCxn id="2333" idx="1"/>
          </p:cNvCxnSpPr>
          <p:nvPr/>
        </p:nvCxnSpPr>
        <p:spPr>
          <a:xfrm>
            <a:off x="3329888" y="3039850"/>
            <a:ext cx="3501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3" name="Google Shape;2333;p116"/>
          <p:cNvSpPr/>
          <p:nvPr/>
        </p:nvSpPr>
        <p:spPr>
          <a:xfrm>
            <a:off x="3680037" y="2714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Priority Testing to the Inspection Lots</a:t>
            </a:r>
            <a:endParaRPr sz="900"/>
          </a:p>
        </p:txBody>
      </p:sp>
      <p:cxnSp>
        <p:nvCxnSpPr>
          <p:cNvPr id="2334" name="Google Shape;2334;p116"/>
          <p:cNvCxnSpPr>
            <a:stCxn id="2333" idx="3"/>
            <a:endCxn id="2331" idx="2"/>
          </p:cNvCxnSpPr>
          <p:nvPr/>
        </p:nvCxnSpPr>
        <p:spPr>
          <a:xfrm>
            <a:off x="4746537" y="3048850"/>
            <a:ext cx="3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5" name="Google Shape;2335;p116"/>
          <p:cNvSpPr/>
          <p:nvPr/>
        </p:nvSpPr>
        <p:spPr>
          <a:xfrm>
            <a:off x="2045225" y="2288950"/>
            <a:ext cx="4520400" cy="1512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deleted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11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P-130-140: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Perform inspection/sample test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341" name="Google Shape;2341;p117"/>
          <p:cNvSpPr/>
          <p:nvPr/>
        </p:nvSpPr>
        <p:spPr>
          <a:xfrm>
            <a:off x="91588" y="23490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perform inspection/sample test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342" name="Google Shape;2342;p117"/>
          <p:cNvSpPr/>
          <p:nvPr/>
        </p:nvSpPr>
        <p:spPr>
          <a:xfrm>
            <a:off x="8218438" y="23829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inspection/sample test performed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343" name="Google Shape;2343;p117"/>
          <p:cNvCxnSpPr>
            <a:stCxn id="2341" idx="6"/>
            <a:endCxn id="2344" idx="1"/>
          </p:cNvCxnSpPr>
          <p:nvPr/>
        </p:nvCxnSpPr>
        <p:spPr>
          <a:xfrm>
            <a:off x="907588" y="2748175"/>
            <a:ext cx="300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5" name="Google Shape;2345;p117"/>
          <p:cNvCxnSpPr>
            <a:stCxn id="2346" idx="3"/>
            <a:endCxn id="2342" idx="2"/>
          </p:cNvCxnSpPr>
          <p:nvPr/>
        </p:nvCxnSpPr>
        <p:spPr>
          <a:xfrm>
            <a:off x="7835638" y="2752675"/>
            <a:ext cx="3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4" name="Google Shape;2344;p117"/>
          <p:cNvSpPr/>
          <p:nvPr/>
        </p:nvSpPr>
        <p:spPr>
          <a:xfrm>
            <a:off x="3908162" y="2414275"/>
            <a:ext cx="640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Print Sampling Drawing Instructions</a:t>
            </a:r>
            <a:endParaRPr sz="700"/>
          </a:p>
        </p:txBody>
      </p:sp>
      <p:sp>
        <p:nvSpPr>
          <p:cNvPr id="2347" name="Google Shape;2347;p117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348" name="Google Shape;2348;p117"/>
          <p:cNvSpPr/>
          <p:nvPr/>
        </p:nvSpPr>
        <p:spPr>
          <a:xfrm>
            <a:off x="1036126" y="24187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117"/>
          <p:cNvSpPr/>
          <p:nvPr/>
        </p:nvSpPr>
        <p:spPr>
          <a:xfrm>
            <a:off x="1142614" y="25528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117"/>
          <p:cNvSpPr/>
          <p:nvPr/>
        </p:nvSpPr>
        <p:spPr>
          <a:xfrm>
            <a:off x="7302401" y="24142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117"/>
          <p:cNvSpPr/>
          <p:nvPr/>
        </p:nvSpPr>
        <p:spPr>
          <a:xfrm>
            <a:off x="7408889" y="25483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117"/>
          <p:cNvSpPr/>
          <p:nvPr/>
        </p:nvSpPr>
        <p:spPr>
          <a:xfrm>
            <a:off x="4854480" y="2414275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Log Samples and Batch Number</a:t>
            </a:r>
            <a:endParaRPr sz="700"/>
          </a:p>
        </p:txBody>
      </p:sp>
      <p:sp>
        <p:nvSpPr>
          <p:cNvPr id="2353" name="Google Shape;2353;p117"/>
          <p:cNvSpPr/>
          <p:nvPr/>
        </p:nvSpPr>
        <p:spPr>
          <a:xfrm>
            <a:off x="5827229" y="2414275"/>
            <a:ext cx="6633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Perform Inspection Test</a:t>
            </a:r>
            <a:endParaRPr sz="700"/>
          </a:p>
        </p:txBody>
      </p:sp>
      <p:cxnSp>
        <p:nvCxnSpPr>
          <p:cNvPr id="2354" name="Google Shape;2354;p117"/>
          <p:cNvCxnSpPr>
            <a:stCxn id="2353" idx="3"/>
            <a:endCxn id="2350" idx="1"/>
          </p:cNvCxnSpPr>
          <p:nvPr/>
        </p:nvCxnSpPr>
        <p:spPr>
          <a:xfrm>
            <a:off x="6490529" y="2748175"/>
            <a:ext cx="8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5" name="Google Shape;2355;p117"/>
          <p:cNvCxnSpPr>
            <a:stCxn id="2352" idx="3"/>
            <a:endCxn id="2353" idx="1"/>
          </p:cNvCxnSpPr>
          <p:nvPr/>
        </p:nvCxnSpPr>
        <p:spPr>
          <a:xfrm>
            <a:off x="5437080" y="2748175"/>
            <a:ext cx="39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6" name="Google Shape;2356;p117"/>
          <p:cNvCxnSpPr>
            <a:stCxn id="2344" idx="3"/>
            <a:endCxn id="2352" idx="1"/>
          </p:cNvCxnSpPr>
          <p:nvPr/>
        </p:nvCxnSpPr>
        <p:spPr>
          <a:xfrm>
            <a:off x="4548362" y="2748175"/>
            <a:ext cx="30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57" name="Google Shape;2357;p117"/>
          <p:cNvSpPr/>
          <p:nvPr/>
        </p:nvSpPr>
        <p:spPr>
          <a:xfrm>
            <a:off x="4038749" y="35191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perform inspection test in LIMS</a:t>
            </a:r>
            <a:endParaRPr sz="900"/>
          </a:p>
        </p:txBody>
      </p:sp>
      <p:cxnSp>
        <p:nvCxnSpPr>
          <p:cNvPr id="2358" name="Google Shape;2358;p117"/>
          <p:cNvCxnSpPr>
            <a:stCxn id="2357" idx="3"/>
            <a:endCxn id="2350" idx="2"/>
          </p:cNvCxnSpPr>
          <p:nvPr/>
        </p:nvCxnSpPr>
        <p:spPr>
          <a:xfrm flipH="1" rot="10800000">
            <a:off x="5105249" y="3082000"/>
            <a:ext cx="2488500" cy="771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9" name="Google Shape;2359;p117"/>
          <p:cNvCxnSpPr>
            <a:stCxn id="2348" idx="2"/>
            <a:endCxn id="2357" idx="1"/>
          </p:cNvCxnSpPr>
          <p:nvPr/>
        </p:nvCxnSpPr>
        <p:spPr>
          <a:xfrm flipH="1" rot="-5400000">
            <a:off x="2299876" y="2114131"/>
            <a:ext cx="766500" cy="2711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0" name="Google Shape;2360;p117"/>
          <p:cNvSpPr txBox="1"/>
          <p:nvPr/>
        </p:nvSpPr>
        <p:spPr>
          <a:xfrm>
            <a:off x="1468225" y="2204675"/>
            <a:ext cx="15873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Condition:LIMS not applicable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361" name="Google Shape;2361;p117"/>
          <p:cNvSpPr txBox="1"/>
          <p:nvPr/>
        </p:nvSpPr>
        <p:spPr>
          <a:xfrm>
            <a:off x="1424300" y="3417175"/>
            <a:ext cx="15873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LIMS applicable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362" name="Google Shape;2362;p11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363" name="Google Shape;2363;p117"/>
          <p:cNvSpPr/>
          <p:nvPr/>
        </p:nvSpPr>
        <p:spPr>
          <a:xfrm>
            <a:off x="2792238" y="24187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117"/>
          <p:cNvSpPr/>
          <p:nvPr/>
        </p:nvSpPr>
        <p:spPr>
          <a:xfrm>
            <a:off x="2898726" y="25528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117"/>
          <p:cNvSpPr/>
          <p:nvPr/>
        </p:nvSpPr>
        <p:spPr>
          <a:xfrm>
            <a:off x="6605163" y="24142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117"/>
          <p:cNvSpPr/>
          <p:nvPr/>
        </p:nvSpPr>
        <p:spPr>
          <a:xfrm>
            <a:off x="6711651" y="25483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117"/>
          <p:cNvSpPr txBox="1"/>
          <p:nvPr/>
        </p:nvSpPr>
        <p:spPr>
          <a:xfrm>
            <a:off x="3102950" y="2952475"/>
            <a:ext cx="15873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Inspection plan present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368" name="Google Shape;2368;p117"/>
          <p:cNvSpPr txBox="1"/>
          <p:nvPr/>
        </p:nvSpPr>
        <p:spPr>
          <a:xfrm>
            <a:off x="2684250" y="1556188"/>
            <a:ext cx="11619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Inspection plan not present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369" name="Google Shape;2369;p117"/>
          <p:cNvSpPr/>
          <p:nvPr/>
        </p:nvSpPr>
        <p:spPr>
          <a:xfrm>
            <a:off x="3980187" y="1419838"/>
            <a:ext cx="640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placeholder</a:t>
            </a:r>
            <a:r>
              <a:rPr lang="en" sz="700"/>
              <a:t>: Visually inspect goods</a:t>
            </a:r>
            <a:endParaRPr sz="700"/>
          </a:p>
        </p:txBody>
      </p:sp>
      <p:cxnSp>
        <p:nvCxnSpPr>
          <p:cNvPr id="2370" name="Google Shape;2370;p117"/>
          <p:cNvCxnSpPr>
            <a:stCxn id="2363" idx="0"/>
            <a:endCxn id="2369" idx="1"/>
          </p:cNvCxnSpPr>
          <p:nvPr/>
        </p:nvCxnSpPr>
        <p:spPr>
          <a:xfrm rot="-5400000">
            <a:off x="3199338" y="1637881"/>
            <a:ext cx="665100" cy="896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1" name="Google Shape;2371;p117"/>
          <p:cNvCxnSpPr>
            <a:stCxn id="2369" idx="3"/>
            <a:endCxn id="2365" idx="0"/>
          </p:cNvCxnSpPr>
          <p:nvPr/>
        </p:nvCxnSpPr>
        <p:spPr>
          <a:xfrm>
            <a:off x="4620387" y="1753738"/>
            <a:ext cx="2276100" cy="660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118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P-130-160: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Review Testing Documentation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377" name="Google Shape;2377;p118"/>
          <p:cNvSpPr/>
          <p:nvPr/>
        </p:nvSpPr>
        <p:spPr>
          <a:xfrm>
            <a:off x="2467238" y="26452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review testing documentation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378" name="Google Shape;2378;p118"/>
          <p:cNvSpPr/>
          <p:nvPr/>
        </p:nvSpPr>
        <p:spPr>
          <a:xfrm>
            <a:off x="5357813" y="26791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inspection/sample test performed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379" name="Google Shape;2379;p118"/>
          <p:cNvCxnSpPr>
            <a:stCxn id="2377" idx="6"/>
            <a:endCxn id="2380" idx="1"/>
          </p:cNvCxnSpPr>
          <p:nvPr/>
        </p:nvCxnSpPr>
        <p:spPr>
          <a:xfrm>
            <a:off x="3283238" y="3044350"/>
            <a:ext cx="6255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0" name="Google Shape;2380;p118"/>
          <p:cNvSpPr/>
          <p:nvPr/>
        </p:nvSpPr>
        <p:spPr>
          <a:xfrm>
            <a:off x="3908637" y="2714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>
                <a:solidFill>
                  <a:schemeClr val="dk1"/>
                </a:solidFill>
              </a:rPr>
              <a:t>Review Testing Documentation</a:t>
            </a:r>
            <a:endParaRPr sz="900"/>
          </a:p>
        </p:txBody>
      </p:sp>
      <p:cxnSp>
        <p:nvCxnSpPr>
          <p:cNvPr id="2381" name="Google Shape;2381;p118"/>
          <p:cNvCxnSpPr>
            <a:stCxn id="2380" idx="3"/>
            <a:endCxn id="2378" idx="2"/>
          </p:cNvCxnSpPr>
          <p:nvPr/>
        </p:nvCxnSpPr>
        <p:spPr>
          <a:xfrm>
            <a:off x="4975137" y="3048850"/>
            <a:ext cx="3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2" name="Google Shape;2382;p118"/>
          <p:cNvSpPr/>
          <p:nvPr/>
        </p:nvSpPr>
        <p:spPr>
          <a:xfrm>
            <a:off x="2389200" y="2645200"/>
            <a:ext cx="3958800" cy="1045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deleted</a:t>
            </a:r>
            <a:endParaRPr/>
          </a:p>
        </p:txBody>
      </p:sp>
      <p:sp>
        <p:nvSpPr>
          <p:cNvPr id="2383" name="Google Shape;2383;p118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11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P-130-170: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Transfer Materials from Quality Inspection to Stock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389" name="Google Shape;2389;p119"/>
          <p:cNvSpPr/>
          <p:nvPr/>
        </p:nvSpPr>
        <p:spPr>
          <a:xfrm>
            <a:off x="1160963" y="26474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transfer materials from quality inspection to unrestricted stock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390" name="Google Shape;2390;p119"/>
          <p:cNvSpPr/>
          <p:nvPr/>
        </p:nvSpPr>
        <p:spPr>
          <a:xfrm>
            <a:off x="5357813" y="26791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stock </a:t>
            </a:r>
            <a:r>
              <a:rPr lang="en" sz="600">
                <a:solidFill>
                  <a:schemeClr val="dk1"/>
                </a:solidFill>
              </a:rPr>
              <a:t>transferred</a:t>
            </a:r>
            <a:r>
              <a:rPr lang="en" sz="600">
                <a:solidFill>
                  <a:schemeClr val="dk1"/>
                </a:solidFill>
              </a:rPr>
              <a:t> from quality inspection to unrestricted stock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391" name="Google Shape;2391;p119"/>
          <p:cNvCxnSpPr>
            <a:stCxn id="2389" idx="6"/>
            <a:endCxn id="2392" idx="1"/>
          </p:cNvCxnSpPr>
          <p:nvPr/>
        </p:nvCxnSpPr>
        <p:spPr>
          <a:xfrm>
            <a:off x="1976963" y="3046600"/>
            <a:ext cx="22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2" name="Google Shape;2392;p119"/>
          <p:cNvSpPr/>
          <p:nvPr/>
        </p:nvSpPr>
        <p:spPr>
          <a:xfrm>
            <a:off x="2205787" y="2712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</a:t>
            </a:r>
            <a:r>
              <a:rPr lang="en" sz="900">
                <a:solidFill>
                  <a:schemeClr val="dk1"/>
                </a:solidFill>
              </a:rPr>
              <a:t>usage decision accept</a:t>
            </a:r>
            <a:endParaRPr sz="900"/>
          </a:p>
        </p:txBody>
      </p:sp>
      <p:cxnSp>
        <p:nvCxnSpPr>
          <p:cNvPr id="2393" name="Google Shape;2393;p119"/>
          <p:cNvCxnSpPr>
            <a:stCxn id="2392" idx="3"/>
            <a:endCxn id="2390" idx="2"/>
          </p:cNvCxnSpPr>
          <p:nvPr/>
        </p:nvCxnSpPr>
        <p:spPr>
          <a:xfrm>
            <a:off x="3272287" y="3046600"/>
            <a:ext cx="2085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4" name="Google Shape;2394;p119"/>
          <p:cNvSpPr/>
          <p:nvPr/>
        </p:nvSpPr>
        <p:spPr>
          <a:xfrm>
            <a:off x="3781812" y="2712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</a:t>
            </a:r>
            <a:r>
              <a:rPr lang="en" sz="900">
                <a:solidFill>
                  <a:schemeClr val="dk1"/>
                </a:solidFill>
              </a:rPr>
              <a:t>Transfer material to unrestricted stock from quality inspection</a:t>
            </a:r>
            <a:endParaRPr sz="900"/>
          </a:p>
        </p:txBody>
      </p:sp>
      <p:sp>
        <p:nvSpPr>
          <p:cNvPr id="2395" name="Google Shape;2395;p119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396" name="Google Shape;2396;p119"/>
          <p:cNvSpPr/>
          <p:nvPr/>
        </p:nvSpPr>
        <p:spPr>
          <a:xfrm>
            <a:off x="3705825" y="3580400"/>
            <a:ext cx="1336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2397" name="Google Shape;2397;p11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p12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P-130-180: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Reclassify Materials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403" name="Google Shape;2403;p120"/>
          <p:cNvSpPr/>
          <p:nvPr/>
        </p:nvSpPr>
        <p:spPr>
          <a:xfrm>
            <a:off x="94563" y="232212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reclassify material or batch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404" name="Google Shape;2404;p120"/>
          <p:cNvSpPr/>
          <p:nvPr/>
        </p:nvSpPr>
        <p:spPr>
          <a:xfrm>
            <a:off x="8061388" y="2351525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</a:t>
            </a:r>
            <a:r>
              <a:rPr lang="en" sz="600">
                <a:solidFill>
                  <a:schemeClr val="dk1"/>
                </a:solidFill>
              </a:rPr>
              <a:t>material</a:t>
            </a:r>
            <a:r>
              <a:rPr lang="en" sz="600">
                <a:solidFill>
                  <a:schemeClr val="dk1"/>
                </a:solidFill>
              </a:rPr>
              <a:t> reclassified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405" name="Google Shape;2405;p120"/>
          <p:cNvCxnSpPr>
            <a:stCxn id="2403" idx="6"/>
            <a:endCxn id="2406" idx="1"/>
          </p:cNvCxnSpPr>
          <p:nvPr/>
        </p:nvCxnSpPr>
        <p:spPr>
          <a:xfrm>
            <a:off x="910563" y="2721275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6" name="Google Shape;2406;p120"/>
          <p:cNvSpPr/>
          <p:nvPr/>
        </p:nvSpPr>
        <p:spPr>
          <a:xfrm>
            <a:off x="1139187" y="23873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</a:t>
            </a:r>
            <a:r>
              <a:rPr lang="en" sz="900">
                <a:solidFill>
                  <a:schemeClr val="dk1"/>
                </a:solidFill>
              </a:rPr>
              <a:t>usage decision</a:t>
            </a:r>
            <a:endParaRPr sz="900"/>
          </a:p>
        </p:txBody>
      </p:sp>
      <p:cxnSp>
        <p:nvCxnSpPr>
          <p:cNvPr id="2407" name="Google Shape;2407;p120"/>
          <p:cNvCxnSpPr>
            <a:stCxn id="2406" idx="3"/>
            <a:endCxn id="2404" idx="2"/>
          </p:cNvCxnSpPr>
          <p:nvPr/>
        </p:nvCxnSpPr>
        <p:spPr>
          <a:xfrm>
            <a:off x="2205687" y="2721275"/>
            <a:ext cx="585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8" name="Google Shape;2408;p120"/>
          <p:cNvSpPr/>
          <p:nvPr/>
        </p:nvSpPr>
        <p:spPr>
          <a:xfrm>
            <a:off x="4561099" y="23873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>
                <a:solidFill>
                  <a:schemeClr val="dk1"/>
                </a:solidFill>
              </a:rPr>
              <a:t>Reclassify</a:t>
            </a:r>
            <a:r>
              <a:rPr lang="en" sz="900">
                <a:solidFill>
                  <a:schemeClr val="dk1"/>
                </a:solidFill>
              </a:rPr>
              <a:t> material or batch</a:t>
            </a:r>
            <a:endParaRPr sz="900"/>
          </a:p>
        </p:txBody>
      </p:sp>
      <p:sp>
        <p:nvSpPr>
          <p:cNvPr id="2409" name="Google Shape;2409;p120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410" name="Google Shape;2410;p120"/>
          <p:cNvSpPr/>
          <p:nvPr/>
        </p:nvSpPr>
        <p:spPr>
          <a:xfrm>
            <a:off x="4513400" y="4071975"/>
            <a:ext cx="1161900" cy="6678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QA11 or manage usage decision</a:t>
            </a:r>
            <a:endParaRPr sz="1000"/>
          </a:p>
        </p:txBody>
      </p:sp>
      <p:sp>
        <p:nvSpPr>
          <p:cNvPr id="2411" name="Google Shape;2411;p120"/>
          <p:cNvSpPr/>
          <p:nvPr/>
        </p:nvSpPr>
        <p:spPr>
          <a:xfrm>
            <a:off x="2544951" y="23873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120"/>
          <p:cNvSpPr/>
          <p:nvPr/>
        </p:nvSpPr>
        <p:spPr>
          <a:xfrm>
            <a:off x="2651439" y="25214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120"/>
          <p:cNvSpPr/>
          <p:nvPr/>
        </p:nvSpPr>
        <p:spPr>
          <a:xfrm>
            <a:off x="6954626" y="23873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120"/>
          <p:cNvSpPr/>
          <p:nvPr/>
        </p:nvSpPr>
        <p:spPr>
          <a:xfrm>
            <a:off x="7061114" y="25214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120"/>
          <p:cNvSpPr/>
          <p:nvPr/>
        </p:nvSpPr>
        <p:spPr>
          <a:xfrm>
            <a:off x="4561099" y="32296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>
                <a:solidFill>
                  <a:schemeClr val="dk1"/>
                </a:solidFill>
              </a:rPr>
              <a:t>Partially Reclassify Material or Batch</a:t>
            </a:r>
            <a:endParaRPr sz="900"/>
          </a:p>
        </p:txBody>
      </p:sp>
      <p:cxnSp>
        <p:nvCxnSpPr>
          <p:cNvPr id="2416" name="Google Shape;2416;p120"/>
          <p:cNvCxnSpPr>
            <a:stCxn id="2411" idx="2"/>
            <a:endCxn id="2415" idx="1"/>
          </p:cNvCxnSpPr>
          <p:nvPr/>
        </p:nvCxnSpPr>
        <p:spPr>
          <a:xfrm flipH="1" rot="-5400000">
            <a:off x="3444351" y="2447081"/>
            <a:ext cx="508500" cy="172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7" name="Google Shape;2417;p120"/>
          <p:cNvCxnSpPr>
            <a:stCxn id="2415" idx="3"/>
            <a:endCxn id="2413" idx="2"/>
          </p:cNvCxnSpPr>
          <p:nvPr/>
        </p:nvCxnSpPr>
        <p:spPr>
          <a:xfrm flipH="1" rot="10800000">
            <a:off x="5627599" y="3055075"/>
            <a:ext cx="1618200" cy="508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8" name="Google Shape;2418;p120"/>
          <p:cNvSpPr txBox="1"/>
          <p:nvPr/>
        </p:nvSpPr>
        <p:spPr>
          <a:xfrm>
            <a:off x="2999475" y="1918625"/>
            <a:ext cx="15144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Fully Reclassify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19" name="Google Shape;2419;p120"/>
          <p:cNvSpPr txBox="1"/>
          <p:nvPr/>
        </p:nvSpPr>
        <p:spPr>
          <a:xfrm>
            <a:off x="2972400" y="2995300"/>
            <a:ext cx="15144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</a:t>
            </a:r>
            <a:r>
              <a:rPr lang="en" sz="900">
                <a:solidFill>
                  <a:schemeClr val="dk2"/>
                </a:solidFill>
              </a:rPr>
              <a:t>Partially</a:t>
            </a:r>
            <a:r>
              <a:rPr lang="en" sz="900">
                <a:solidFill>
                  <a:schemeClr val="dk2"/>
                </a:solidFill>
              </a:rPr>
              <a:t> Reclassify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20" name="Google Shape;2420;p120"/>
          <p:cNvSpPr/>
          <p:nvPr/>
        </p:nvSpPr>
        <p:spPr>
          <a:xfrm>
            <a:off x="4513400" y="1604950"/>
            <a:ext cx="1161900" cy="6678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QA11 or manage usage decision</a:t>
            </a:r>
            <a:endParaRPr sz="1000"/>
          </a:p>
        </p:txBody>
      </p:sp>
      <p:sp>
        <p:nvSpPr>
          <p:cNvPr id="2421" name="Google Shape;2421;p12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121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P-130-200: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Notify Vendor of Material Acceptance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427" name="Google Shape;2427;p121"/>
          <p:cNvSpPr/>
          <p:nvPr/>
        </p:nvSpPr>
        <p:spPr>
          <a:xfrm>
            <a:off x="2757950" y="2701400"/>
            <a:ext cx="3296100" cy="7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they do not do this step</a:t>
            </a:r>
            <a:endParaRPr/>
          </a:p>
        </p:txBody>
      </p:sp>
      <p:sp>
        <p:nvSpPr>
          <p:cNvPr id="2428" name="Google Shape;2428;p121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p12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P-130-210: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Notify Vendor of </a:t>
            </a:r>
            <a:r>
              <a:rPr lang="en" sz="1520">
                <a:solidFill>
                  <a:schemeClr val="dk2"/>
                </a:solidFill>
              </a:rPr>
              <a:t>Material Rejection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434" name="Google Shape;2434;p122"/>
          <p:cNvSpPr/>
          <p:nvPr/>
        </p:nvSpPr>
        <p:spPr>
          <a:xfrm>
            <a:off x="1160963" y="26474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notify vendor of rejected materials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435" name="Google Shape;2435;p122"/>
          <p:cNvSpPr/>
          <p:nvPr/>
        </p:nvSpPr>
        <p:spPr>
          <a:xfrm>
            <a:off x="6848963" y="26768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vendor notified of rejected materials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436" name="Google Shape;2436;p122"/>
          <p:cNvCxnSpPr>
            <a:stCxn id="2434" idx="6"/>
            <a:endCxn id="2437" idx="1"/>
          </p:cNvCxnSpPr>
          <p:nvPr/>
        </p:nvCxnSpPr>
        <p:spPr>
          <a:xfrm>
            <a:off x="1976963" y="3046600"/>
            <a:ext cx="22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8" name="Google Shape;2438;p122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439" name="Google Shape;2439;p122"/>
          <p:cNvSpPr/>
          <p:nvPr/>
        </p:nvSpPr>
        <p:spPr>
          <a:xfrm>
            <a:off x="3521762" y="3165413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Task:send task of rejection to supplier</a:t>
            </a:r>
            <a:endParaRPr sz="900"/>
          </a:p>
        </p:txBody>
      </p:sp>
      <p:cxnSp>
        <p:nvCxnSpPr>
          <p:cNvPr id="2440" name="Google Shape;2440;p122"/>
          <p:cNvCxnSpPr>
            <a:stCxn id="2441" idx="3"/>
          </p:cNvCxnSpPr>
          <p:nvPr/>
        </p:nvCxnSpPr>
        <p:spPr>
          <a:xfrm>
            <a:off x="5758788" y="3000106"/>
            <a:ext cx="50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2" name="Google Shape;2442;p122"/>
          <p:cNvSpPr/>
          <p:nvPr/>
        </p:nvSpPr>
        <p:spPr>
          <a:xfrm>
            <a:off x="3511863" y="3833213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quality notification</a:t>
            </a:r>
            <a:endParaRPr sz="1000"/>
          </a:p>
        </p:txBody>
      </p:sp>
      <p:sp>
        <p:nvSpPr>
          <p:cNvPr id="2443" name="Google Shape;2443;p122"/>
          <p:cNvSpPr/>
          <p:nvPr/>
        </p:nvSpPr>
        <p:spPr>
          <a:xfrm>
            <a:off x="3559562" y="2076288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email to supplier for rejection</a:t>
            </a:r>
            <a:endParaRPr sz="900"/>
          </a:p>
        </p:txBody>
      </p:sp>
      <p:sp>
        <p:nvSpPr>
          <p:cNvPr id="2444" name="Google Shape;2444;p122"/>
          <p:cNvSpPr/>
          <p:nvPr/>
        </p:nvSpPr>
        <p:spPr>
          <a:xfrm>
            <a:off x="2564363" y="26662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122"/>
          <p:cNvSpPr/>
          <p:nvPr/>
        </p:nvSpPr>
        <p:spPr>
          <a:xfrm>
            <a:off x="2670739" y="28002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122"/>
          <p:cNvSpPr/>
          <p:nvPr/>
        </p:nvSpPr>
        <p:spPr>
          <a:xfrm>
            <a:off x="5176188" y="26662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122"/>
          <p:cNvSpPr/>
          <p:nvPr/>
        </p:nvSpPr>
        <p:spPr>
          <a:xfrm>
            <a:off x="5282564" y="28002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7" name="Google Shape;2447;p122"/>
          <p:cNvCxnSpPr>
            <a:stCxn id="2444" idx="2"/>
            <a:endCxn id="2439" idx="1"/>
          </p:cNvCxnSpPr>
          <p:nvPr/>
        </p:nvCxnSpPr>
        <p:spPr>
          <a:xfrm flipH="1" rot="-5400000">
            <a:off x="3106013" y="3083656"/>
            <a:ext cx="165300" cy="66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8" name="Google Shape;2448;p122"/>
          <p:cNvCxnSpPr>
            <a:stCxn id="2444" idx="0"/>
            <a:endCxn id="2443" idx="1"/>
          </p:cNvCxnSpPr>
          <p:nvPr/>
        </p:nvCxnSpPr>
        <p:spPr>
          <a:xfrm rot="-5400000">
            <a:off x="3079613" y="2186356"/>
            <a:ext cx="255900" cy="703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9" name="Google Shape;2449;p122"/>
          <p:cNvCxnSpPr>
            <a:stCxn id="2443" idx="3"/>
            <a:endCxn id="2441" idx="0"/>
          </p:cNvCxnSpPr>
          <p:nvPr/>
        </p:nvCxnSpPr>
        <p:spPr>
          <a:xfrm>
            <a:off x="4626062" y="2410188"/>
            <a:ext cx="841500" cy="25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0" name="Google Shape;2450;p122"/>
          <p:cNvCxnSpPr>
            <a:stCxn id="2439" idx="3"/>
            <a:endCxn id="2441" idx="2"/>
          </p:cNvCxnSpPr>
          <p:nvPr/>
        </p:nvCxnSpPr>
        <p:spPr>
          <a:xfrm flipH="1" rot="10800000">
            <a:off x="4588262" y="3334013"/>
            <a:ext cx="879300" cy="165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1" name="Google Shape;2451;p122"/>
          <p:cNvSpPr txBox="1"/>
          <p:nvPr/>
        </p:nvSpPr>
        <p:spPr>
          <a:xfrm>
            <a:off x="2711663" y="2008288"/>
            <a:ext cx="991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email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52" name="Google Shape;2452;p122"/>
          <p:cNvSpPr txBox="1"/>
          <p:nvPr/>
        </p:nvSpPr>
        <p:spPr>
          <a:xfrm>
            <a:off x="2692763" y="3534938"/>
            <a:ext cx="991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Supplier has sap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53" name="Google Shape;2453;p12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12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P-140-010: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Determine Material Disposition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459" name="Google Shape;2459;p123"/>
          <p:cNvSpPr/>
          <p:nvPr/>
        </p:nvSpPr>
        <p:spPr>
          <a:xfrm>
            <a:off x="1160963" y="26474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determine material disposition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460" name="Google Shape;2460;p123"/>
          <p:cNvSpPr/>
          <p:nvPr/>
        </p:nvSpPr>
        <p:spPr>
          <a:xfrm>
            <a:off x="7643088" y="26768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material disposition determined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461" name="Google Shape;2461;p123"/>
          <p:cNvCxnSpPr>
            <a:stCxn id="2459" idx="6"/>
            <a:endCxn id="2462" idx="1"/>
          </p:cNvCxnSpPr>
          <p:nvPr/>
        </p:nvCxnSpPr>
        <p:spPr>
          <a:xfrm>
            <a:off x="1976963" y="3046600"/>
            <a:ext cx="22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2" name="Google Shape;2462;p123"/>
          <p:cNvSpPr/>
          <p:nvPr/>
        </p:nvSpPr>
        <p:spPr>
          <a:xfrm>
            <a:off x="2205787" y="2712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</a:t>
            </a:r>
            <a:r>
              <a:rPr lang="en" sz="900">
                <a:solidFill>
                  <a:schemeClr val="dk1"/>
                </a:solidFill>
              </a:rPr>
              <a:t>notify vendor of rejection</a:t>
            </a:r>
            <a:endParaRPr sz="900"/>
          </a:p>
        </p:txBody>
      </p:sp>
      <p:sp>
        <p:nvSpPr>
          <p:cNvPr id="2463" name="Google Shape;2463;p123"/>
          <p:cNvSpPr/>
          <p:nvPr/>
        </p:nvSpPr>
        <p:spPr>
          <a:xfrm>
            <a:off x="4567587" y="2712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</a:t>
            </a:r>
            <a:r>
              <a:rPr lang="en" sz="900">
                <a:solidFill>
                  <a:schemeClr val="dk1"/>
                </a:solidFill>
              </a:rPr>
              <a:t>issue return notice</a:t>
            </a:r>
            <a:endParaRPr sz="900"/>
          </a:p>
        </p:txBody>
      </p:sp>
      <p:sp>
        <p:nvSpPr>
          <p:cNvPr id="2464" name="Google Shape;2464;p123"/>
          <p:cNvSpPr/>
          <p:nvPr/>
        </p:nvSpPr>
        <p:spPr>
          <a:xfrm>
            <a:off x="3501063" y="27127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123"/>
          <p:cNvSpPr/>
          <p:nvPr/>
        </p:nvSpPr>
        <p:spPr>
          <a:xfrm>
            <a:off x="3607439" y="28467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123"/>
          <p:cNvSpPr/>
          <p:nvPr/>
        </p:nvSpPr>
        <p:spPr>
          <a:xfrm>
            <a:off x="6475913" y="27126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123"/>
          <p:cNvSpPr/>
          <p:nvPr/>
        </p:nvSpPr>
        <p:spPr>
          <a:xfrm>
            <a:off x="6582289" y="28467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123"/>
          <p:cNvSpPr/>
          <p:nvPr/>
        </p:nvSpPr>
        <p:spPr>
          <a:xfrm>
            <a:off x="4572012" y="16794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</a:t>
            </a:r>
            <a:r>
              <a:rPr lang="en" sz="900">
                <a:solidFill>
                  <a:schemeClr val="dk1"/>
                </a:solidFill>
              </a:rPr>
              <a:t>Rework Material</a:t>
            </a:r>
            <a:endParaRPr sz="900"/>
          </a:p>
        </p:txBody>
      </p:sp>
      <p:cxnSp>
        <p:nvCxnSpPr>
          <p:cNvPr id="2469" name="Google Shape;2469;p123"/>
          <p:cNvCxnSpPr>
            <a:stCxn id="2464" idx="0"/>
            <a:endCxn id="2468" idx="1"/>
          </p:cNvCxnSpPr>
          <p:nvPr/>
        </p:nvCxnSpPr>
        <p:spPr>
          <a:xfrm rot="-5400000">
            <a:off x="3832563" y="1973206"/>
            <a:ext cx="699300" cy="779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0" name="Google Shape;2470;p123"/>
          <p:cNvCxnSpPr>
            <a:stCxn id="2468" idx="3"/>
            <a:endCxn id="2466" idx="0"/>
          </p:cNvCxnSpPr>
          <p:nvPr/>
        </p:nvCxnSpPr>
        <p:spPr>
          <a:xfrm>
            <a:off x="5638512" y="2013325"/>
            <a:ext cx="1128600" cy="699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1" name="Google Shape;2471;p123"/>
          <p:cNvCxnSpPr>
            <a:stCxn id="2464" idx="2"/>
            <a:endCxn id="2472" idx="1"/>
          </p:cNvCxnSpPr>
          <p:nvPr/>
        </p:nvCxnSpPr>
        <p:spPr>
          <a:xfrm flipH="1" rot="-5400000">
            <a:off x="3868413" y="3304456"/>
            <a:ext cx="627600" cy="779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3" name="Google Shape;2473;p123"/>
          <p:cNvCxnSpPr>
            <a:stCxn id="2472" idx="3"/>
            <a:endCxn id="2466" idx="2"/>
          </p:cNvCxnSpPr>
          <p:nvPr/>
        </p:nvCxnSpPr>
        <p:spPr>
          <a:xfrm flipH="1" rot="10800000">
            <a:off x="5638613" y="3380481"/>
            <a:ext cx="1128600" cy="627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4" name="Google Shape;2474;p123"/>
          <p:cNvCxnSpPr>
            <a:stCxn id="2462" idx="3"/>
            <a:endCxn id="2464" idx="1"/>
          </p:cNvCxnSpPr>
          <p:nvPr/>
        </p:nvCxnSpPr>
        <p:spPr>
          <a:xfrm>
            <a:off x="3272287" y="3046600"/>
            <a:ext cx="22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5" name="Google Shape;2475;p123"/>
          <p:cNvCxnSpPr>
            <a:stCxn id="2464" idx="3"/>
            <a:endCxn id="2463" idx="1"/>
          </p:cNvCxnSpPr>
          <p:nvPr/>
        </p:nvCxnSpPr>
        <p:spPr>
          <a:xfrm>
            <a:off x="4083663" y="3046606"/>
            <a:ext cx="4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6" name="Google Shape;2476;p123"/>
          <p:cNvCxnSpPr>
            <a:stCxn id="2463" idx="3"/>
            <a:endCxn id="2466" idx="1"/>
          </p:cNvCxnSpPr>
          <p:nvPr/>
        </p:nvCxnSpPr>
        <p:spPr>
          <a:xfrm>
            <a:off x="5634087" y="3046600"/>
            <a:ext cx="84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7" name="Google Shape;2477;p123"/>
          <p:cNvCxnSpPr>
            <a:stCxn id="2466" idx="3"/>
            <a:endCxn id="2460" idx="2"/>
          </p:cNvCxnSpPr>
          <p:nvPr/>
        </p:nvCxnSpPr>
        <p:spPr>
          <a:xfrm>
            <a:off x="7058513" y="3046581"/>
            <a:ext cx="58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8" name="Google Shape;2478;p123"/>
          <p:cNvSpPr txBox="1"/>
          <p:nvPr/>
        </p:nvSpPr>
        <p:spPr>
          <a:xfrm>
            <a:off x="3723009" y="159398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Rework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479" name="Google Shape;2479;p123"/>
          <p:cNvSpPr txBox="1"/>
          <p:nvPr/>
        </p:nvSpPr>
        <p:spPr>
          <a:xfrm>
            <a:off x="3897084" y="2431252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return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480" name="Google Shape;2480;p123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481" name="Google Shape;2481;p123"/>
          <p:cNvSpPr/>
          <p:nvPr/>
        </p:nvSpPr>
        <p:spPr>
          <a:xfrm>
            <a:off x="4157312" y="36329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</a:t>
            </a:r>
            <a:r>
              <a:rPr lang="en" sz="900">
                <a:solidFill>
                  <a:schemeClr val="dk1"/>
                </a:solidFill>
              </a:rPr>
              <a:t>contain</a:t>
            </a:r>
            <a:endParaRPr sz="900"/>
          </a:p>
        </p:txBody>
      </p:sp>
      <p:sp>
        <p:nvSpPr>
          <p:cNvPr id="2482" name="Google Shape;2482;p123"/>
          <p:cNvSpPr/>
          <p:nvPr/>
        </p:nvSpPr>
        <p:spPr>
          <a:xfrm>
            <a:off x="5521737" y="36327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</a:t>
            </a:r>
            <a:r>
              <a:rPr lang="en" sz="900">
                <a:solidFill>
                  <a:schemeClr val="dk1"/>
                </a:solidFill>
              </a:rPr>
              <a:t>scrap management</a:t>
            </a:r>
            <a:endParaRPr sz="900"/>
          </a:p>
        </p:txBody>
      </p:sp>
      <p:sp>
        <p:nvSpPr>
          <p:cNvPr id="2483" name="Google Shape;2483;p12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12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P-140-040: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Rework Material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489" name="Google Shape;2489;p124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490" name="Google Shape;2490;p12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491" name="Google Shape;2491;p124"/>
          <p:cNvSpPr/>
          <p:nvPr/>
        </p:nvSpPr>
        <p:spPr>
          <a:xfrm>
            <a:off x="2757950" y="2701400"/>
            <a:ext cx="3296100" cy="7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Deleted because exact same as M-140-200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p1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7.4 Monitor quality of finished products, raw materials and intermediate products</a:t>
            </a:r>
            <a:endParaRPr/>
          </a:p>
        </p:txBody>
      </p:sp>
      <p:sp>
        <p:nvSpPr>
          <p:cNvPr id="2497" name="Google Shape;2497;p1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7.4.8 Quality Control of intermediates, finished products (bulk, packaged)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p12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M-140-100: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Manage Blocked Stock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503" name="Google Shape;2503;p126"/>
          <p:cNvSpPr/>
          <p:nvPr/>
        </p:nvSpPr>
        <p:spPr>
          <a:xfrm>
            <a:off x="80650" y="217260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Need to manage blocked stock coming from in-process or after process UD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504" name="Google Shape;2504;p126"/>
          <p:cNvSpPr/>
          <p:nvPr/>
        </p:nvSpPr>
        <p:spPr>
          <a:xfrm>
            <a:off x="8485100" y="2194950"/>
            <a:ext cx="5826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Blocked stock managed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505" name="Google Shape;2505;p126"/>
          <p:cNvCxnSpPr>
            <a:stCxn id="2503" idx="6"/>
            <a:endCxn id="2506" idx="1"/>
          </p:cNvCxnSpPr>
          <p:nvPr/>
        </p:nvCxnSpPr>
        <p:spPr>
          <a:xfrm flipH="1" rot="10800000">
            <a:off x="896650" y="2564850"/>
            <a:ext cx="14394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7" name="Google Shape;2507;p126"/>
          <p:cNvCxnSpPr/>
          <p:nvPr/>
        </p:nvCxnSpPr>
        <p:spPr>
          <a:xfrm>
            <a:off x="3121487" y="2564700"/>
            <a:ext cx="536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6" name="Google Shape;2506;p126"/>
          <p:cNvSpPr/>
          <p:nvPr/>
        </p:nvSpPr>
        <p:spPr>
          <a:xfrm>
            <a:off x="2336087" y="2230800"/>
            <a:ext cx="7854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Manage Blocked Stock</a:t>
            </a:r>
            <a:endParaRPr sz="900"/>
          </a:p>
        </p:txBody>
      </p:sp>
      <p:sp>
        <p:nvSpPr>
          <p:cNvPr id="2508" name="Google Shape;2508;p126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509" name="Google Shape;2509;p126"/>
          <p:cNvSpPr/>
          <p:nvPr/>
        </p:nvSpPr>
        <p:spPr>
          <a:xfrm>
            <a:off x="2417375" y="2945425"/>
            <a:ext cx="7041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2510" name="Google Shape;2510;p126"/>
          <p:cNvSpPr/>
          <p:nvPr/>
        </p:nvSpPr>
        <p:spPr>
          <a:xfrm>
            <a:off x="3291024" y="22308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M-140-150 Determine Best alternative for Use of Off-Spec Material</a:t>
            </a:r>
            <a:endParaRPr sz="900"/>
          </a:p>
        </p:txBody>
      </p:sp>
      <p:sp>
        <p:nvSpPr>
          <p:cNvPr id="2511" name="Google Shape;2511;p126"/>
          <p:cNvSpPr/>
          <p:nvPr/>
        </p:nvSpPr>
        <p:spPr>
          <a:xfrm>
            <a:off x="4458100" y="2325475"/>
            <a:ext cx="506100" cy="580200"/>
          </a:xfrm>
          <a:prstGeom prst="diamond">
            <a:avLst/>
          </a:prstGeom>
          <a:solidFill>
            <a:schemeClr val="lt2"/>
          </a:solidFill>
          <a:ln cap="flat" cmpd="sng" w="8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/>
          </a:p>
        </p:txBody>
      </p:sp>
      <p:sp>
        <p:nvSpPr>
          <p:cNvPr id="2512" name="Google Shape;2512;p126"/>
          <p:cNvSpPr/>
          <p:nvPr/>
        </p:nvSpPr>
        <p:spPr>
          <a:xfrm>
            <a:off x="4550517" y="2441942"/>
            <a:ext cx="321000" cy="3471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8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/>
          </a:p>
        </p:txBody>
      </p:sp>
      <p:sp>
        <p:nvSpPr>
          <p:cNvPr id="2513" name="Google Shape;2513;p126"/>
          <p:cNvSpPr/>
          <p:nvPr/>
        </p:nvSpPr>
        <p:spPr>
          <a:xfrm>
            <a:off x="6032978" y="2319350"/>
            <a:ext cx="506100" cy="580200"/>
          </a:xfrm>
          <a:prstGeom prst="diamond">
            <a:avLst/>
          </a:prstGeom>
          <a:solidFill>
            <a:schemeClr val="lt2"/>
          </a:solidFill>
          <a:ln cap="flat" cmpd="sng" w="8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/>
          </a:p>
        </p:txBody>
      </p:sp>
      <p:sp>
        <p:nvSpPr>
          <p:cNvPr id="2514" name="Google Shape;2514;p126"/>
          <p:cNvSpPr/>
          <p:nvPr/>
        </p:nvSpPr>
        <p:spPr>
          <a:xfrm>
            <a:off x="6125504" y="2441942"/>
            <a:ext cx="321000" cy="3471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8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/>
          </a:p>
        </p:txBody>
      </p:sp>
      <p:sp>
        <p:nvSpPr>
          <p:cNvPr id="2515" name="Google Shape;2515;p126"/>
          <p:cNvSpPr/>
          <p:nvPr/>
        </p:nvSpPr>
        <p:spPr>
          <a:xfrm>
            <a:off x="4977299" y="9791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M-140-120 Blend</a:t>
            </a:r>
            <a:endParaRPr sz="900"/>
          </a:p>
        </p:txBody>
      </p:sp>
      <p:sp>
        <p:nvSpPr>
          <p:cNvPr id="2516" name="Google Shape;2516;p126"/>
          <p:cNvSpPr/>
          <p:nvPr/>
        </p:nvSpPr>
        <p:spPr>
          <a:xfrm>
            <a:off x="4996799" y="27373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M-140-020 Contain as Off-spec material for another customer</a:t>
            </a:r>
            <a:endParaRPr sz="900"/>
          </a:p>
        </p:txBody>
      </p:sp>
      <p:sp>
        <p:nvSpPr>
          <p:cNvPr id="2517" name="Google Shape;2517;p126"/>
          <p:cNvSpPr/>
          <p:nvPr/>
        </p:nvSpPr>
        <p:spPr>
          <a:xfrm>
            <a:off x="4996799" y="36729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M-140-030 Rework material</a:t>
            </a:r>
            <a:endParaRPr sz="900"/>
          </a:p>
        </p:txBody>
      </p:sp>
      <p:sp>
        <p:nvSpPr>
          <p:cNvPr id="2518" name="Google Shape;2518;p126"/>
          <p:cNvSpPr/>
          <p:nvPr/>
        </p:nvSpPr>
        <p:spPr>
          <a:xfrm>
            <a:off x="4996812" y="212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M-140-190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Reclassify material</a:t>
            </a:r>
            <a:endParaRPr sz="900"/>
          </a:p>
        </p:txBody>
      </p:sp>
      <p:sp>
        <p:nvSpPr>
          <p:cNvPr id="2519" name="Google Shape;2519;p126"/>
          <p:cNvSpPr/>
          <p:nvPr/>
        </p:nvSpPr>
        <p:spPr>
          <a:xfrm>
            <a:off x="1042825" y="2230800"/>
            <a:ext cx="988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stock to Blocked Stock </a:t>
            </a:r>
            <a:endParaRPr sz="900"/>
          </a:p>
        </p:txBody>
      </p:sp>
      <p:sp>
        <p:nvSpPr>
          <p:cNvPr id="2520" name="Google Shape;2520;p126"/>
          <p:cNvSpPr/>
          <p:nvPr/>
        </p:nvSpPr>
        <p:spPr>
          <a:xfrm>
            <a:off x="1185175" y="2945425"/>
            <a:ext cx="7041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QA11</a:t>
            </a:r>
            <a:endParaRPr sz="1000"/>
          </a:p>
        </p:txBody>
      </p:sp>
      <p:cxnSp>
        <p:nvCxnSpPr>
          <p:cNvPr id="2521" name="Google Shape;2521;p126"/>
          <p:cNvCxnSpPr>
            <a:stCxn id="2511" idx="0"/>
            <a:endCxn id="2518" idx="1"/>
          </p:cNvCxnSpPr>
          <p:nvPr/>
        </p:nvCxnSpPr>
        <p:spPr>
          <a:xfrm rot="-5400000">
            <a:off x="3964450" y="1293175"/>
            <a:ext cx="1779000" cy="285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2" name="Google Shape;2522;p126"/>
          <p:cNvCxnSpPr>
            <a:stCxn id="2511" idx="0"/>
            <a:endCxn id="2515" idx="1"/>
          </p:cNvCxnSpPr>
          <p:nvPr/>
        </p:nvCxnSpPr>
        <p:spPr>
          <a:xfrm rot="-5400000">
            <a:off x="4337950" y="1686175"/>
            <a:ext cx="1012500" cy="26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3" name="Google Shape;2523;p126"/>
          <p:cNvCxnSpPr>
            <a:stCxn id="2511" idx="0"/>
            <a:endCxn id="2524" idx="1"/>
          </p:cNvCxnSpPr>
          <p:nvPr/>
        </p:nvCxnSpPr>
        <p:spPr>
          <a:xfrm rot="-5400000">
            <a:off x="4850200" y="2084125"/>
            <a:ext cx="102300" cy="38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5" name="Google Shape;2525;p126"/>
          <p:cNvCxnSpPr>
            <a:stCxn id="2511" idx="2"/>
            <a:endCxn id="2516" idx="1"/>
          </p:cNvCxnSpPr>
          <p:nvPr/>
        </p:nvCxnSpPr>
        <p:spPr>
          <a:xfrm flipH="1" rot="-5400000">
            <a:off x="4771150" y="2845675"/>
            <a:ext cx="165600" cy="285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6" name="Google Shape;2526;p126"/>
          <p:cNvCxnSpPr>
            <a:stCxn id="2511" idx="2"/>
            <a:endCxn id="2517" idx="1"/>
          </p:cNvCxnSpPr>
          <p:nvPr/>
        </p:nvCxnSpPr>
        <p:spPr>
          <a:xfrm flipH="1" rot="-5400000">
            <a:off x="4303300" y="3313525"/>
            <a:ext cx="1101300" cy="285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7" name="Google Shape;2527;p126"/>
          <p:cNvCxnSpPr>
            <a:stCxn id="2517" idx="3"/>
            <a:endCxn id="2513" idx="2"/>
          </p:cNvCxnSpPr>
          <p:nvPr/>
        </p:nvCxnSpPr>
        <p:spPr>
          <a:xfrm flipH="1" rot="10800000">
            <a:off x="6063299" y="2899550"/>
            <a:ext cx="222600" cy="1107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8" name="Google Shape;2528;p126"/>
          <p:cNvCxnSpPr>
            <a:stCxn id="2516" idx="3"/>
            <a:endCxn id="2513" idx="2"/>
          </p:cNvCxnSpPr>
          <p:nvPr/>
        </p:nvCxnSpPr>
        <p:spPr>
          <a:xfrm flipH="1" rot="10800000">
            <a:off x="6063299" y="2899675"/>
            <a:ext cx="222600" cy="171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9" name="Google Shape;2529;p126"/>
          <p:cNvCxnSpPr>
            <a:stCxn id="2524" idx="3"/>
            <a:endCxn id="2513" idx="0"/>
          </p:cNvCxnSpPr>
          <p:nvPr/>
        </p:nvCxnSpPr>
        <p:spPr>
          <a:xfrm>
            <a:off x="5920028" y="2224250"/>
            <a:ext cx="366000" cy="95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0" name="Google Shape;2530;p126"/>
          <p:cNvCxnSpPr>
            <a:stCxn id="2515" idx="3"/>
            <a:endCxn id="2513" idx="0"/>
          </p:cNvCxnSpPr>
          <p:nvPr/>
        </p:nvCxnSpPr>
        <p:spPr>
          <a:xfrm>
            <a:off x="6043799" y="1313025"/>
            <a:ext cx="242100" cy="1006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1" name="Google Shape;2531;p126"/>
          <p:cNvCxnSpPr>
            <a:stCxn id="2518" idx="3"/>
            <a:endCxn id="2513" idx="0"/>
          </p:cNvCxnSpPr>
          <p:nvPr/>
        </p:nvCxnSpPr>
        <p:spPr>
          <a:xfrm>
            <a:off x="6063312" y="546600"/>
            <a:ext cx="222600" cy="177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2" name="Google Shape;2532;p126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533" name="Google Shape;2533;p126"/>
          <p:cNvSpPr/>
          <p:nvPr/>
        </p:nvSpPr>
        <p:spPr>
          <a:xfrm>
            <a:off x="6988574" y="15630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M-100-170: manage internal non-conformities</a:t>
            </a:r>
            <a:endParaRPr sz="900"/>
          </a:p>
        </p:txBody>
      </p:sp>
      <p:sp>
        <p:nvSpPr>
          <p:cNvPr id="2534" name="Google Shape;2534;p126"/>
          <p:cNvSpPr/>
          <p:nvPr/>
        </p:nvSpPr>
        <p:spPr>
          <a:xfrm>
            <a:off x="6535278" y="2274600"/>
            <a:ext cx="506100" cy="580200"/>
          </a:xfrm>
          <a:prstGeom prst="diamond">
            <a:avLst/>
          </a:prstGeom>
          <a:solidFill>
            <a:schemeClr val="lt2"/>
          </a:solidFill>
          <a:ln cap="flat" cmpd="sng" w="8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/>
          </a:p>
        </p:txBody>
      </p:sp>
      <p:sp>
        <p:nvSpPr>
          <p:cNvPr id="2535" name="Google Shape;2535;p126"/>
          <p:cNvSpPr/>
          <p:nvPr/>
        </p:nvSpPr>
        <p:spPr>
          <a:xfrm>
            <a:off x="6627804" y="2397192"/>
            <a:ext cx="321000" cy="3471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8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/>
          </a:p>
        </p:txBody>
      </p:sp>
      <p:sp>
        <p:nvSpPr>
          <p:cNvPr id="2536" name="Google Shape;2536;p126"/>
          <p:cNvSpPr/>
          <p:nvPr/>
        </p:nvSpPr>
        <p:spPr>
          <a:xfrm>
            <a:off x="7972178" y="2274600"/>
            <a:ext cx="506100" cy="580200"/>
          </a:xfrm>
          <a:prstGeom prst="diamond">
            <a:avLst/>
          </a:prstGeom>
          <a:solidFill>
            <a:schemeClr val="lt2"/>
          </a:solidFill>
          <a:ln cap="flat" cmpd="sng" w="8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/>
          </a:p>
        </p:txBody>
      </p:sp>
      <p:sp>
        <p:nvSpPr>
          <p:cNvPr id="2537" name="Google Shape;2537;p126"/>
          <p:cNvSpPr/>
          <p:nvPr/>
        </p:nvSpPr>
        <p:spPr>
          <a:xfrm>
            <a:off x="8064704" y="2397192"/>
            <a:ext cx="321000" cy="3471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8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/>
          </a:p>
        </p:txBody>
      </p:sp>
      <p:sp>
        <p:nvSpPr>
          <p:cNvPr id="2538" name="Google Shape;2538;p126"/>
          <p:cNvSpPr txBox="1"/>
          <p:nvPr/>
        </p:nvSpPr>
        <p:spPr>
          <a:xfrm>
            <a:off x="7058638" y="2564700"/>
            <a:ext cx="9888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Investigation not needed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539" name="Google Shape;2539;p126"/>
          <p:cNvSpPr txBox="1"/>
          <p:nvPr/>
        </p:nvSpPr>
        <p:spPr>
          <a:xfrm>
            <a:off x="7027413" y="1218750"/>
            <a:ext cx="9888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Investigation needed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2540" name="Google Shape;2540;p126"/>
          <p:cNvCxnSpPr>
            <a:stCxn id="2534" idx="0"/>
            <a:endCxn id="2533" idx="1"/>
          </p:cNvCxnSpPr>
          <p:nvPr/>
        </p:nvCxnSpPr>
        <p:spPr>
          <a:xfrm rot="-5400000">
            <a:off x="6699528" y="1985700"/>
            <a:ext cx="377700" cy="200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1" name="Google Shape;2541;p126"/>
          <p:cNvCxnSpPr>
            <a:stCxn id="2533" idx="3"/>
            <a:endCxn id="2536" idx="0"/>
          </p:cNvCxnSpPr>
          <p:nvPr/>
        </p:nvCxnSpPr>
        <p:spPr>
          <a:xfrm>
            <a:off x="8055074" y="1896900"/>
            <a:ext cx="170100" cy="377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2" name="Google Shape;2542;p126"/>
          <p:cNvSpPr/>
          <p:nvPr/>
        </p:nvSpPr>
        <p:spPr>
          <a:xfrm>
            <a:off x="5013587" y="1771913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scrap management</a:t>
            </a:r>
            <a:endParaRPr sz="9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6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12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Quality Returns for Pack Products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2548" name="Google Shape;2548;p127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549" name="Google Shape;2549;p127"/>
          <p:cNvSpPr/>
          <p:nvPr/>
        </p:nvSpPr>
        <p:spPr>
          <a:xfrm>
            <a:off x="80650" y="2172600"/>
            <a:ext cx="6429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</a:t>
            </a:r>
            <a:r>
              <a:rPr lang="en" sz="600">
                <a:solidFill>
                  <a:schemeClr val="dk1"/>
                </a:solidFill>
              </a:rPr>
              <a:t>Receive customer return request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550" name="Google Shape;2550;p127"/>
          <p:cNvSpPr/>
          <p:nvPr/>
        </p:nvSpPr>
        <p:spPr>
          <a:xfrm>
            <a:off x="908775" y="2947975"/>
            <a:ext cx="518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VA01</a:t>
            </a:r>
            <a:endParaRPr sz="1000"/>
          </a:p>
        </p:txBody>
      </p:sp>
      <p:sp>
        <p:nvSpPr>
          <p:cNvPr id="2551" name="Google Shape;2551;p127"/>
          <p:cNvSpPr/>
          <p:nvPr/>
        </p:nvSpPr>
        <p:spPr>
          <a:xfrm>
            <a:off x="877650" y="223785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advance return order</a:t>
            </a:r>
            <a:endParaRPr sz="900"/>
          </a:p>
        </p:txBody>
      </p:sp>
      <p:sp>
        <p:nvSpPr>
          <p:cNvPr id="2552" name="Google Shape;2552;p127"/>
          <p:cNvSpPr/>
          <p:nvPr/>
        </p:nvSpPr>
        <p:spPr>
          <a:xfrm>
            <a:off x="1659225" y="223080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return delivery</a:t>
            </a:r>
            <a:endParaRPr sz="900"/>
          </a:p>
        </p:txBody>
      </p:sp>
      <p:sp>
        <p:nvSpPr>
          <p:cNvPr id="2553" name="Google Shape;2553;p127"/>
          <p:cNvSpPr/>
          <p:nvPr/>
        </p:nvSpPr>
        <p:spPr>
          <a:xfrm>
            <a:off x="2440800" y="223785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goods receipt</a:t>
            </a:r>
            <a:endParaRPr sz="900"/>
          </a:p>
        </p:txBody>
      </p:sp>
      <p:sp>
        <p:nvSpPr>
          <p:cNvPr id="2554" name="Google Shape;2554;p127"/>
          <p:cNvSpPr/>
          <p:nvPr/>
        </p:nvSpPr>
        <p:spPr>
          <a:xfrm>
            <a:off x="3222375" y="223785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perform quality inspection</a:t>
            </a:r>
            <a:endParaRPr sz="900"/>
          </a:p>
        </p:txBody>
      </p:sp>
      <p:sp>
        <p:nvSpPr>
          <p:cNvPr id="2555" name="Google Shape;2555;p127"/>
          <p:cNvSpPr/>
          <p:nvPr/>
        </p:nvSpPr>
        <p:spPr>
          <a:xfrm>
            <a:off x="4003951" y="22378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127"/>
          <p:cNvSpPr/>
          <p:nvPr/>
        </p:nvSpPr>
        <p:spPr>
          <a:xfrm>
            <a:off x="4110326" y="23719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127"/>
          <p:cNvSpPr/>
          <p:nvPr/>
        </p:nvSpPr>
        <p:spPr>
          <a:xfrm>
            <a:off x="6547813" y="21972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127"/>
          <p:cNvSpPr/>
          <p:nvPr/>
        </p:nvSpPr>
        <p:spPr>
          <a:xfrm>
            <a:off x="6654189" y="23313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127"/>
          <p:cNvSpPr/>
          <p:nvPr/>
        </p:nvSpPr>
        <p:spPr>
          <a:xfrm>
            <a:off x="4596650" y="126560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Execute follow up activities</a:t>
            </a:r>
            <a:endParaRPr sz="900"/>
          </a:p>
        </p:txBody>
      </p:sp>
      <p:cxnSp>
        <p:nvCxnSpPr>
          <p:cNvPr id="2560" name="Google Shape;2560;p127"/>
          <p:cNvCxnSpPr>
            <a:stCxn id="2555" idx="0"/>
            <a:endCxn id="2559" idx="1"/>
          </p:cNvCxnSpPr>
          <p:nvPr/>
        </p:nvCxnSpPr>
        <p:spPr>
          <a:xfrm rot="-5400000">
            <a:off x="4126801" y="1767906"/>
            <a:ext cx="638400" cy="301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1" name="Google Shape;2561;p127"/>
          <p:cNvSpPr txBox="1"/>
          <p:nvPr/>
        </p:nvSpPr>
        <p:spPr>
          <a:xfrm>
            <a:off x="3725100" y="1188975"/>
            <a:ext cx="107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Inspection approved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562" name="Google Shape;2562;p127"/>
          <p:cNvSpPr/>
          <p:nvPr/>
        </p:nvSpPr>
        <p:spPr>
          <a:xfrm>
            <a:off x="6026325" y="126560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post to unrestricted stock</a:t>
            </a:r>
            <a:endParaRPr sz="900"/>
          </a:p>
        </p:txBody>
      </p:sp>
      <p:sp>
        <p:nvSpPr>
          <p:cNvPr id="2563" name="Google Shape;2563;p127"/>
          <p:cNvSpPr/>
          <p:nvPr/>
        </p:nvSpPr>
        <p:spPr>
          <a:xfrm>
            <a:off x="1659225" y="2905650"/>
            <a:ext cx="703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VL31N</a:t>
            </a:r>
            <a:endParaRPr sz="1000"/>
          </a:p>
        </p:txBody>
      </p:sp>
      <p:sp>
        <p:nvSpPr>
          <p:cNvPr id="2564" name="Google Shape;2564;p127"/>
          <p:cNvSpPr/>
          <p:nvPr/>
        </p:nvSpPr>
        <p:spPr>
          <a:xfrm>
            <a:off x="2533050" y="2905650"/>
            <a:ext cx="518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2565" name="Google Shape;2565;p127"/>
          <p:cNvSpPr/>
          <p:nvPr/>
        </p:nvSpPr>
        <p:spPr>
          <a:xfrm>
            <a:off x="3121125" y="2905650"/>
            <a:ext cx="905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MSR_INSPWH</a:t>
            </a:r>
            <a:endParaRPr sz="1000"/>
          </a:p>
        </p:txBody>
      </p:sp>
      <p:sp>
        <p:nvSpPr>
          <p:cNvPr id="2566" name="Google Shape;2566;p127"/>
          <p:cNvSpPr/>
          <p:nvPr/>
        </p:nvSpPr>
        <p:spPr>
          <a:xfrm>
            <a:off x="4519725" y="1063100"/>
            <a:ext cx="15066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MSR_INSPWH</a:t>
            </a:r>
            <a:endParaRPr sz="1000"/>
          </a:p>
        </p:txBody>
      </p:sp>
      <p:sp>
        <p:nvSpPr>
          <p:cNvPr id="2567" name="Google Shape;2567;p127"/>
          <p:cNvSpPr/>
          <p:nvPr/>
        </p:nvSpPr>
        <p:spPr>
          <a:xfrm>
            <a:off x="4403000" y="294797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Execute follow up activities</a:t>
            </a:r>
            <a:endParaRPr sz="900"/>
          </a:p>
        </p:txBody>
      </p:sp>
      <p:sp>
        <p:nvSpPr>
          <p:cNvPr id="2568" name="Google Shape;2568;p127"/>
          <p:cNvSpPr/>
          <p:nvPr/>
        </p:nvSpPr>
        <p:spPr>
          <a:xfrm>
            <a:off x="4454150" y="3591450"/>
            <a:ext cx="1631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MSR_INSPWH</a:t>
            </a:r>
            <a:endParaRPr sz="1000"/>
          </a:p>
        </p:txBody>
      </p:sp>
      <p:sp>
        <p:nvSpPr>
          <p:cNvPr id="2569" name="Google Shape;2569;p127"/>
          <p:cNvSpPr/>
          <p:nvPr/>
        </p:nvSpPr>
        <p:spPr>
          <a:xfrm>
            <a:off x="5998300" y="294797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</a:t>
            </a:r>
            <a:r>
              <a:rPr lang="en" sz="900"/>
              <a:t>: manage blocked stock</a:t>
            </a:r>
            <a:endParaRPr sz="900"/>
          </a:p>
        </p:txBody>
      </p:sp>
      <p:sp>
        <p:nvSpPr>
          <p:cNvPr id="2570" name="Google Shape;2570;p127"/>
          <p:cNvSpPr/>
          <p:nvPr/>
        </p:nvSpPr>
        <p:spPr>
          <a:xfrm>
            <a:off x="7311150" y="2132000"/>
            <a:ext cx="6429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</a:t>
            </a:r>
            <a:r>
              <a:rPr lang="en" sz="600">
                <a:solidFill>
                  <a:schemeClr val="dk1"/>
                </a:solidFill>
              </a:rPr>
              <a:t>customer return request closed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571" name="Google Shape;2571;p127"/>
          <p:cNvSpPr/>
          <p:nvPr/>
        </p:nvSpPr>
        <p:spPr>
          <a:xfrm>
            <a:off x="5200650" y="294797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Issue refund</a:t>
            </a:r>
            <a:endParaRPr sz="900"/>
          </a:p>
        </p:txBody>
      </p:sp>
      <p:sp>
        <p:nvSpPr>
          <p:cNvPr id="2572" name="Google Shape;2572;p127"/>
          <p:cNvSpPr/>
          <p:nvPr/>
        </p:nvSpPr>
        <p:spPr>
          <a:xfrm>
            <a:off x="5258600" y="126560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Issue refund</a:t>
            </a:r>
            <a:endParaRPr sz="900"/>
          </a:p>
        </p:txBody>
      </p:sp>
      <p:cxnSp>
        <p:nvCxnSpPr>
          <p:cNvPr id="2573" name="Google Shape;2573;p127"/>
          <p:cNvCxnSpPr>
            <a:stCxn id="2562" idx="3"/>
            <a:endCxn id="2557" idx="0"/>
          </p:cNvCxnSpPr>
          <p:nvPr/>
        </p:nvCxnSpPr>
        <p:spPr>
          <a:xfrm>
            <a:off x="6729525" y="1599500"/>
            <a:ext cx="109500" cy="597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4" name="Google Shape;2574;p127"/>
          <p:cNvCxnSpPr>
            <a:stCxn id="2569" idx="3"/>
            <a:endCxn id="2557" idx="2"/>
          </p:cNvCxnSpPr>
          <p:nvPr/>
        </p:nvCxnSpPr>
        <p:spPr>
          <a:xfrm flipH="1" rot="10800000">
            <a:off x="6701500" y="2865175"/>
            <a:ext cx="137700" cy="416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5" name="Google Shape;2575;p127"/>
          <p:cNvCxnSpPr>
            <a:stCxn id="2567" idx="1"/>
            <a:endCxn id="2555" idx="2"/>
          </p:cNvCxnSpPr>
          <p:nvPr/>
        </p:nvCxnSpPr>
        <p:spPr>
          <a:xfrm rot="10800000">
            <a:off x="4295300" y="2905675"/>
            <a:ext cx="107700" cy="376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6" name="Google Shape;2576;p127"/>
          <p:cNvCxnSpPr>
            <a:stCxn id="2557" idx="3"/>
            <a:endCxn id="2570" idx="2"/>
          </p:cNvCxnSpPr>
          <p:nvPr/>
        </p:nvCxnSpPr>
        <p:spPr>
          <a:xfrm>
            <a:off x="7130413" y="2531181"/>
            <a:ext cx="18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7" name="Google Shape;2577;p127"/>
          <p:cNvSpPr txBox="1"/>
          <p:nvPr/>
        </p:nvSpPr>
        <p:spPr>
          <a:xfrm>
            <a:off x="3516150" y="3281900"/>
            <a:ext cx="107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Inspection  not approved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578" name="Google Shape;2578;p12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3" name="Google Shape;2583;p128"/>
          <p:cNvCxnSpPr>
            <a:stCxn id="2584" idx="3"/>
            <a:endCxn id="2585" idx="1"/>
          </p:cNvCxnSpPr>
          <p:nvPr/>
        </p:nvCxnSpPr>
        <p:spPr>
          <a:xfrm>
            <a:off x="2454225" y="1341450"/>
            <a:ext cx="75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6" name="Google Shape;2586;p128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LIMS Integration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2587" name="Google Shape;2587;p128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588" name="Google Shape;2588;p128"/>
          <p:cNvSpPr/>
          <p:nvPr/>
        </p:nvSpPr>
        <p:spPr>
          <a:xfrm>
            <a:off x="60075" y="1675350"/>
            <a:ext cx="604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Inspection lot created and released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589" name="Google Shape;2589;p128"/>
          <p:cNvSpPr/>
          <p:nvPr/>
        </p:nvSpPr>
        <p:spPr>
          <a:xfrm>
            <a:off x="758100" y="2574625"/>
            <a:ext cx="751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Inspection Lot to LIMS</a:t>
            </a:r>
            <a:endParaRPr sz="900"/>
          </a:p>
        </p:txBody>
      </p:sp>
      <p:sp>
        <p:nvSpPr>
          <p:cNvPr id="2590" name="Google Shape;2590;p128"/>
          <p:cNvSpPr/>
          <p:nvPr/>
        </p:nvSpPr>
        <p:spPr>
          <a:xfrm>
            <a:off x="758100" y="1007550"/>
            <a:ext cx="751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Inspection Lot received</a:t>
            </a:r>
            <a:endParaRPr sz="900"/>
          </a:p>
        </p:txBody>
      </p:sp>
      <p:sp>
        <p:nvSpPr>
          <p:cNvPr id="2584" name="Google Shape;2584;p128"/>
          <p:cNvSpPr/>
          <p:nvPr/>
        </p:nvSpPr>
        <p:spPr>
          <a:xfrm>
            <a:off x="1638225" y="1007550"/>
            <a:ext cx="816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LIMS Sample is Processed </a:t>
            </a:r>
            <a:endParaRPr sz="900"/>
          </a:p>
        </p:txBody>
      </p:sp>
      <p:sp>
        <p:nvSpPr>
          <p:cNvPr id="2591" name="Google Shape;2591;p128"/>
          <p:cNvSpPr/>
          <p:nvPr/>
        </p:nvSpPr>
        <p:spPr>
          <a:xfrm>
            <a:off x="2529950" y="1007525"/>
            <a:ext cx="604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Equipment Integration</a:t>
            </a:r>
            <a:endParaRPr sz="900"/>
          </a:p>
        </p:txBody>
      </p:sp>
      <p:sp>
        <p:nvSpPr>
          <p:cNvPr id="2585" name="Google Shape;2585;p128"/>
          <p:cNvSpPr/>
          <p:nvPr/>
        </p:nvSpPr>
        <p:spPr>
          <a:xfrm>
            <a:off x="3210187" y="1007525"/>
            <a:ext cx="7074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LIMS results recording</a:t>
            </a:r>
            <a:endParaRPr sz="900"/>
          </a:p>
        </p:txBody>
      </p:sp>
      <p:sp>
        <p:nvSpPr>
          <p:cNvPr id="2592" name="Google Shape;2592;p128"/>
          <p:cNvSpPr/>
          <p:nvPr/>
        </p:nvSpPr>
        <p:spPr>
          <a:xfrm>
            <a:off x="4599162" y="1007550"/>
            <a:ext cx="7074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results recording to SAP</a:t>
            </a:r>
            <a:endParaRPr sz="900"/>
          </a:p>
        </p:txBody>
      </p:sp>
      <p:sp>
        <p:nvSpPr>
          <p:cNvPr id="2593" name="Google Shape;2593;p128"/>
          <p:cNvSpPr/>
          <p:nvPr/>
        </p:nvSpPr>
        <p:spPr>
          <a:xfrm>
            <a:off x="4544850" y="1990675"/>
            <a:ext cx="816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results recording received</a:t>
            </a:r>
            <a:endParaRPr sz="900"/>
          </a:p>
        </p:txBody>
      </p:sp>
      <p:sp>
        <p:nvSpPr>
          <p:cNvPr id="2594" name="Google Shape;2594;p128"/>
          <p:cNvSpPr/>
          <p:nvPr/>
        </p:nvSpPr>
        <p:spPr>
          <a:xfrm>
            <a:off x="5440862" y="1007525"/>
            <a:ext cx="816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Sample Authorization QC Decision Done</a:t>
            </a:r>
            <a:endParaRPr sz="900"/>
          </a:p>
        </p:txBody>
      </p:sp>
      <p:sp>
        <p:nvSpPr>
          <p:cNvPr id="2595" name="Google Shape;2595;p128"/>
          <p:cNvSpPr/>
          <p:nvPr/>
        </p:nvSpPr>
        <p:spPr>
          <a:xfrm>
            <a:off x="6736600" y="1007550"/>
            <a:ext cx="816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UD to SAP</a:t>
            </a:r>
            <a:endParaRPr sz="900"/>
          </a:p>
        </p:txBody>
      </p:sp>
      <p:sp>
        <p:nvSpPr>
          <p:cNvPr id="2596" name="Google Shape;2596;p128"/>
          <p:cNvSpPr/>
          <p:nvPr/>
        </p:nvSpPr>
        <p:spPr>
          <a:xfrm>
            <a:off x="6736600" y="2473650"/>
            <a:ext cx="816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 UD received</a:t>
            </a:r>
            <a:endParaRPr sz="900"/>
          </a:p>
        </p:txBody>
      </p:sp>
      <p:sp>
        <p:nvSpPr>
          <p:cNvPr id="2597" name="Google Shape;2597;p128"/>
          <p:cNvSpPr/>
          <p:nvPr/>
        </p:nvSpPr>
        <p:spPr>
          <a:xfrm>
            <a:off x="7967325" y="3141450"/>
            <a:ext cx="7074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Second Approval in SAP</a:t>
            </a:r>
            <a:endParaRPr sz="900"/>
          </a:p>
        </p:txBody>
      </p:sp>
      <p:sp>
        <p:nvSpPr>
          <p:cNvPr id="2598" name="Google Shape;2598;p128"/>
          <p:cNvSpPr/>
          <p:nvPr/>
        </p:nvSpPr>
        <p:spPr>
          <a:xfrm>
            <a:off x="7606301" y="247364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128"/>
          <p:cNvSpPr/>
          <p:nvPr/>
        </p:nvSpPr>
        <p:spPr>
          <a:xfrm rot="2859826">
            <a:off x="7712751" y="2626829"/>
            <a:ext cx="369721" cy="361447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128"/>
          <p:cNvSpPr txBox="1"/>
          <p:nvPr/>
        </p:nvSpPr>
        <p:spPr>
          <a:xfrm>
            <a:off x="7995900" y="2510400"/>
            <a:ext cx="816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1 step UD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601" name="Google Shape;2601;p128"/>
          <p:cNvSpPr txBox="1"/>
          <p:nvPr/>
        </p:nvSpPr>
        <p:spPr>
          <a:xfrm>
            <a:off x="7224225" y="3242550"/>
            <a:ext cx="816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2</a:t>
            </a:r>
            <a:r>
              <a:rPr lang="en" sz="900">
                <a:solidFill>
                  <a:schemeClr val="dk2"/>
                </a:solidFill>
              </a:rPr>
              <a:t> step UD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602" name="Google Shape;2602;p128"/>
          <p:cNvSpPr/>
          <p:nvPr/>
        </p:nvSpPr>
        <p:spPr>
          <a:xfrm>
            <a:off x="8570550" y="1675350"/>
            <a:ext cx="604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</a:t>
            </a:r>
            <a:r>
              <a:rPr lang="en" sz="600">
                <a:solidFill>
                  <a:schemeClr val="dk1"/>
                </a:solidFill>
              </a:rPr>
              <a:t>: Usage Decision made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603" name="Google Shape;2603;p128"/>
          <p:cNvSpPr/>
          <p:nvPr/>
        </p:nvSpPr>
        <p:spPr>
          <a:xfrm>
            <a:off x="8520601" y="257461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128"/>
          <p:cNvSpPr/>
          <p:nvPr/>
        </p:nvSpPr>
        <p:spPr>
          <a:xfrm rot="2859826">
            <a:off x="8627051" y="2727804"/>
            <a:ext cx="369721" cy="361447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5" name="Google Shape;2605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539" y="3689948"/>
            <a:ext cx="4338462" cy="132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6" name="Google Shape;2606;p128"/>
          <p:cNvCxnSpPr>
            <a:stCxn id="2588" idx="4"/>
            <a:endCxn id="2589" idx="1"/>
          </p:cNvCxnSpPr>
          <p:nvPr/>
        </p:nvCxnSpPr>
        <p:spPr>
          <a:xfrm flipH="1" rot="-5400000">
            <a:off x="342675" y="2493300"/>
            <a:ext cx="435000" cy="395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7" name="Google Shape;2607;p128"/>
          <p:cNvCxnSpPr>
            <a:stCxn id="2589" idx="0"/>
            <a:endCxn id="2590" idx="2"/>
          </p:cNvCxnSpPr>
          <p:nvPr/>
        </p:nvCxnSpPr>
        <p:spPr>
          <a:xfrm rot="10800000">
            <a:off x="1134000" y="1675225"/>
            <a:ext cx="0" cy="89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8" name="Google Shape;2608;p128"/>
          <p:cNvCxnSpPr>
            <a:stCxn id="2590" idx="3"/>
            <a:endCxn id="2584" idx="1"/>
          </p:cNvCxnSpPr>
          <p:nvPr/>
        </p:nvCxnSpPr>
        <p:spPr>
          <a:xfrm>
            <a:off x="1509900" y="1341450"/>
            <a:ext cx="12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9" name="Google Shape;2609;p128"/>
          <p:cNvCxnSpPr>
            <a:stCxn id="2585" idx="3"/>
            <a:endCxn id="2592" idx="1"/>
          </p:cNvCxnSpPr>
          <p:nvPr/>
        </p:nvCxnSpPr>
        <p:spPr>
          <a:xfrm>
            <a:off x="3917587" y="1341425"/>
            <a:ext cx="68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0" name="Google Shape;2610;p128"/>
          <p:cNvCxnSpPr>
            <a:stCxn id="2592" idx="3"/>
            <a:endCxn id="2594" idx="1"/>
          </p:cNvCxnSpPr>
          <p:nvPr/>
        </p:nvCxnSpPr>
        <p:spPr>
          <a:xfrm>
            <a:off x="5306562" y="1341450"/>
            <a:ext cx="13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1" name="Google Shape;2611;p128"/>
          <p:cNvCxnSpPr>
            <a:stCxn id="2594" idx="3"/>
            <a:endCxn id="2595" idx="1"/>
          </p:cNvCxnSpPr>
          <p:nvPr/>
        </p:nvCxnSpPr>
        <p:spPr>
          <a:xfrm>
            <a:off x="6256862" y="1341425"/>
            <a:ext cx="47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2" name="Google Shape;2612;p128"/>
          <p:cNvCxnSpPr>
            <a:stCxn id="2595" idx="2"/>
            <a:endCxn id="2596" idx="0"/>
          </p:cNvCxnSpPr>
          <p:nvPr/>
        </p:nvCxnSpPr>
        <p:spPr>
          <a:xfrm>
            <a:off x="7144600" y="1675350"/>
            <a:ext cx="0" cy="79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3" name="Google Shape;2613;p128"/>
          <p:cNvCxnSpPr>
            <a:stCxn id="2592" idx="2"/>
            <a:endCxn id="2593" idx="0"/>
          </p:cNvCxnSpPr>
          <p:nvPr/>
        </p:nvCxnSpPr>
        <p:spPr>
          <a:xfrm>
            <a:off x="4952862" y="1675350"/>
            <a:ext cx="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4" name="Google Shape;2614;p128"/>
          <p:cNvCxnSpPr>
            <a:stCxn id="2596" idx="3"/>
            <a:endCxn id="2598" idx="1"/>
          </p:cNvCxnSpPr>
          <p:nvPr/>
        </p:nvCxnSpPr>
        <p:spPr>
          <a:xfrm>
            <a:off x="7552600" y="2807550"/>
            <a:ext cx="5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5" name="Google Shape;2615;p128"/>
          <p:cNvCxnSpPr>
            <a:stCxn id="2598" idx="2"/>
            <a:endCxn id="2597" idx="1"/>
          </p:cNvCxnSpPr>
          <p:nvPr/>
        </p:nvCxnSpPr>
        <p:spPr>
          <a:xfrm flipH="1" rot="-5400000">
            <a:off x="7765451" y="3273593"/>
            <a:ext cx="333900" cy="69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6" name="Google Shape;2616;p128"/>
          <p:cNvCxnSpPr>
            <a:stCxn id="2597" idx="3"/>
            <a:endCxn id="2603" idx="2"/>
          </p:cNvCxnSpPr>
          <p:nvPr/>
        </p:nvCxnSpPr>
        <p:spPr>
          <a:xfrm flipH="1" rot="10800000">
            <a:off x="8674725" y="3242550"/>
            <a:ext cx="137100" cy="232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7" name="Google Shape;2617;p128"/>
          <p:cNvCxnSpPr>
            <a:stCxn id="2603" idx="0"/>
            <a:endCxn id="2602" idx="2"/>
          </p:cNvCxnSpPr>
          <p:nvPr/>
        </p:nvCxnSpPr>
        <p:spPr>
          <a:xfrm flipH="1" rot="5400000">
            <a:off x="8441101" y="2203818"/>
            <a:ext cx="500100" cy="241500"/>
          </a:xfrm>
          <a:prstGeom prst="bentConnector4">
            <a:avLst>
              <a:gd fmla="val 10095" name="adj1"/>
              <a:gd fmla="val 19854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8" name="Google Shape;2618;p128"/>
          <p:cNvCxnSpPr>
            <a:endCxn id="2603" idx="1"/>
          </p:cNvCxnSpPr>
          <p:nvPr/>
        </p:nvCxnSpPr>
        <p:spPr>
          <a:xfrm>
            <a:off x="8187001" y="2823318"/>
            <a:ext cx="333600" cy="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9" name="Google Shape;2619;p128"/>
          <p:cNvSpPr/>
          <p:nvPr/>
        </p:nvSpPr>
        <p:spPr>
          <a:xfrm>
            <a:off x="4022638" y="1091398"/>
            <a:ext cx="395700" cy="500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128"/>
          <p:cNvSpPr/>
          <p:nvPr/>
        </p:nvSpPr>
        <p:spPr>
          <a:xfrm rot="-258884">
            <a:off x="4094954" y="1206167"/>
            <a:ext cx="251212" cy="270522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128"/>
          <p:cNvSpPr/>
          <p:nvPr/>
        </p:nvSpPr>
        <p:spPr>
          <a:xfrm>
            <a:off x="6298863" y="1091398"/>
            <a:ext cx="395700" cy="500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128"/>
          <p:cNvSpPr/>
          <p:nvPr/>
        </p:nvSpPr>
        <p:spPr>
          <a:xfrm rot="-258884">
            <a:off x="6371179" y="1206167"/>
            <a:ext cx="251212" cy="270522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3" name="Google Shape;2623;p128"/>
          <p:cNvCxnSpPr>
            <a:stCxn id="2593" idx="3"/>
            <a:endCxn id="2621" idx="2"/>
          </p:cNvCxnSpPr>
          <p:nvPr/>
        </p:nvCxnSpPr>
        <p:spPr>
          <a:xfrm flipH="1" rot="10800000">
            <a:off x="5360850" y="1591375"/>
            <a:ext cx="1135800" cy="733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4" name="Google Shape;2624;p128"/>
          <p:cNvSpPr/>
          <p:nvPr/>
        </p:nvSpPr>
        <p:spPr>
          <a:xfrm>
            <a:off x="8051675" y="3809250"/>
            <a:ext cx="6045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QA11</a:t>
            </a:r>
            <a:endParaRPr sz="1000"/>
          </a:p>
        </p:txBody>
      </p:sp>
      <p:sp>
        <p:nvSpPr>
          <p:cNvPr id="2625" name="Google Shape;2625;p128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626" name="Google Shape;2626;p128"/>
          <p:cNvSpPr/>
          <p:nvPr/>
        </p:nvSpPr>
        <p:spPr>
          <a:xfrm>
            <a:off x="6426050" y="4225250"/>
            <a:ext cx="2727600" cy="899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last 2 flows not yet in celonis because not confirmed yet + update flow based on celonis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129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M-130-040: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Results Recording After Production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632" name="Google Shape;2632;p129"/>
          <p:cNvSpPr/>
          <p:nvPr/>
        </p:nvSpPr>
        <p:spPr>
          <a:xfrm>
            <a:off x="39275" y="22573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record results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633" name="Google Shape;2633;p129"/>
          <p:cNvSpPr/>
          <p:nvPr/>
        </p:nvSpPr>
        <p:spPr>
          <a:xfrm>
            <a:off x="8139875" y="22867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results recorded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634" name="Google Shape;2634;p129"/>
          <p:cNvCxnSpPr>
            <a:stCxn id="2632" idx="6"/>
            <a:endCxn id="2635" idx="1"/>
          </p:cNvCxnSpPr>
          <p:nvPr/>
        </p:nvCxnSpPr>
        <p:spPr>
          <a:xfrm>
            <a:off x="855275" y="2656500"/>
            <a:ext cx="11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6" name="Google Shape;2636;p129"/>
          <p:cNvSpPr/>
          <p:nvPr/>
        </p:nvSpPr>
        <p:spPr>
          <a:xfrm>
            <a:off x="3066125" y="2302650"/>
            <a:ext cx="1018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</a:t>
            </a:r>
            <a:r>
              <a:rPr lang="en" sz="900"/>
              <a:t>: perform test and measure characteristics</a:t>
            </a:r>
            <a:endParaRPr sz="900"/>
          </a:p>
        </p:txBody>
      </p:sp>
      <p:sp>
        <p:nvSpPr>
          <p:cNvPr id="2637" name="Google Shape;2637;p129"/>
          <p:cNvSpPr/>
          <p:nvPr/>
        </p:nvSpPr>
        <p:spPr>
          <a:xfrm>
            <a:off x="1491724" y="14852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Inspection lot</a:t>
            </a:r>
            <a:endParaRPr sz="900"/>
          </a:p>
        </p:txBody>
      </p:sp>
      <p:cxnSp>
        <p:nvCxnSpPr>
          <p:cNvPr id="2638" name="Google Shape;2638;p129"/>
          <p:cNvCxnSpPr>
            <a:stCxn id="2639" idx="3"/>
            <a:endCxn id="2636" idx="1"/>
          </p:cNvCxnSpPr>
          <p:nvPr/>
        </p:nvCxnSpPr>
        <p:spPr>
          <a:xfrm>
            <a:off x="2939813" y="2629206"/>
            <a:ext cx="126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0" name="Google Shape;2640;p129"/>
          <p:cNvSpPr/>
          <p:nvPr/>
        </p:nvSpPr>
        <p:spPr>
          <a:xfrm>
            <a:off x="4954512" y="1634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results in sap</a:t>
            </a:r>
            <a:endParaRPr sz="900"/>
          </a:p>
        </p:txBody>
      </p:sp>
      <p:sp>
        <p:nvSpPr>
          <p:cNvPr id="2641" name="Google Shape;2641;p129"/>
          <p:cNvSpPr/>
          <p:nvPr/>
        </p:nvSpPr>
        <p:spPr>
          <a:xfrm>
            <a:off x="1540775" y="978975"/>
            <a:ext cx="43143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2642" name="Google Shape;2642;p129"/>
          <p:cNvSpPr/>
          <p:nvPr/>
        </p:nvSpPr>
        <p:spPr>
          <a:xfrm>
            <a:off x="1491724" y="32602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point or physical sample</a:t>
            </a:r>
            <a:endParaRPr sz="900"/>
          </a:p>
        </p:txBody>
      </p:sp>
      <p:sp>
        <p:nvSpPr>
          <p:cNvPr id="2643" name="Google Shape;2643;p129"/>
          <p:cNvSpPr/>
          <p:nvPr/>
        </p:nvSpPr>
        <p:spPr>
          <a:xfrm>
            <a:off x="4517377" y="326022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results in LIMS</a:t>
            </a:r>
            <a:endParaRPr sz="900"/>
          </a:p>
        </p:txBody>
      </p:sp>
      <p:sp>
        <p:nvSpPr>
          <p:cNvPr id="2644" name="Google Shape;2644;p129"/>
          <p:cNvSpPr/>
          <p:nvPr/>
        </p:nvSpPr>
        <p:spPr>
          <a:xfrm>
            <a:off x="5727212" y="32602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Interface: transfer results from LIMS to SAP</a:t>
            </a:r>
            <a:endParaRPr sz="900"/>
          </a:p>
        </p:txBody>
      </p:sp>
      <p:sp>
        <p:nvSpPr>
          <p:cNvPr id="2645" name="Google Shape;2645;p129"/>
          <p:cNvSpPr/>
          <p:nvPr/>
        </p:nvSpPr>
        <p:spPr>
          <a:xfrm>
            <a:off x="6950287" y="238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complete inspection lot(UD)</a:t>
            </a:r>
            <a:endParaRPr sz="900"/>
          </a:p>
        </p:txBody>
      </p:sp>
      <p:sp>
        <p:nvSpPr>
          <p:cNvPr id="2635" name="Google Shape;2635;p129"/>
          <p:cNvSpPr/>
          <p:nvPr/>
        </p:nvSpPr>
        <p:spPr>
          <a:xfrm>
            <a:off x="973863" y="23226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129"/>
          <p:cNvSpPr/>
          <p:nvPr/>
        </p:nvSpPr>
        <p:spPr>
          <a:xfrm>
            <a:off x="1080375" y="2475750"/>
            <a:ext cx="369600" cy="361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129"/>
          <p:cNvSpPr/>
          <p:nvPr/>
        </p:nvSpPr>
        <p:spPr>
          <a:xfrm>
            <a:off x="2357213" y="22953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129"/>
          <p:cNvSpPr/>
          <p:nvPr/>
        </p:nvSpPr>
        <p:spPr>
          <a:xfrm>
            <a:off x="2463725" y="2463150"/>
            <a:ext cx="369600" cy="361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8" name="Google Shape;2648;p129"/>
          <p:cNvCxnSpPr>
            <a:stCxn id="2635" idx="0"/>
            <a:endCxn id="2637" idx="1"/>
          </p:cNvCxnSpPr>
          <p:nvPr/>
        </p:nvCxnSpPr>
        <p:spPr>
          <a:xfrm rot="-5400000">
            <a:off x="1126713" y="1957656"/>
            <a:ext cx="503400" cy="226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9" name="Google Shape;2649;p129"/>
          <p:cNvCxnSpPr>
            <a:stCxn id="2637" idx="3"/>
            <a:endCxn id="2639" idx="0"/>
          </p:cNvCxnSpPr>
          <p:nvPr/>
        </p:nvCxnSpPr>
        <p:spPr>
          <a:xfrm>
            <a:off x="2558224" y="1819175"/>
            <a:ext cx="90300" cy="47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0" name="Google Shape;2650;p129"/>
          <p:cNvCxnSpPr>
            <a:stCxn id="2635" idx="2"/>
            <a:endCxn id="2642" idx="1"/>
          </p:cNvCxnSpPr>
          <p:nvPr/>
        </p:nvCxnSpPr>
        <p:spPr>
          <a:xfrm flipH="1" rot="-5400000">
            <a:off x="1076613" y="3178956"/>
            <a:ext cx="603600" cy="226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1" name="Google Shape;2651;p129"/>
          <p:cNvCxnSpPr>
            <a:stCxn id="2642" idx="3"/>
            <a:endCxn id="2639" idx="2"/>
          </p:cNvCxnSpPr>
          <p:nvPr/>
        </p:nvCxnSpPr>
        <p:spPr>
          <a:xfrm flipH="1" rot="10800000">
            <a:off x="2558224" y="2963225"/>
            <a:ext cx="90300" cy="63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2" name="Google Shape;2652;p129"/>
          <p:cNvCxnSpPr>
            <a:stCxn id="2643" idx="3"/>
            <a:endCxn id="2644" idx="1"/>
          </p:cNvCxnSpPr>
          <p:nvPr/>
        </p:nvCxnSpPr>
        <p:spPr>
          <a:xfrm>
            <a:off x="5394877" y="3594125"/>
            <a:ext cx="33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3" name="Google Shape;2653;p12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13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</a:t>
            </a:r>
            <a:r>
              <a:rPr lang="en" sz="1779"/>
              <a:t>-130-050: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Create Inspection Lot from Production Goods Receipt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Quality Planner</a:t>
            </a:r>
            <a:endParaRPr sz="1520"/>
          </a:p>
        </p:txBody>
      </p:sp>
      <p:sp>
        <p:nvSpPr>
          <p:cNvPr id="2659" name="Google Shape;2659;p130"/>
          <p:cNvSpPr/>
          <p:nvPr/>
        </p:nvSpPr>
        <p:spPr>
          <a:xfrm>
            <a:off x="437488" y="26474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create inspection lot from production goods receipt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660" name="Google Shape;2660;p130"/>
          <p:cNvSpPr/>
          <p:nvPr/>
        </p:nvSpPr>
        <p:spPr>
          <a:xfrm>
            <a:off x="8219113" y="267680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inspection lot from production goods receipt created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661" name="Google Shape;2661;p130"/>
          <p:cNvCxnSpPr>
            <a:stCxn id="2659" idx="6"/>
            <a:endCxn id="2662" idx="1"/>
          </p:cNvCxnSpPr>
          <p:nvPr/>
        </p:nvCxnSpPr>
        <p:spPr>
          <a:xfrm>
            <a:off x="1253488" y="3046600"/>
            <a:ext cx="86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2" name="Google Shape;2662;p130"/>
          <p:cNvSpPr/>
          <p:nvPr/>
        </p:nvSpPr>
        <p:spPr>
          <a:xfrm>
            <a:off x="2116187" y="2712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>
                <a:solidFill>
                  <a:schemeClr val="dk1"/>
                </a:solidFill>
              </a:rPr>
              <a:t>create inspection lot from production goods receipt</a:t>
            </a:r>
            <a:endParaRPr sz="900"/>
          </a:p>
        </p:txBody>
      </p:sp>
      <p:cxnSp>
        <p:nvCxnSpPr>
          <p:cNvPr id="2663" name="Google Shape;2663;p130"/>
          <p:cNvCxnSpPr>
            <a:stCxn id="2662" idx="3"/>
            <a:endCxn id="2664" idx="1"/>
          </p:cNvCxnSpPr>
          <p:nvPr/>
        </p:nvCxnSpPr>
        <p:spPr>
          <a:xfrm>
            <a:off x="3182687" y="3046600"/>
            <a:ext cx="1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4" name="Google Shape;2664;p130"/>
          <p:cNvSpPr/>
          <p:nvPr/>
        </p:nvSpPr>
        <p:spPr>
          <a:xfrm>
            <a:off x="3375637" y="2712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>
                <a:solidFill>
                  <a:schemeClr val="dk1"/>
                </a:solidFill>
              </a:rPr>
              <a:t>release inspection lot</a:t>
            </a:r>
            <a:endParaRPr sz="900"/>
          </a:p>
        </p:txBody>
      </p:sp>
      <p:cxnSp>
        <p:nvCxnSpPr>
          <p:cNvPr id="2665" name="Google Shape;2665;p130"/>
          <p:cNvCxnSpPr>
            <a:stCxn id="2664" idx="3"/>
            <a:endCxn id="2660" idx="2"/>
          </p:cNvCxnSpPr>
          <p:nvPr/>
        </p:nvCxnSpPr>
        <p:spPr>
          <a:xfrm>
            <a:off x="4442137" y="3046600"/>
            <a:ext cx="377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6" name="Google Shape;2666;p130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667" name="Google Shape;2667;p130"/>
          <p:cNvSpPr/>
          <p:nvPr/>
        </p:nvSpPr>
        <p:spPr>
          <a:xfrm>
            <a:off x="2417575" y="3484125"/>
            <a:ext cx="19101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2668" name="Google Shape;2668;p130"/>
          <p:cNvSpPr/>
          <p:nvPr/>
        </p:nvSpPr>
        <p:spPr>
          <a:xfrm>
            <a:off x="1354288" y="27127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130"/>
          <p:cNvSpPr/>
          <p:nvPr/>
        </p:nvSpPr>
        <p:spPr>
          <a:xfrm>
            <a:off x="1460664" y="28467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130"/>
          <p:cNvSpPr/>
          <p:nvPr/>
        </p:nvSpPr>
        <p:spPr>
          <a:xfrm>
            <a:off x="4510788" y="27127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130"/>
          <p:cNvSpPr/>
          <p:nvPr/>
        </p:nvSpPr>
        <p:spPr>
          <a:xfrm>
            <a:off x="4617164" y="28467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130"/>
          <p:cNvSpPr/>
          <p:nvPr/>
        </p:nvSpPr>
        <p:spPr>
          <a:xfrm>
            <a:off x="5211876" y="271268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130"/>
          <p:cNvSpPr/>
          <p:nvPr/>
        </p:nvSpPr>
        <p:spPr>
          <a:xfrm>
            <a:off x="5318251" y="284673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130"/>
          <p:cNvSpPr/>
          <p:nvPr/>
        </p:nvSpPr>
        <p:spPr>
          <a:xfrm>
            <a:off x="7364988" y="27126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130"/>
          <p:cNvSpPr/>
          <p:nvPr/>
        </p:nvSpPr>
        <p:spPr>
          <a:xfrm>
            <a:off x="7471364" y="28467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130"/>
          <p:cNvSpPr txBox="1"/>
          <p:nvPr/>
        </p:nvSpPr>
        <p:spPr>
          <a:xfrm>
            <a:off x="1513250" y="3416300"/>
            <a:ext cx="10665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Not created at order release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677" name="Google Shape;2677;p13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p1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7.4 Monitor quality of finished products, raw materials and intermediate products</a:t>
            </a:r>
            <a:endParaRPr/>
          </a:p>
        </p:txBody>
      </p:sp>
      <p:sp>
        <p:nvSpPr>
          <p:cNvPr id="2683" name="Google Shape;2683;p1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7.4.9 Quality Control during product bulk loading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7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Google Shape;2688;p132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M-130-030-Create Inspection Lot from Delivery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2689" name="Google Shape;2689;p132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690" name="Google Shape;2690;p132"/>
          <p:cNvSpPr/>
          <p:nvPr/>
        </p:nvSpPr>
        <p:spPr>
          <a:xfrm>
            <a:off x="437488" y="26474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create inspection lot from delivery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691" name="Google Shape;2691;p132"/>
          <p:cNvCxnSpPr>
            <a:stCxn id="2690" idx="6"/>
            <a:endCxn id="2692" idx="1"/>
          </p:cNvCxnSpPr>
          <p:nvPr/>
        </p:nvCxnSpPr>
        <p:spPr>
          <a:xfrm>
            <a:off x="1253488" y="3046600"/>
            <a:ext cx="19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2" name="Google Shape;2692;p132"/>
          <p:cNvSpPr/>
          <p:nvPr/>
        </p:nvSpPr>
        <p:spPr>
          <a:xfrm>
            <a:off x="1452837" y="2712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>
                <a:solidFill>
                  <a:schemeClr val="dk1"/>
                </a:solidFill>
              </a:rPr>
              <a:t>create inspection lot from delivery (automatic)</a:t>
            </a:r>
            <a:endParaRPr sz="900"/>
          </a:p>
        </p:txBody>
      </p:sp>
      <p:cxnSp>
        <p:nvCxnSpPr>
          <p:cNvPr id="2693" name="Google Shape;2693;p132"/>
          <p:cNvCxnSpPr>
            <a:stCxn id="2692" idx="3"/>
          </p:cNvCxnSpPr>
          <p:nvPr/>
        </p:nvCxnSpPr>
        <p:spPr>
          <a:xfrm>
            <a:off x="2519337" y="3046600"/>
            <a:ext cx="1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4" name="Google Shape;2694;p132"/>
          <p:cNvSpPr/>
          <p:nvPr/>
        </p:nvSpPr>
        <p:spPr>
          <a:xfrm>
            <a:off x="3984463" y="27127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132"/>
          <p:cNvSpPr/>
          <p:nvPr/>
        </p:nvSpPr>
        <p:spPr>
          <a:xfrm>
            <a:off x="4090964" y="28467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132"/>
          <p:cNvSpPr/>
          <p:nvPr/>
        </p:nvSpPr>
        <p:spPr>
          <a:xfrm>
            <a:off x="2718662" y="271270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>
                <a:solidFill>
                  <a:schemeClr val="dk1"/>
                </a:solidFill>
              </a:rPr>
              <a:t>release</a:t>
            </a:r>
            <a:r>
              <a:rPr lang="en" sz="900">
                <a:solidFill>
                  <a:schemeClr val="dk1"/>
                </a:solidFill>
              </a:rPr>
              <a:t> inspection lot from delivery (automatic)</a:t>
            </a:r>
            <a:endParaRPr sz="900"/>
          </a:p>
        </p:txBody>
      </p:sp>
      <p:sp>
        <p:nvSpPr>
          <p:cNvPr id="2697" name="Google Shape;2697;p132"/>
          <p:cNvSpPr/>
          <p:nvPr/>
        </p:nvSpPr>
        <p:spPr>
          <a:xfrm>
            <a:off x="4748387" y="35474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</a:t>
            </a:r>
            <a:r>
              <a:rPr lang="en" sz="900">
                <a:solidFill>
                  <a:schemeClr val="dk1"/>
                </a:solidFill>
              </a:rPr>
              <a:t> share inspection lot with LIMS if appliable</a:t>
            </a:r>
            <a:endParaRPr sz="900"/>
          </a:p>
        </p:txBody>
      </p:sp>
      <p:sp>
        <p:nvSpPr>
          <p:cNvPr id="2698" name="Google Shape;2698;p132"/>
          <p:cNvSpPr/>
          <p:nvPr/>
        </p:nvSpPr>
        <p:spPr>
          <a:xfrm>
            <a:off x="5951587" y="35474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</a:t>
            </a:r>
            <a:r>
              <a:rPr lang="en" sz="900"/>
              <a:t>:</a:t>
            </a:r>
            <a:r>
              <a:rPr lang="en" sz="900">
                <a:solidFill>
                  <a:schemeClr val="dk1"/>
                </a:solidFill>
              </a:rPr>
              <a:t> LIMS received</a:t>
            </a:r>
            <a:endParaRPr sz="900"/>
          </a:p>
        </p:txBody>
      </p:sp>
      <p:sp>
        <p:nvSpPr>
          <p:cNvPr id="2699" name="Google Shape;2699;p132"/>
          <p:cNvSpPr/>
          <p:nvPr/>
        </p:nvSpPr>
        <p:spPr>
          <a:xfrm>
            <a:off x="7098838" y="27127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132"/>
          <p:cNvSpPr/>
          <p:nvPr/>
        </p:nvSpPr>
        <p:spPr>
          <a:xfrm>
            <a:off x="7205339" y="28467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132"/>
          <p:cNvSpPr/>
          <p:nvPr/>
        </p:nvSpPr>
        <p:spPr>
          <a:xfrm>
            <a:off x="7995838" y="26474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inspection lot from delivery created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702" name="Google Shape;2702;p132"/>
          <p:cNvCxnSpPr>
            <a:stCxn id="2694" idx="3"/>
            <a:endCxn id="2699" idx="1"/>
          </p:cNvCxnSpPr>
          <p:nvPr/>
        </p:nvCxnSpPr>
        <p:spPr>
          <a:xfrm>
            <a:off x="4567063" y="3046606"/>
            <a:ext cx="253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3" name="Google Shape;2703;p132"/>
          <p:cNvCxnSpPr>
            <a:stCxn id="2694" idx="2"/>
            <a:endCxn id="2697" idx="1"/>
          </p:cNvCxnSpPr>
          <p:nvPr/>
        </p:nvCxnSpPr>
        <p:spPr>
          <a:xfrm flipH="1" rot="-5400000">
            <a:off x="4261663" y="3394606"/>
            <a:ext cx="500700" cy="472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4" name="Google Shape;2704;p132"/>
          <p:cNvCxnSpPr>
            <a:stCxn id="2698" idx="3"/>
            <a:endCxn id="2699" idx="2"/>
          </p:cNvCxnSpPr>
          <p:nvPr/>
        </p:nvCxnSpPr>
        <p:spPr>
          <a:xfrm flipH="1" rot="10800000">
            <a:off x="7018087" y="3380650"/>
            <a:ext cx="372000" cy="500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5" name="Google Shape;2705;p132"/>
          <p:cNvCxnSpPr>
            <a:stCxn id="2699" idx="3"/>
            <a:endCxn id="2701" idx="2"/>
          </p:cNvCxnSpPr>
          <p:nvPr/>
        </p:nvCxnSpPr>
        <p:spPr>
          <a:xfrm>
            <a:off x="7681438" y="3046606"/>
            <a:ext cx="31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6" name="Google Shape;2706;p132"/>
          <p:cNvCxnSpPr/>
          <p:nvPr/>
        </p:nvCxnSpPr>
        <p:spPr>
          <a:xfrm>
            <a:off x="3785138" y="3046606"/>
            <a:ext cx="31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7" name="Google Shape;2707;p13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p13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Quality Returns for Bulk Products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2713" name="Google Shape;2713;p133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714" name="Google Shape;2714;p133"/>
          <p:cNvSpPr/>
          <p:nvPr/>
        </p:nvSpPr>
        <p:spPr>
          <a:xfrm>
            <a:off x="462500" y="2127675"/>
            <a:ext cx="6429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Receive customer return request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715" name="Google Shape;2715;p133"/>
          <p:cNvSpPr/>
          <p:nvPr/>
        </p:nvSpPr>
        <p:spPr>
          <a:xfrm>
            <a:off x="1290625" y="2903050"/>
            <a:ext cx="518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VA01</a:t>
            </a:r>
            <a:endParaRPr sz="1000"/>
          </a:p>
        </p:txBody>
      </p:sp>
      <p:sp>
        <p:nvSpPr>
          <p:cNvPr id="2716" name="Google Shape;2716;p133"/>
          <p:cNvSpPr/>
          <p:nvPr/>
        </p:nvSpPr>
        <p:spPr>
          <a:xfrm>
            <a:off x="1259500" y="219292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advance return order</a:t>
            </a:r>
            <a:endParaRPr sz="900"/>
          </a:p>
        </p:txBody>
      </p:sp>
      <p:sp>
        <p:nvSpPr>
          <p:cNvPr id="2717" name="Google Shape;2717;p133"/>
          <p:cNvSpPr/>
          <p:nvPr/>
        </p:nvSpPr>
        <p:spPr>
          <a:xfrm>
            <a:off x="2041075" y="218587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return delivery</a:t>
            </a:r>
            <a:endParaRPr sz="900"/>
          </a:p>
        </p:txBody>
      </p:sp>
      <p:sp>
        <p:nvSpPr>
          <p:cNvPr id="2718" name="Google Shape;2718;p133"/>
          <p:cNvSpPr/>
          <p:nvPr/>
        </p:nvSpPr>
        <p:spPr>
          <a:xfrm>
            <a:off x="2822650" y="219292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post goods receipt</a:t>
            </a:r>
            <a:endParaRPr sz="900"/>
          </a:p>
        </p:txBody>
      </p:sp>
      <p:sp>
        <p:nvSpPr>
          <p:cNvPr id="2719" name="Google Shape;2719;p133"/>
          <p:cNvSpPr/>
          <p:nvPr/>
        </p:nvSpPr>
        <p:spPr>
          <a:xfrm>
            <a:off x="3604225" y="219292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perform quality inspection</a:t>
            </a:r>
            <a:endParaRPr sz="900"/>
          </a:p>
        </p:txBody>
      </p:sp>
      <p:sp>
        <p:nvSpPr>
          <p:cNvPr id="2720" name="Google Shape;2720;p133"/>
          <p:cNvSpPr/>
          <p:nvPr/>
        </p:nvSpPr>
        <p:spPr>
          <a:xfrm>
            <a:off x="4385801" y="21929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133"/>
          <p:cNvSpPr/>
          <p:nvPr/>
        </p:nvSpPr>
        <p:spPr>
          <a:xfrm>
            <a:off x="4492176" y="23269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133"/>
          <p:cNvSpPr/>
          <p:nvPr/>
        </p:nvSpPr>
        <p:spPr>
          <a:xfrm>
            <a:off x="6929663" y="21523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133"/>
          <p:cNvSpPr/>
          <p:nvPr/>
        </p:nvSpPr>
        <p:spPr>
          <a:xfrm>
            <a:off x="7036039" y="22864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133"/>
          <p:cNvSpPr/>
          <p:nvPr/>
        </p:nvSpPr>
        <p:spPr>
          <a:xfrm>
            <a:off x="4978500" y="122067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Execute follow up activities</a:t>
            </a:r>
            <a:endParaRPr sz="900"/>
          </a:p>
        </p:txBody>
      </p:sp>
      <p:cxnSp>
        <p:nvCxnSpPr>
          <p:cNvPr id="2725" name="Google Shape;2725;p133"/>
          <p:cNvCxnSpPr>
            <a:stCxn id="2720" idx="0"/>
            <a:endCxn id="2724" idx="1"/>
          </p:cNvCxnSpPr>
          <p:nvPr/>
        </p:nvCxnSpPr>
        <p:spPr>
          <a:xfrm rot="-5400000">
            <a:off x="4508651" y="1722981"/>
            <a:ext cx="638400" cy="301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6" name="Google Shape;2726;p133"/>
          <p:cNvSpPr txBox="1"/>
          <p:nvPr/>
        </p:nvSpPr>
        <p:spPr>
          <a:xfrm>
            <a:off x="4106950" y="1144050"/>
            <a:ext cx="107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Inspection approved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727" name="Google Shape;2727;p133"/>
          <p:cNvSpPr/>
          <p:nvPr/>
        </p:nvSpPr>
        <p:spPr>
          <a:xfrm>
            <a:off x="6408175" y="122067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post to unrestricted stock</a:t>
            </a:r>
            <a:endParaRPr sz="900"/>
          </a:p>
        </p:txBody>
      </p:sp>
      <p:sp>
        <p:nvSpPr>
          <p:cNvPr id="2728" name="Google Shape;2728;p133"/>
          <p:cNvSpPr/>
          <p:nvPr/>
        </p:nvSpPr>
        <p:spPr>
          <a:xfrm>
            <a:off x="2041075" y="2860725"/>
            <a:ext cx="703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VL31N</a:t>
            </a:r>
            <a:endParaRPr sz="1000"/>
          </a:p>
        </p:txBody>
      </p:sp>
      <p:sp>
        <p:nvSpPr>
          <p:cNvPr id="2729" name="Google Shape;2729;p133"/>
          <p:cNvSpPr/>
          <p:nvPr/>
        </p:nvSpPr>
        <p:spPr>
          <a:xfrm>
            <a:off x="2914900" y="2860725"/>
            <a:ext cx="518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migo</a:t>
            </a:r>
            <a:endParaRPr sz="1000"/>
          </a:p>
        </p:txBody>
      </p:sp>
      <p:sp>
        <p:nvSpPr>
          <p:cNvPr id="2730" name="Google Shape;2730;p133"/>
          <p:cNvSpPr/>
          <p:nvPr/>
        </p:nvSpPr>
        <p:spPr>
          <a:xfrm>
            <a:off x="3502975" y="2860725"/>
            <a:ext cx="905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MSR_INSPWH</a:t>
            </a:r>
            <a:endParaRPr sz="1000"/>
          </a:p>
        </p:txBody>
      </p:sp>
      <p:sp>
        <p:nvSpPr>
          <p:cNvPr id="2731" name="Google Shape;2731;p133"/>
          <p:cNvSpPr/>
          <p:nvPr/>
        </p:nvSpPr>
        <p:spPr>
          <a:xfrm>
            <a:off x="4901575" y="1018175"/>
            <a:ext cx="15066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MSR_INSPWH</a:t>
            </a:r>
            <a:endParaRPr sz="1000"/>
          </a:p>
        </p:txBody>
      </p:sp>
      <p:sp>
        <p:nvSpPr>
          <p:cNvPr id="2732" name="Google Shape;2732;p133"/>
          <p:cNvSpPr/>
          <p:nvPr/>
        </p:nvSpPr>
        <p:spPr>
          <a:xfrm>
            <a:off x="4784850" y="290305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Execute follow up activities</a:t>
            </a:r>
            <a:endParaRPr sz="900"/>
          </a:p>
        </p:txBody>
      </p:sp>
      <p:sp>
        <p:nvSpPr>
          <p:cNvPr id="2733" name="Google Shape;2733;p133"/>
          <p:cNvSpPr/>
          <p:nvPr/>
        </p:nvSpPr>
        <p:spPr>
          <a:xfrm>
            <a:off x="4836000" y="3546525"/>
            <a:ext cx="1631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MSR_INSPWH</a:t>
            </a:r>
            <a:endParaRPr sz="1000"/>
          </a:p>
        </p:txBody>
      </p:sp>
      <p:sp>
        <p:nvSpPr>
          <p:cNvPr id="2734" name="Google Shape;2734;p133"/>
          <p:cNvSpPr/>
          <p:nvPr/>
        </p:nvSpPr>
        <p:spPr>
          <a:xfrm>
            <a:off x="6380150" y="290305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manage blocked stock</a:t>
            </a:r>
            <a:endParaRPr sz="900"/>
          </a:p>
        </p:txBody>
      </p:sp>
      <p:sp>
        <p:nvSpPr>
          <p:cNvPr id="2735" name="Google Shape;2735;p133"/>
          <p:cNvSpPr/>
          <p:nvPr/>
        </p:nvSpPr>
        <p:spPr>
          <a:xfrm>
            <a:off x="7693000" y="2087075"/>
            <a:ext cx="6429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End: customer return request closed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736" name="Google Shape;2736;p133"/>
          <p:cNvSpPr/>
          <p:nvPr/>
        </p:nvSpPr>
        <p:spPr>
          <a:xfrm>
            <a:off x="5582500" y="2903050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Issue refund</a:t>
            </a:r>
            <a:endParaRPr sz="900"/>
          </a:p>
        </p:txBody>
      </p:sp>
      <p:sp>
        <p:nvSpPr>
          <p:cNvPr id="2737" name="Google Shape;2737;p133"/>
          <p:cNvSpPr/>
          <p:nvPr/>
        </p:nvSpPr>
        <p:spPr>
          <a:xfrm>
            <a:off x="5640450" y="1220675"/>
            <a:ext cx="703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Issue refund</a:t>
            </a:r>
            <a:endParaRPr sz="900"/>
          </a:p>
        </p:txBody>
      </p:sp>
      <p:cxnSp>
        <p:nvCxnSpPr>
          <p:cNvPr id="2738" name="Google Shape;2738;p133"/>
          <p:cNvCxnSpPr>
            <a:stCxn id="2727" idx="3"/>
            <a:endCxn id="2722" idx="0"/>
          </p:cNvCxnSpPr>
          <p:nvPr/>
        </p:nvCxnSpPr>
        <p:spPr>
          <a:xfrm>
            <a:off x="7111375" y="1554575"/>
            <a:ext cx="109500" cy="597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9" name="Google Shape;2739;p133"/>
          <p:cNvCxnSpPr>
            <a:stCxn id="2734" idx="3"/>
            <a:endCxn id="2722" idx="2"/>
          </p:cNvCxnSpPr>
          <p:nvPr/>
        </p:nvCxnSpPr>
        <p:spPr>
          <a:xfrm flipH="1" rot="10800000">
            <a:off x="7083350" y="2820250"/>
            <a:ext cx="137700" cy="416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0" name="Google Shape;2740;p133"/>
          <p:cNvCxnSpPr>
            <a:stCxn id="2720" idx="2"/>
            <a:endCxn id="2732" idx="1"/>
          </p:cNvCxnSpPr>
          <p:nvPr/>
        </p:nvCxnSpPr>
        <p:spPr>
          <a:xfrm flipH="1" rot="-5400000">
            <a:off x="4542851" y="2994981"/>
            <a:ext cx="376200" cy="107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1" name="Google Shape;2741;p133"/>
          <p:cNvCxnSpPr>
            <a:stCxn id="2722" idx="3"/>
            <a:endCxn id="2735" idx="2"/>
          </p:cNvCxnSpPr>
          <p:nvPr/>
        </p:nvCxnSpPr>
        <p:spPr>
          <a:xfrm>
            <a:off x="7512263" y="2486256"/>
            <a:ext cx="18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2" name="Google Shape;2742;p133"/>
          <p:cNvSpPr txBox="1"/>
          <p:nvPr/>
        </p:nvSpPr>
        <p:spPr>
          <a:xfrm>
            <a:off x="3898000" y="3236975"/>
            <a:ext cx="107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Inspection  not approved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743" name="Google Shape;2743;p13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7" name="Shape 2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8" name="Google Shape;2748;p13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M-130-040-Results Recording In Bulk Loading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2749" name="Google Shape;2749;p134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750" name="Google Shape;2750;p134"/>
          <p:cNvSpPr/>
          <p:nvPr/>
        </p:nvSpPr>
        <p:spPr>
          <a:xfrm>
            <a:off x="39275" y="22573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record results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751" name="Google Shape;2751;p134"/>
          <p:cNvSpPr/>
          <p:nvPr/>
        </p:nvSpPr>
        <p:spPr>
          <a:xfrm>
            <a:off x="8139875" y="2286750"/>
            <a:ext cx="877500" cy="73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results recorded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2752" name="Google Shape;2752;p134"/>
          <p:cNvCxnSpPr>
            <a:stCxn id="2750" idx="6"/>
            <a:endCxn id="2753" idx="1"/>
          </p:cNvCxnSpPr>
          <p:nvPr/>
        </p:nvCxnSpPr>
        <p:spPr>
          <a:xfrm>
            <a:off x="855275" y="2656500"/>
            <a:ext cx="11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4" name="Google Shape;2754;p134"/>
          <p:cNvSpPr/>
          <p:nvPr/>
        </p:nvSpPr>
        <p:spPr>
          <a:xfrm>
            <a:off x="3066125" y="2302650"/>
            <a:ext cx="1018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Placeholder: </a:t>
            </a:r>
            <a:r>
              <a:rPr lang="en" sz="900"/>
              <a:t>perform test and measure characteristics</a:t>
            </a:r>
            <a:endParaRPr sz="900"/>
          </a:p>
        </p:txBody>
      </p:sp>
      <p:sp>
        <p:nvSpPr>
          <p:cNvPr id="2755" name="Google Shape;2755;p134"/>
          <p:cNvSpPr/>
          <p:nvPr/>
        </p:nvSpPr>
        <p:spPr>
          <a:xfrm>
            <a:off x="1491724" y="148527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Inspection lot</a:t>
            </a:r>
            <a:endParaRPr sz="900"/>
          </a:p>
        </p:txBody>
      </p:sp>
      <p:cxnSp>
        <p:nvCxnSpPr>
          <p:cNvPr id="2756" name="Google Shape;2756;p134"/>
          <p:cNvCxnSpPr>
            <a:stCxn id="2757" idx="3"/>
            <a:endCxn id="2754" idx="1"/>
          </p:cNvCxnSpPr>
          <p:nvPr/>
        </p:nvCxnSpPr>
        <p:spPr>
          <a:xfrm>
            <a:off x="2939813" y="2629206"/>
            <a:ext cx="126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8" name="Google Shape;2758;p134"/>
          <p:cNvSpPr/>
          <p:nvPr/>
        </p:nvSpPr>
        <p:spPr>
          <a:xfrm>
            <a:off x="4954512" y="1634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results in sap</a:t>
            </a:r>
            <a:endParaRPr sz="900"/>
          </a:p>
        </p:txBody>
      </p:sp>
      <p:sp>
        <p:nvSpPr>
          <p:cNvPr id="2759" name="Google Shape;2759;p134"/>
          <p:cNvSpPr/>
          <p:nvPr/>
        </p:nvSpPr>
        <p:spPr>
          <a:xfrm>
            <a:off x="1170725" y="1330338"/>
            <a:ext cx="1895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sp>
        <p:nvSpPr>
          <p:cNvPr id="2760" name="Google Shape;2760;p134"/>
          <p:cNvSpPr/>
          <p:nvPr/>
        </p:nvSpPr>
        <p:spPr>
          <a:xfrm>
            <a:off x="1491724" y="3260225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point or physical sample</a:t>
            </a:r>
            <a:endParaRPr sz="900"/>
          </a:p>
        </p:txBody>
      </p:sp>
      <p:sp>
        <p:nvSpPr>
          <p:cNvPr id="2761" name="Google Shape;2761;p134"/>
          <p:cNvSpPr/>
          <p:nvPr/>
        </p:nvSpPr>
        <p:spPr>
          <a:xfrm>
            <a:off x="4577501" y="3260225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record results in LIMS</a:t>
            </a:r>
            <a:endParaRPr sz="900"/>
          </a:p>
        </p:txBody>
      </p:sp>
      <p:sp>
        <p:nvSpPr>
          <p:cNvPr id="2762" name="Google Shape;2762;p134"/>
          <p:cNvSpPr/>
          <p:nvPr/>
        </p:nvSpPr>
        <p:spPr>
          <a:xfrm>
            <a:off x="5236400" y="3260225"/>
            <a:ext cx="685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transfer results from LIMS to SAP</a:t>
            </a:r>
            <a:endParaRPr sz="900"/>
          </a:p>
        </p:txBody>
      </p:sp>
      <p:sp>
        <p:nvSpPr>
          <p:cNvPr id="2763" name="Google Shape;2763;p134"/>
          <p:cNvSpPr/>
          <p:nvPr/>
        </p:nvSpPr>
        <p:spPr>
          <a:xfrm>
            <a:off x="6950287" y="2387850"/>
            <a:ext cx="1066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Interface: complete inspection lot(UD)</a:t>
            </a:r>
            <a:endParaRPr sz="900"/>
          </a:p>
        </p:txBody>
      </p:sp>
      <p:sp>
        <p:nvSpPr>
          <p:cNvPr id="2753" name="Google Shape;2753;p134"/>
          <p:cNvSpPr/>
          <p:nvPr/>
        </p:nvSpPr>
        <p:spPr>
          <a:xfrm>
            <a:off x="973863" y="23226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p134"/>
          <p:cNvSpPr/>
          <p:nvPr/>
        </p:nvSpPr>
        <p:spPr>
          <a:xfrm>
            <a:off x="1080375" y="2475750"/>
            <a:ext cx="369600" cy="361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134"/>
          <p:cNvSpPr/>
          <p:nvPr/>
        </p:nvSpPr>
        <p:spPr>
          <a:xfrm>
            <a:off x="2357213" y="22953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134"/>
          <p:cNvSpPr/>
          <p:nvPr/>
        </p:nvSpPr>
        <p:spPr>
          <a:xfrm>
            <a:off x="2463725" y="2463150"/>
            <a:ext cx="369600" cy="361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66" name="Google Shape;2766;p134"/>
          <p:cNvCxnSpPr>
            <a:stCxn id="2753" idx="0"/>
            <a:endCxn id="2755" idx="1"/>
          </p:cNvCxnSpPr>
          <p:nvPr/>
        </p:nvCxnSpPr>
        <p:spPr>
          <a:xfrm rot="-5400000">
            <a:off x="1126713" y="1957656"/>
            <a:ext cx="503400" cy="226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7" name="Google Shape;2767;p134"/>
          <p:cNvCxnSpPr>
            <a:stCxn id="2755" idx="3"/>
            <a:endCxn id="2757" idx="0"/>
          </p:cNvCxnSpPr>
          <p:nvPr/>
        </p:nvCxnSpPr>
        <p:spPr>
          <a:xfrm>
            <a:off x="2558224" y="1819175"/>
            <a:ext cx="90300" cy="47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8" name="Google Shape;2768;p134"/>
          <p:cNvCxnSpPr>
            <a:stCxn id="2753" idx="2"/>
            <a:endCxn id="2760" idx="1"/>
          </p:cNvCxnSpPr>
          <p:nvPr/>
        </p:nvCxnSpPr>
        <p:spPr>
          <a:xfrm flipH="1" rot="-5400000">
            <a:off x="1076613" y="3178956"/>
            <a:ext cx="603600" cy="226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9" name="Google Shape;2769;p134"/>
          <p:cNvCxnSpPr>
            <a:stCxn id="2760" idx="3"/>
            <a:endCxn id="2757" idx="2"/>
          </p:cNvCxnSpPr>
          <p:nvPr/>
        </p:nvCxnSpPr>
        <p:spPr>
          <a:xfrm flipH="1" rot="10800000">
            <a:off x="2558224" y="2963225"/>
            <a:ext cx="90300" cy="63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0" name="Google Shape;2770;p134"/>
          <p:cNvCxnSpPr>
            <a:stCxn id="2761" idx="3"/>
            <a:endCxn id="2762" idx="1"/>
          </p:cNvCxnSpPr>
          <p:nvPr/>
        </p:nvCxnSpPr>
        <p:spPr>
          <a:xfrm>
            <a:off x="5160101" y="3594125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1" name="Google Shape;2771;p134"/>
          <p:cNvSpPr/>
          <p:nvPr/>
        </p:nvSpPr>
        <p:spPr>
          <a:xfrm>
            <a:off x="5997901" y="3260225"/>
            <a:ext cx="6852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event: message received</a:t>
            </a:r>
            <a:endParaRPr sz="900"/>
          </a:p>
        </p:txBody>
      </p:sp>
      <p:sp>
        <p:nvSpPr>
          <p:cNvPr id="2772" name="Google Shape;2772;p134"/>
          <p:cNvSpPr/>
          <p:nvPr/>
        </p:nvSpPr>
        <p:spPr>
          <a:xfrm>
            <a:off x="4631300" y="1485275"/>
            <a:ext cx="1895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QE51N</a:t>
            </a:r>
            <a:endParaRPr sz="1000"/>
          </a:p>
        </p:txBody>
      </p:sp>
      <p:sp>
        <p:nvSpPr>
          <p:cNvPr id="2773" name="Google Shape;2773;p134"/>
          <p:cNvSpPr/>
          <p:nvPr/>
        </p:nvSpPr>
        <p:spPr>
          <a:xfrm>
            <a:off x="1170725" y="3887550"/>
            <a:ext cx="1895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inspection lots</a:t>
            </a:r>
            <a:endParaRPr sz="1000"/>
          </a:p>
        </p:txBody>
      </p:sp>
      <p:cxnSp>
        <p:nvCxnSpPr>
          <p:cNvPr id="2774" name="Google Shape;2774;p134"/>
          <p:cNvCxnSpPr>
            <a:stCxn id="2775" idx="0"/>
            <a:endCxn id="2758" idx="1"/>
          </p:cNvCxnSpPr>
          <p:nvPr/>
        </p:nvCxnSpPr>
        <p:spPr>
          <a:xfrm rot="-5400000">
            <a:off x="4554063" y="1894956"/>
            <a:ext cx="326700" cy="47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6" name="Google Shape;2776;p134"/>
          <p:cNvCxnSpPr>
            <a:stCxn id="2775" idx="2"/>
            <a:endCxn id="2761" idx="1"/>
          </p:cNvCxnSpPr>
          <p:nvPr/>
        </p:nvCxnSpPr>
        <p:spPr>
          <a:xfrm flipH="1" rot="-5400000">
            <a:off x="4213563" y="3229956"/>
            <a:ext cx="630900" cy="9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7" name="Google Shape;2777;p134"/>
          <p:cNvCxnSpPr>
            <a:stCxn id="2758" idx="3"/>
            <a:endCxn id="2778" idx="0"/>
          </p:cNvCxnSpPr>
          <p:nvPr/>
        </p:nvCxnSpPr>
        <p:spPr>
          <a:xfrm>
            <a:off x="6021012" y="1968750"/>
            <a:ext cx="565800" cy="35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5" name="Google Shape;2775;p134"/>
          <p:cNvSpPr/>
          <p:nvPr/>
        </p:nvSpPr>
        <p:spPr>
          <a:xfrm>
            <a:off x="4189113" y="22953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p134"/>
          <p:cNvSpPr/>
          <p:nvPr/>
        </p:nvSpPr>
        <p:spPr>
          <a:xfrm>
            <a:off x="4295489" y="24293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p134"/>
          <p:cNvSpPr/>
          <p:nvPr/>
        </p:nvSpPr>
        <p:spPr>
          <a:xfrm>
            <a:off x="6295476" y="23226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134"/>
          <p:cNvSpPr/>
          <p:nvPr/>
        </p:nvSpPr>
        <p:spPr>
          <a:xfrm>
            <a:off x="6401851" y="24566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1" name="Google Shape;2781;p134"/>
          <p:cNvCxnSpPr>
            <a:stCxn id="2771" idx="3"/>
            <a:endCxn id="2778" idx="2"/>
          </p:cNvCxnSpPr>
          <p:nvPr/>
        </p:nvCxnSpPr>
        <p:spPr>
          <a:xfrm rot="10800000">
            <a:off x="6586801" y="2990525"/>
            <a:ext cx="96300" cy="603600"/>
          </a:xfrm>
          <a:prstGeom prst="bentConnector4">
            <a:avLst>
              <a:gd fmla="val -247274" name="adj1"/>
              <a:gd fmla="val 7766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2" name="Google Shape;2782;p134"/>
          <p:cNvCxnSpPr>
            <a:stCxn id="2754" idx="3"/>
            <a:endCxn id="2775" idx="1"/>
          </p:cNvCxnSpPr>
          <p:nvPr/>
        </p:nvCxnSpPr>
        <p:spPr>
          <a:xfrm flipH="1" rot="10800000">
            <a:off x="4084625" y="2629350"/>
            <a:ext cx="1044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3" name="Google Shape;2783;p134"/>
          <p:cNvCxnSpPr/>
          <p:nvPr/>
        </p:nvCxnSpPr>
        <p:spPr>
          <a:xfrm flipH="1" rot="10800000">
            <a:off x="6878075" y="2640300"/>
            <a:ext cx="1044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4" name="Google Shape;2784;p134"/>
          <p:cNvSpPr txBox="1"/>
          <p:nvPr/>
        </p:nvSpPr>
        <p:spPr>
          <a:xfrm>
            <a:off x="4147525" y="1529525"/>
            <a:ext cx="4740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LIMS not activated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785" name="Google Shape;2785;p134"/>
          <p:cNvSpPr txBox="1"/>
          <p:nvPr/>
        </p:nvSpPr>
        <p:spPr>
          <a:xfrm>
            <a:off x="4084625" y="3635850"/>
            <a:ext cx="4740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LIMS activated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786" name="Google Shape;2786;p13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0" name="Shape 2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Google Shape;2791;p1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7.5 Manage Plan to Produce Data</a:t>
            </a:r>
            <a:endParaRPr/>
          </a:p>
        </p:txBody>
      </p:sp>
      <p:sp>
        <p:nvSpPr>
          <p:cNvPr id="2792" name="Google Shape;2792;p1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7.5.1 Manage Production Master Data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6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136"/>
          <p:cNvSpPr txBox="1"/>
          <p:nvPr>
            <p:ph type="title"/>
          </p:nvPr>
        </p:nvSpPr>
        <p:spPr>
          <a:xfrm>
            <a:off x="51400" y="-244650"/>
            <a:ext cx="85206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402"/>
              <a:t>M-150-020:</a:t>
            </a:r>
            <a:r>
              <a:rPr lang="en" sz="3112"/>
              <a:t> </a:t>
            </a:r>
            <a:r>
              <a:rPr lang="en" sz="1168">
                <a:solidFill>
                  <a:schemeClr val="dk2"/>
                </a:solidFill>
              </a:rPr>
              <a:t>Process  Class</a:t>
            </a:r>
            <a:endParaRPr sz="116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168"/>
              <a:t>Role = </a:t>
            </a:r>
            <a:r>
              <a:rPr lang="en" sz="1168"/>
              <a:t>BOM Engineer  for everything except the end (last task) which is for the material data specialist - product data. </a:t>
            </a:r>
            <a:endParaRPr sz="116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168"/>
              <a:t>Solvay role: Regional Data Steward</a:t>
            </a:r>
            <a:endParaRPr sz="1168"/>
          </a:p>
        </p:txBody>
      </p:sp>
      <p:sp>
        <p:nvSpPr>
          <p:cNvPr id="2798" name="Google Shape;2798;p136"/>
          <p:cNvSpPr/>
          <p:nvPr/>
        </p:nvSpPr>
        <p:spPr>
          <a:xfrm>
            <a:off x="2448561" y="3405991"/>
            <a:ext cx="897900" cy="56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Characteristic</a:t>
            </a:r>
            <a:endParaRPr sz="900"/>
          </a:p>
        </p:txBody>
      </p:sp>
      <p:cxnSp>
        <p:nvCxnSpPr>
          <p:cNvPr id="2799" name="Google Shape;2799;p136"/>
          <p:cNvCxnSpPr>
            <a:stCxn id="2798" idx="3"/>
            <a:endCxn id="2800" idx="1"/>
          </p:cNvCxnSpPr>
          <p:nvPr/>
        </p:nvCxnSpPr>
        <p:spPr>
          <a:xfrm flipH="1" rot="10800000">
            <a:off x="3346461" y="3688591"/>
            <a:ext cx="501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1" name="Google Shape;2801;p136"/>
          <p:cNvSpPr/>
          <p:nvPr/>
        </p:nvSpPr>
        <p:spPr>
          <a:xfrm>
            <a:off x="0" y="2491275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process class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802" name="Google Shape;2802;p136"/>
          <p:cNvSpPr/>
          <p:nvPr/>
        </p:nvSpPr>
        <p:spPr>
          <a:xfrm>
            <a:off x="8544075" y="2550275"/>
            <a:ext cx="526500" cy="68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END: class processed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803" name="Google Shape;2803;p136"/>
          <p:cNvSpPr/>
          <p:nvPr/>
        </p:nvSpPr>
        <p:spPr>
          <a:xfrm>
            <a:off x="1568394" y="3405903"/>
            <a:ext cx="596100" cy="565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136"/>
          <p:cNvSpPr/>
          <p:nvPr/>
        </p:nvSpPr>
        <p:spPr>
          <a:xfrm>
            <a:off x="2448563" y="4422637"/>
            <a:ext cx="897900" cy="56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Class</a:t>
            </a:r>
            <a:endParaRPr sz="900"/>
          </a:p>
        </p:txBody>
      </p:sp>
      <p:cxnSp>
        <p:nvCxnSpPr>
          <p:cNvPr id="2805" name="Google Shape;2805;p136"/>
          <p:cNvCxnSpPr>
            <a:stCxn id="2803" idx="2"/>
            <a:endCxn id="2804" idx="1"/>
          </p:cNvCxnSpPr>
          <p:nvPr/>
        </p:nvCxnSpPr>
        <p:spPr>
          <a:xfrm flipH="1" rot="-5400000">
            <a:off x="1790544" y="4047603"/>
            <a:ext cx="733800" cy="582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6" name="Google Shape;2806;p136"/>
          <p:cNvCxnSpPr>
            <a:stCxn id="2804" idx="3"/>
            <a:endCxn id="2800" idx="2"/>
          </p:cNvCxnSpPr>
          <p:nvPr/>
        </p:nvCxnSpPr>
        <p:spPr>
          <a:xfrm flipH="1" rot="10800000">
            <a:off x="3346463" y="3971737"/>
            <a:ext cx="799200" cy="733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0" name="Google Shape;2800;p136"/>
          <p:cNvSpPr/>
          <p:nvPr/>
        </p:nvSpPr>
        <p:spPr>
          <a:xfrm>
            <a:off x="3847516" y="3405820"/>
            <a:ext cx="596100" cy="565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p136"/>
          <p:cNvSpPr/>
          <p:nvPr/>
        </p:nvSpPr>
        <p:spPr>
          <a:xfrm>
            <a:off x="2375518" y="3230925"/>
            <a:ext cx="1044000" cy="209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</a:t>
            </a:r>
            <a:r>
              <a:rPr lang="en" sz="1000"/>
              <a:t>characteristics</a:t>
            </a:r>
            <a:endParaRPr sz="1000"/>
          </a:p>
        </p:txBody>
      </p:sp>
      <p:sp>
        <p:nvSpPr>
          <p:cNvPr id="2808" name="Google Shape;2808;p136"/>
          <p:cNvSpPr/>
          <p:nvPr/>
        </p:nvSpPr>
        <p:spPr>
          <a:xfrm>
            <a:off x="2339750" y="41709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</a:t>
            </a:r>
            <a:r>
              <a:rPr lang="en" sz="1000"/>
              <a:t>classes </a:t>
            </a:r>
            <a:endParaRPr sz="1000"/>
          </a:p>
        </p:txBody>
      </p:sp>
      <p:sp>
        <p:nvSpPr>
          <p:cNvPr id="2809" name="Google Shape;2809;p136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810" name="Google Shape;2810;p136"/>
          <p:cNvSpPr/>
          <p:nvPr/>
        </p:nvSpPr>
        <p:spPr>
          <a:xfrm>
            <a:off x="2448536" y="1342816"/>
            <a:ext cx="897900" cy="56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/>
              <a:t>Create </a:t>
            </a:r>
            <a:r>
              <a:rPr lang="en" sz="900"/>
              <a:t>Characteristic</a:t>
            </a:r>
            <a:endParaRPr sz="900"/>
          </a:p>
        </p:txBody>
      </p:sp>
      <p:sp>
        <p:nvSpPr>
          <p:cNvPr id="2811" name="Google Shape;2811;p136"/>
          <p:cNvSpPr/>
          <p:nvPr/>
        </p:nvSpPr>
        <p:spPr>
          <a:xfrm>
            <a:off x="4794906" y="1342671"/>
            <a:ext cx="897900" cy="56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Characteristic to Class</a:t>
            </a:r>
            <a:endParaRPr sz="900"/>
          </a:p>
        </p:txBody>
      </p:sp>
      <p:cxnSp>
        <p:nvCxnSpPr>
          <p:cNvPr id="2812" name="Google Shape;2812;p136"/>
          <p:cNvCxnSpPr>
            <a:stCxn id="2810" idx="3"/>
            <a:endCxn id="2813" idx="1"/>
          </p:cNvCxnSpPr>
          <p:nvPr/>
        </p:nvCxnSpPr>
        <p:spPr>
          <a:xfrm flipH="1" rot="10800000">
            <a:off x="3346436" y="1625416"/>
            <a:ext cx="501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4" name="Google Shape;2814;p136"/>
          <p:cNvCxnSpPr>
            <a:stCxn id="2811" idx="3"/>
            <a:endCxn id="2815" idx="1"/>
          </p:cNvCxnSpPr>
          <p:nvPr/>
        </p:nvCxnSpPr>
        <p:spPr>
          <a:xfrm>
            <a:off x="5692806" y="1625571"/>
            <a:ext cx="45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6" name="Google Shape;2816;p136"/>
          <p:cNvSpPr/>
          <p:nvPr/>
        </p:nvSpPr>
        <p:spPr>
          <a:xfrm>
            <a:off x="1568369" y="1342728"/>
            <a:ext cx="596100" cy="565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7" name="Google Shape;2817;p136"/>
          <p:cNvSpPr/>
          <p:nvPr/>
        </p:nvSpPr>
        <p:spPr>
          <a:xfrm rot="-2565766">
            <a:off x="1684280" y="1449328"/>
            <a:ext cx="364084" cy="353045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8" name="Google Shape;2818;p136"/>
          <p:cNvSpPr/>
          <p:nvPr/>
        </p:nvSpPr>
        <p:spPr>
          <a:xfrm>
            <a:off x="2448538" y="2359462"/>
            <a:ext cx="897900" cy="56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/>
              <a:t>Create </a:t>
            </a:r>
            <a:r>
              <a:rPr lang="en" sz="900"/>
              <a:t>Class</a:t>
            </a:r>
            <a:endParaRPr sz="900"/>
          </a:p>
        </p:txBody>
      </p:sp>
      <p:cxnSp>
        <p:nvCxnSpPr>
          <p:cNvPr id="2819" name="Google Shape;2819;p136"/>
          <p:cNvCxnSpPr>
            <a:stCxn id="2816" idx="2"/>
            <a:endCxn id="2818" idx="1"/>
          </p:cNvCxnSpPr>
          <p:nvPr/>
        </p:nvCxnSpPr>
        <p:spPr>
          <a:xfrm flipH="1" rot="-5400000">
            <a:off x="1790519" y="1984428"/>
            <a:ext cx="733800" cy="582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0" name="Google Shape;2820;p136"/>
          <p:cNvCxnSpPr>
            <a:stCxn id="2818" idx="3"/>
            <a:endCxn id="2813" idx="2"/>
          </p:cNvCxnSpPr>
          <p:nvPr/>
        </p:nvCxnSpPr>
        <p:spPr>
          <a:xfrm flipH="1" rot="10800000">
            <a:off x="3346438" y="1908562"/>
            <a:ext cx="799200" cy="733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3" name="Google Shape;2813;p136"/>
          <p:cNvSpPr/>
          <p:nvPr/>
        </p:nvSpPr>
        <p:spPr>
          <a:xfrm>
            <a:off x="3847491" y="1342645"/>
            <a:ext cx="596100" cy="565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p136"/>
          <p:cNvSpPr/>
          <p:nvPr/>
        </p:nvSpPr>
        <p:spPr>
          <a:xfrm rot="-2565766">
            <a:off x="3963402" y="1449245"/>
            <a:ext cx="364084" cy="353045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2" name="Google Shape;2822;p136"/>
          <p:cNvCxnSpPr>
            <a:stCxn id="2813" idx="3"/>
            <a:endCxn id="2811" idx="1"/>
          </p:cNvCxnSpPr>
          <p:nvPr/>
        </p:nvCxnSpPr>
        <p:spPr>
          <a:xfrm>
            <a:off x="4443591" y="1625545"/>
            <a:ext cx="35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5" name="Google Shape;2815;p136"/>
          <p:cNvSpPr/>
          <p:nvPr/>
        </p:nvSpPr>
        <p:spPr>
          <a:xfrm>
            <a:off x="6145109" y="1342650"/>
            <a:ext cx="897900" cy="56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class to material</a:t>
            </a:r>
            <a:endParaRPr sz="900"/>
          </a:p>
        </p:txBody>
      </p:sp>
      <p:sp>
        <p:nvSpPr>
          <p:cNvPr id="2823" name="Google Shape;2823;p136"/>
          <p:cNvSpPr/>
          <p:nvPr/>
        </p:nvSpPr>
        <p:spPr>
          <a:xfrm>
            <a:off x="2400693" y="1067350"/>
            <a:ext cx="1044000" cy="209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/>
              <a:t>characteristic</a:t>
            </a:r>
            <a:endParaRPr sz="1000"/>
          </a:p>
        </p:txBody>
      </p:sp>
      <p:sp>
        <p:nvSpPr>
          <p:cNvPr id="2824" name="Google Shape;2824;p136"/>
          <p:cNvSpPr/>
          <p:nvPr/>
        </p:nvSpPr>
        <p:spPr>
          <a:xfrm>
            <a:off x="2339750" y="21065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/>
              <a:t>classes</a:t>
            </a:r>
            <a:endParaRPr sz="1000"/>
          </a:p>
        </p:txBody>
      </p:sp>
      <p:sp>
        <p:nvSpPr>
          <p:cNvPr id="2825" name="Google Shape;2825;p136"/>
          <p:cNvSpPr/>
          <p:nvPr/>
        </p:nvSpPr>
        <p:spPr>
          <a:xfrm>
            <a:off x="4721849" y="977181"/>
            <a:ext cx="1044000" cy="209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/>
              <a:t>classes</a:t>
            </a:r>
            <a:endParaRPr sz="1000"/>
          </a:p>
        </p:txBody>
      </p:sp>
      <p:sp>
        <p:nvSpPr>
          <p:cNvPr id="2826" name="Google Shape;2826;p136"/>
          <p:cNvSpPr/>
          <p:nvPr/>
        </p:nvSpPr>
        <p:spPr>
          <a:xfrm>
            <a:off x="6072049" y="1025400"/>
            <a:ext cx="1285800" cy="209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 master data</a:t>
            </a:r>
            <a:endParaRPr sz="1000"/>
          </a:p>
        </p:txBody>
      </p:sp>
      <p:sp>
        <p:nvSpPr>
          <p:cNvPr id="2827" name="Google Shape;2827;p136"/>
          <p:cNvSpPr/>
          <p:nvPr/>
        </p:nvSpPr>
        <p:spPr>
          <a:xfrm>
            <a:off x="924549" y="2549925"/>
            <a:ext cx="5205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8" name="Google Shape;2828;p136"/>
          <p:cNvSpPr/>
          <p:nvPr/>
        </p:nvSpPr>
        <p:spPr>
          <a:xfrm rot="3122">
            <a:off x="1019663" y="2686740"/>
            <a:ext cx="3303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9" name="Google Shape;2829;p136"/>
          <p:cNvCxnSpPr>
            <a:stCxn id="2801" idx="6"/>
            <a:endCxn id="2827" idx="1"/>
          </p:cNvCxnSpPr>
          <p:nvPr/>
        </p:nvCxnSpPr>
        <p:spPr>
          <a:xfrm>
            <a:off x="816000" y="2890425"/>
            <a:ext cx="10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0" name="Google Shape;2830;p136"/>
          <p:cNvCxnSpPr>
            <a:stCxn id="2827" idx="0"/>
            <a:endCxn id="2816" idx="1"/>
          </p:cNvCxnSpPr>
          <p:nvPr/>
        </p:nvCxnSpPr>
        <p:spPr>
          <a:xfrm rot="-5400000">
            <a:off x="914499" y="1895925"/>
            <a:ext cx="924300" cy="383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1" name="Google Shape;2831;p136"/>
          <p:cNvCxnSpPr>
            <a:stCxn id="2827" idx="2"/>
            <a:endCxn id="2803" idx="1"/>
          </p:cNvCxnSpPr>
          <p:nvPr/>
        </p:nvCxnSpPr>
        <p:spPr>
          <a:xfrm flipH="1" rot="-5400000">
            <a:off x="1147749" y="3267975"/>
            <a:ext cx="457800" cy="383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2" name="Google Shape;2832;p136"/>
          <p:cNvCxnSpPr>
            <a:stCxn id="2816" idx="3"/>
            <a:endCxn id="2810" idx="1"/>
          </p:cNvCxnSpPr>
          <p:nvPr/>
        </p:nvCxnSpPr>
        <p:spPr>
          <a:xfrm>
            <a:off x="2164469" y="1625628"/>
            <a:ext cx="28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3" name="Google Shape;2833;p136"/>
          <p:cNvCxnSpPr/>
          <p:nvPr/>
        </p:nvCxnSpPr>
        <p:spPr>
          <a:xfrm>
            <a:off x="2147019" y="3689028"/>
            <a:ext cx="28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4" name="Google Shape;2834;p136"/>
          <p:cNvSpPr txBox="1"/>
          <p:nvPr/>
        </p:nvSpPr>
        <p:spPr>
          <a:xfrm>
            <a:off x="520275" y="1472750"/>
            <a:ext cx="775500" cy="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Create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835" name="Google Shape;2835;p136"/>
          <p:cNvSpPr txBox="1"/>
          <p:nvPr/>
        </p:nvSpPr>
        <p:spPr>
          <a:xfrm>
            <a:off x="868975" y="3887800"/>
            <a:ext cx="775500" cy="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Condition: Change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836" name="Google Shape;2836;p136"/>
          <p:cNvSpPr/>
          <p:nvPr/>
        </p:nvSpPr>
        <p:spPr>
          <a:xfrm>
            <a:off x="6072049" y="708150"/>
            <a:ext cx="1285800" cy="2091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MM02</a:t>
            </a:r>
            <a:endParaRPr sz="1000"/>
          </a:p>
        </p:txBody>
      </p:sp>
      <p:sp>
        <p:nvSpPr>
          <p:cNvPr id="2837" name="Google Shape;2837;p136"/>
          <p:cNvSpPr/>
          <p:nvPr/>
        </p:nvSpPr>
        <p:spPr>
          <a:xfrm>
            <a:off x="1715713" y="3543225"/>
            <a:ext cx="284100" cy="29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8" name="Google Shape;2838;p136"/>
          <p:cNvSpPr/>
          <p:nvPr/>
        </p:nvSpPr>
        <p:spPr>
          <a:xfrm>
            <a:off x="4003425" y="3543225"/>
            <a:ext cx="284100" cy="29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p136"/>
          <p:cNvSpPr/>
          <p:nvPr/>
        </p:nvSpPr>
        <p:spPr>
          <a:xfrm>
            <a:off x="7213249" y="2550100"/>
            <a:ext cx="5205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0" name="Google Shape;2840;p136"/>
          <p:cNvSpPr/>
          <p:nvPr/>
        </p:nvSpPr>
        <p:spPr>
          <a:xfrm rot="3122">
            <a:off x="7308363" y="2686915"/>
            <a:ext cx="3303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1" name="Google Shape;2841;p136"/>
          <p:cNvCxnSpPr>
            <a:stCxn id="2815" idx="3"/>
            <a:endCxn id="2839" idx="0"/>
          </p:cNvCxnSpPr>
          <p:nvPr/>
        </p:nvCxnSpPr>
        <p:spPr>
          <a:xfrm>
            <a:off x="7043009" y="1625550"/>
            <a:ext cx="430500" cy="92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2" name="Google Shape;2842;p136"/>
          <p:cNvCxnSpPr>
            <a:stCxn id="2800" idx="3"/>
            <a:endCxn id="2839" idx="2"/>
          </p:cNvCxnSpPr>
          <p:nvPr/>
        </p:nvCxnSpPr>
        <p:spPr>
          <a:xfrm flipH="1" rot="10800000">
            <a:off x="4443616" y="3231220"/>
            <a:ext cx="3030000" cy="457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3" name="Google Shape;2843;p136"/>
          <p:cNvCxnSpPr>
            <a:stCxn id="2839" idx="3"/>
            <a:endCxn id="2802" idx="2"/>
          </p:cNvCxnSpPr>
          <p:nvPr/>
        </p:nvCxnSpPr>
        <p:spPr>
          <a:xfrm>
            <a:off x="7733749" y="2890600"/>
            <a:ext cx="8103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44" name="Google Shape;2844;p136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845" name="Google Shape;2845;p136"/>
          <p:cNvSpPr/>
          <p:nvPr/>
        </p:nvSpPr>
        <p:spPr>
          <a:xfrm>
            <a:off x="7828125" y="2550275"/>
            <a:ext cx="526500" cy="63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data to MES  </a:t>
            </a:r>
            <a:endParaRPr sz="900"/>
          </a:p>
        </p:txBody>
      </p:sp>
      <p:sp>
        <p:nvSpPr>
          <p:cNvPr id="2846" name="Google Shape;2846;p136"/>
          <p:cNvSpPr/>
          <p:nvPr/>
        </p:nvSpPr>
        <p:spPr>
          <a:xfrm>
            <a:off x="6834825" y="409545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confirmed which MES System: ask Ninad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0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p137"/>
          <p:cNvSpPr txBox="1"/>
          <p:nvPr>
            <p:ph type="title"/>
          </p:nvPr>
        </p:nvSpPr>
        <p:spPr>
          <a:xfrm>
            <a:off x="15950" y="-235975"/>
            <a:ext cx="85206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8433"/>
              <a:buNone/>
            </a:pPr>
            <a:r>
              <a:rPr lang="en" sz="1446"/>
              <a:t>M-150-030:</a:t>
            </a:r>
            <a:r>
              <a:rPr lang="en" sz="3346"/>
              <a:t> </a:t>
            </a:r>
            <a:r>
              <a:rPr lang="en" sz="1186">
                <a:solidFill>
                  <a:schemeClr val="dk2"/>
                </a:solidFill>
              </a:rPr>
              <a:t>Mantain</a:t>
            </a:r>
            <a:r>
              <a:rPr lang="en" sz="1186">
                <a:solidFill>
                  <a:schemeClr val="dk2"/>
                </a:solidFill>
              </a:rPr>
              <a:t> MRP and work scheduling views</a:t>
            </a:r>
            <a:r>
              <a:rPr lang="en" sz="1186">
                <a:solidFill>
                  <a:schemeClr val="dk2"/>
                </a:solidFill>
              </a:rPr>
              <a:t> </a:t>
            </a:r>
            <a:endParaRPr sz="11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3426"/>
              <a:buNone/>
            </a:pPr>
            <a:r>
              <a:rPr lang="en" sz="1186"/>
              <a:t>Role = material data specialist - product data.</a:t>
            </a:r>
            <a:endParaRPr sz="11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3426"/>
              <a:buNone/>
            </a:pPr>
            <a:r>
              <a:rPr lang="en" sz="1186"/>
              <a:t>Solvay role: enterprise data steward</a:t>
            </a:r>
            <a:endParaRPr sz="11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/>
          </a:p>
        </p:txBody>
      </p:sp>
      <p:sp>
        <p:nvSpPr>
          <p:cNvPr id="2852" name="Google Shape;2852;p137"/>
          <p:cNvSpPr/>
          <p:nvPr/>
        </p:nvSpPr>
        <p:spPr>
          <a:xfrm>
            <a:off x="2007325" y="2354626"/>
            <a:ext cx="9993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MRP views</a:t>
            </a:r>
            <a:endParaRPr sz="900"/>
          </a:p>
        </p:txBody>
      </p:sp>
      <p:sp>
        <p:nvSpPr>
          <p:cNvPr id="2853" name="Google Shape;2853;p137"/>
          <p:cNvSpPr/>
          <p:nvPr/>
        </p:nvSpPr>
        <p:spPr>
          <a:xfrm>
            <a:off x="4064300" y="2354426"/>
            <a:ext cx="9993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Work Scheduling view </a:t>
            </a:r>
            <a:endParaRPr sz="900"/>
          </a:p>
        </p:txBody>
      </p:sp>
      <p:cxnSp>
        <p:nvCxnSpPr>
          <p:cNvPr id="2854" name="Google Shape;2854;p137"/>
          <p:cNvCxnSpPr>
            <a:stCxn id="2852" idx="3"/>
            <a:endCxn id="2855" idx="1"/>
          </p:cNvCxnSpPr>
          <p:nvPr/>
        </p:nvCxnSpPr>
        <p:spPr>
          <a:xfrm flipH="1" rot="10800000">
            <a:off x="3006625" y="2623726"/>
            <a:ext cx="1971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6" name="Google Shape;2856;p137"/>
          <p:cNvSpPr/>
          <p:nvPr/>
        </p:nvSpPr>
        <p:spPr>
          <a:xfrm>
            <a:off x="0" y="2550275"/>
            <a:ext cx="5205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maintain MRP and/or work </a:t>
            </a:r>
            <a:r>
              <a:rPr lang="en" sz="600">
                <a:solidFill>
                  <a:schemeClr val="dk1"/>
                </a:solidFill>
              </a:rPr>
              <a:t>scheduling</a:t>
            </a:r>
            <a:r>
              <a:rPr lang="en" sz="600">
                <a:solidFill>
                  <a:schemeClr val="dk1"/>
                </a:solidFill>
              </a:rPr>
              <a:t> view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857" name="Google Shape;2857;p137"/>
          <p:cNvSpPr/>
          <p:nvPr/>
        </p:nvSpPr>
        <p:spPr>
          <a:xfrm>
            <a:off x="8302249" y="2284275"/>
            <a:ext cx="738300" cy="68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END: mrp and work scheduling views maintained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858" name="Google Shape;2858;p137"/>
          <p:cNvSpPr/>
          <p:nvPr/>
        </p:nvSpPr>
        <p:spPr>
          <a:xfrm>
            <a:off x="1186049" y="3292838"/>
            <a:ext cx="5205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137"/>
          <p:cNvSpPr/>
          <p:nvPr/>
        </p:nvSpPr>
        <p:spPr>
          <a:xfrm rot="3122">
            <a:off x="1281163" y="3429652"/>
            <a:ext cx="3303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p137"/>
          <p:cNvSpPr/>
          <p:nvPr/>
        </p:nvSpPr>
        <p:spPr>
          <a:xfrm>
            <a:off x="2963800" y="3348577"/>
            <a:ext cx="9993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mrp views</a:t>
            </a:r>
            <a:endParaRPr sz="900"/>
          </a:p>
        </p:txBody>
      </p:sp>
      <p:sp>
        <p:nvSpPr>
          <p:cNvPr id="2855" name="Google Shape;2855;p137"/>
          <p:cNvSpPr/>
          <p:nvPr/>
        </p:nvSpPr>
        <p:spPr>
          <a:xfrm>
            <a:off x="3203821" y="2283213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137"/>
          <p:cNvSpPr/>
          <p:nvPr/>
        </p:nvSpPr>
        <p:spPr>
          <a:xfrm>
            <a:off x="3325045" y="2419872"/>
            <a:ext cx="4209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62" name="Google Shape;2862;p137"/>
          <p:cNvCxnSpPr>
            <a:stCxn id="2855" idx="3"/>
            <a:endCxn id="2853" idx="1"/>
          </p:cNvCxnSpPr>
          <p:nvPr/>
        </p:nvCxnSpPr>
        <p:spPr>
          <a:xfrm>
            <a:off x="3867121" y="2623713"/>
            <a:ext cx="1971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3" name="Google Shape;2863;p137"/>
          <p:cNvSpPr/>
          <p:nvPr/>
        </p:nvSpPr>
        <p:spPr>
          <a:xfrm>
            <a:off x="7075150" y="2344125"/>
            <a:ext cx="4755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Save Material Master</a:t>
            </a:r>
            <a:endParaRPr sz="700"/>
          </a:p>
        </p:txBody>
      </p:sp>
      <p:cxnSp>
        <p:nvCxnSpPr>
          <p:cNvPr id="2864" name="Google Shape;2864;p137"/>
          <p:cNvCxnSpPr>
            <a:stCxn id="2863" idx="3"/>
            <a:endCxn id="2857" idx="2"/>
          </p:cNvCxnSpPr>
          <p:nvPr/>
        </p:nvCxnSpPr>
        <p:spPr>
          <a:xfrm>
            <a:off x="7550650" y="2615325"/>
            <a:ext cx="7515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5" name="Google Shape;2865;p137"/>
          <p:cNvSpPr/>
          <p:nvPr/>
        </p:nvSpPr>
        <p:spPr>
          <a:xfrm>
            <a:off x="2882500" y="3329925"/>
            <a:ext cx="1161900" cy="1608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Material </a:t>
            </a:r>
            <a:endParaRPr sz="1000"/>
          </a:p>
        </p:txBody>
      </p:sp>
      <p:sp>
        <p:nvSpPr>
          <p:cNvPr id="2866" name="Google Shape;2866;p137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867" name="Google Shape;2867;p137"/>
          <p:cNvSpPr/>
          <p:nvPr/>
        </p:nvSpPr>
        <p:spPr>
          <a:xfrm>
            <a:off x="4004663" y="4102528"/>
            <a:ext cx="9993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work scheduling view</a:t>
            </a:r>
            <a:endParaRPr sz="900"/>
          </a:p>
        </p:txBody>
      </p:sp>
      <p:cxnSp>
        <p:nvCxnSpPr>
          <p:cNvPr id="2868" name="Google Shape;2868;p137"/>
          <p:cNvCxnSpPr>
            <a:stCxn id="2869" idx="3"/>
            <a:endCxn id="2867" idx="1"/>
          </p:cNvCxnSpPr>
          <p:nvPr/>
        </p:nvCxnSpPr>
        <p:spPr>
          <a:xfrm>
            <a:off x="3406396" y="4368938"/>
            <a:ext cx="598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0" name="Google Shape;2870;p137"/>
          <p:cNvSpPr/>
          <p:nvPr/>
        </p:nvSpPr>
        <p:spPr>
          <a:xfrm>
            <a:off x="3940650" y="46255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Material</a:t>
            </a:r>
            <a:endParaRPr sz="1000"/>
          </a:p>
        </p:txBody>
      </p:sp>
      <p:sp>
        <p:nvSpPr>
          <p:cNvPr id="2871" name="Google Shape;2871;p137"/>
          <p:cNvSpPr txBox="1"/>
          <p:nvPr/>
        </p:nvSpPr>
        <p:spPr>
          <a:xfrm>
            <a:off x="1235684" y="397413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872" name="Google Shape;2872;p137"/>
          <p:cNvSpPr txBox="1"/>
          <p:nvPr/>
        </p:nvSpPr>
        <p:spPr>
          <a:xfrm>
            <a:off x="1404009" y="2162952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869" name="Google Shape;2869;p137"/>
          <p:cNvSpPr/>
          <p:nvPr/>
        </p:nvSpPr>
        <p:spPr>
          <a:xfrm>
            <a:off x="2743096" y="4028438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137"/>
          <p:cNvSpPr/>
          <p:nvPr/>
        </p:nvSpPr>
        <p:spPr>
          <a:xfrm rot="2450">
            <a:off x="2864305" y="4165252"/>
            <a:ext cx="4209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p137"/>
          <p:cNvSpPr txBox="1"/>
          <p:nvPr/>
        </p:nvSpPr>
        <p:spPr>
          <a:xfrm>
            <a:off x="3203724" y="3898038"/>
            <a:ext cx="2224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work scheduling View Present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875" name="Google Shape;2875;p137"/>
          <p:cNvSpPr/>
          <p:nvPr/>
        </p:nvSpPr>
        <p:spPr>
          <a:xfrm>
            <a:off x="5524524" y="4019650"/>
            <a:ext cx="4251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137"/>
          <p:cNvSpPr/>
          <p:nvPr/>
        </p:nvSpPr>
        <p:spPr>
          <a:xfrm rot="3824">
            <a:off x="5602221" y="4156290"/>
            <a:ext cx="2697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7" name="Google Shape;2877;p137"/>
          <p:cNvCxnSpPr>
            <a:stCxn id="2869" idx="2"/>
            <a:endCxn id="2875" idx="2"/>
          </p:cNvCxnSpPr>
          <p:nvPr/>
        </p:nvCxnSpPr>
        <p:spPr>
          <a:xfrm rot="-5400000">
            <a:off x="4401496" y="3373988"/>
            <a:ext cx="8700" cy="2662200"/>
          </a:xfrm>
          <a:prstGeom prst="bentConnector3">
            <a:avLst>
              <a:gd fmla="val -273706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8" name="Google Shape;2878;p137"/>
          <p:cNvCxnSpPr>
            <a:stCxn id="2867" idx="3"/>
            <a:endCxn id="2875" idx="1"/>
          </p:cNvCxnSpPr>
          <p:nvPr/>
        </p:nvCxnSpPr>
        <p:spPr>
          <a:xfrm flipH="1" rot="10800000">
            <a:off x="5003963" y="4360228"/>
            <a:ext cx="520500" cy="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9" name="Google Shape;2879;p137"/>
          <p:cNvSpPr txBox="1"/>
          <p:nvPr/>
        </p:nvSpPr>
        <p:spPr>
          <a:xfrm>
            <a:off x="3006624" y="4913650"/>
            <a:ext cx="2586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work scheduling View Not Present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880" name="Google Shape;2880;p137"/>
          <p:cNvSpPr txBox="1"/>
          <p:nvPr/>
        </p:nvSpPr>
        <p:spPr>
          <a:xfrm>
            <a:off x="3505434" y="2799452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Production Material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881" name="Google Shape;2881;p137"/>
          <p:cNvSpPr/>
          <p:nvPr/>
        </p:nvSpPr>
        <p:spPr>
          <a:xfrm>
            <a:off x="5260783" y="2274975"/>
            <a:ext cx="6633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2" name="Google Shape;2882;p137"/>
          <p:cNvSpPr/>
          <p:nvPr/>
        </p:nvSpPr>
        <p:spPr>
          <a:xfrm>
            <a:off x="5382007" y="2411635"/>
            <a:ext cx="4209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3" name="Google Shape;2883;p137"/>
          <p:cNvCxnSpPr>
            <a:stCxn id="2853" idx="3"/>
            <a:endCxn id="2881" idx="1"/>
          </p:cNvCxnSpPr>
          <p:nvPr/>
        </p:nvCxnSpPr>
        <p:spPr>
          <a:xfrm flipH="1" rot="10800000">
            <a:off x="5063600" y="2615426"/>
            <a:ext cx="1971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4" name="Google Shape;2884;p137"/>
          <p:cNvCxnSpPr>
            <a:stCxn id="2881" idx="3"/>
            <a:endCxn id="2885" idx="1"/>
          </p:cNvCxnSpPr>
          <p:nvPr/>
        </p:nvCxnSpPr>
        <p:spPr>
          <a:xfrm>
            <a:off x="5924083" y="2615475"/>
            <a:ext cx="20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5" name="Google Shape;2885;p137"/>
          <p:cNvSpPr/>
          <p:nvPr/>
        </p:nvSpPr>
        <p:spPr>
          <a:xfrm>
            <a:off x="6131949" y="2274975"/>
            <a:ext cx="4251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p137"/>
          <p:cNvSpPr/>
          <p:nvPr/>
        </p:nvSpPr>
        <p:spPr>
          <a:xfrm>
            <a:off x="6209612" y="2411635"/>
            <a:ext cx="2697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7" name="Google Shape;2887;p137"/>
          <p:cNvCxnSpPr>
            <a:stCxn id="2885" idx="3"/>
          </p:cNvCxnSpPr>
          <p:nvPr/>
        </p:nvCxnSpPr>
        <p:spPr>
          <a:xfrm flipH="1" rot="10800000">
            <a:off x="6557049" y="2615175"/>
            <a:ext cx="2595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8" name="Google Shape;2888;p137"/>
          <p:cNvSpPr/>
          <p:nvPr/>
        </p:nvSpPr>
        <p:spPr>
          <a:xfrm>
            <a:off x="1926025" y="29491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/>
              <a:t>Material </a:t>
            </a:r>
            <a:endParaRPr sz="1000"/>
          </a:p>
        </p:txBody>
      </p:sp>
      <p:cxnSp>
        <p:nvCxnSpPr>
          <p:cNvPr id="2889" name="Google Shape;2889;p137"/>
          <p:cNvCxnSpPr>
            <a:stCxn id="2855" idx="0"/>
            <a:endCxn id="2881" idx="0"/>
          </p:cNvCxnSpPr>
          <p:nvPr/>
        </p:nvCxnSpPr>
        <p:spPr>
          <a:xfrm rot="-5400000">
            <a:off x="4559971" y="1250613"/>
            <a:ext cx="8100" cy="2057100"/>
          </a:xfrm>
          <a:prstGeom prst="bentConnector3">
            <a:avLst>
              <a:gd fmla="val 304151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0" name="Google Shape;2890;p137"/>
          <p:cNvSpPr txBox="1"/>
          <p:nvPr/>
        </p:nvSpPr>
        <p:spPr>
          <a:xfrm>
            <a:off x="3481048" y="2084775"/>
            <a:ext cx="20196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Non Production Material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891" name="Google Shape;2891;p137"/>
          <p:cNvSpPr/>
          <p:nvPr/>
        </p:nvSpPr>
        <p:spPr>
          <a:xfrm>
            <a:off x="3983000" y="2025488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Material </a:t>
            </a:r>
            <a:endParaRPr sz="1000"/>
          </a:p>
        </p:txBody>
      </p:sp>
      <p:sp>
        <p:nvSpPr>
          <p:cNvPr id="2892" name="Google Shape;2892;p137"/>
          <p:cNvSpPr/>
          <p:nvPr/>
        </p:nvSpPr>
        <p:spPr>
          <a:xfrm>
            <a:off x="593037" y="2608750"/>
            <a:ext cx="5205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3" name="Google Shape;2893;p137"/>
          <p:cNvSpPr/>
          <p:nvPr/>
        </p:nvSpPr>
        <p:spPr>
          <a:xfrm rot="3122">
            <a:off x="688151" y="2745565"/>
            <a:ext cx="3303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p137"/>
          <p:cNvSpPr/>
          <p:nvPr/>
        </p:nvSpPr>
        <p:spPr>
          <a:xfrm>
            <a:off x="6609025" y="2296350"/>
            <a:ext cx="420900" cy="550800"/>
          </a:xfrm>
          <a:prstGeom prst="diamond">
            <a:avLst/>
          </a:prstGeom>
          <a:solidFill>
            <a:schemeClr val="lt2"/>
          </a:solidFill>
          <a:ln cap="flat" cmpd="sng" w="7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925" lIns="73925" spcFirstLastPara="1" rIns="73925" wrap="square" tIns="73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2"/>
          </a:p>
        </p:txBody>
      </p:sp>
      <p:sp>
        <p:nvSpPr>
          <p:cNvPr id="2895" name="Google Shape;2895;p137"/>
          <p:cNvSpPr/>
          <p:nvPr/>
        </p:nvSpPr>
        <p:spPr>
          <a:xfrm rot="3863">
            <a:off x="6685939" y="2407013"/>
            <a:ext cx="267000" cy="329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7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925" lIns="73925" spcFirstLastPara="1" rIns="73925" wrap="square" tIns="73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2"/>
          </a:p>
        </p:txBody>
      </p:sp>
      <p:cxnSp>
        <p:nvCxnSpPr>
          <p:cNvPr id="2896" name="Google Shape;2896;p137"/>
          <p:cNvCxnSpPr>
            <a:stCxn id="2894" idx="3"/>
            <a:endCxn id="2863" idx="1"/>
          </p:cNvCxnSpPr>
          <p:nvPr/>
        </p:nvCxnSpPr>
        <p:spPr>
          <a:xfrm>
            <a:off x="7029925" y="2571750"/>
            <a:ext cx="45300" cy="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7" name="Google Shape;2897;p137"/>
          <p:cNvSpPr/>
          <p:nvPr/>
        </p:nvSpPr>
        <p:spPr>
          <a:xfrm>
            <a:off x="2169600" y="857226"/>
            <a:ext cx="9993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MRP views</a:t>
            </a:r>
            <a:endParaRPr sz="900"/>
          </a:p>
        </p:txBody>
      </p:sp>
      <p:sp>
        <p:nvSpPr>
          <p:cNvPr id="2898" name="Google Shape;2898;p137"/>
          <p:cNvSpPr/>
          <p:nvPr/>
        </p:nvSpPr>
        <p:spPr>
          <a:xfrm>
            <a:off x="1296299" y="1054950"/>
            <a:ext cx="5205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9" name="Google Shape;2899;p137"/>
          <p:cNvSpPr/>
          <p:nvPr/>
        </p:nvSpPr>
        <p:spPr>
          <a:xfrm rot="3122">
            <a:off x="1408013" y="1191590"/>
            <a:ext cx="3303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137"/>
          <p:cNvSpPr/>
          <p:nvPr/>
        </p:nvSpPr>
        <p:spPr>
          <a:xfrm>
            <a:off x="2136825" y="1503627"/>
            <a:ext cx="9993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mrp views</a:t>
            </a:r>
            <a:endParaRPr sz="900"/>
          </a:p>
        </p:txBody>
      </p:sp>
      <p:cxnSp>
        <p:nvCxnSpPr>
          <p:cNvPr id="2901" name="Google Shape;2901;p137"/>
          <p:cNvCxnSpPr>
            <a:stCxn id="2898" idx="2"/>
            <a:endCxn id="2900" idx="1"/>
          </p:cNvCxnSpPr>
          <p:nvPr/>
        </p:nvCxnSpPr>
        <p:spPr>
          <a:xfrm flipH="1" rot="-5400000">
            <a:off x="1827149" y="1465350"/>
            <a:ext cx="39000" cy="580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2" name="Google Shape;2902;p137"/>
          <p:cNvSpPr/>
          <p:nvPr/>
        </p:nvSpPr>
        <p:spPr>
          <a:xfrm>
            <a:off x="2006775" y="1979613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</a:t>
            </a:r>
            <a:r>
              <a:rPr lang="en" sz="1000"/>
              <a:t>Material </a:t>
            </a:r>
            <a:endParaRPr sz="1000"/>
          </a:p>
        </p:txBody>
      </p:sp>
      <p:sp>
        <p:nvSpPr>
          <p:cNvPr id="2903" name="Google Shape;2903;p137"/>
          <p:cNvSpPr txBox="1"/>
          <p:nvPr/>
        </p:nvSpPr>
        <p:spPr>
          <a:xfrm>
            <a:off x="1331784" y="1705614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04" name="Google Shape;2904;p137"/>
          <p:cNvSpPr txBox="1"/>
          <p:nvPr/>
        </p:nvSpPr>
        <p:spPr>
          <a:xfrm>
            <a:off x="1509159" y="673314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05" name="Google Shape;2905;p137"/>
          <p:cNvSpPr/>
          <p:nvPr/>
        </p:nvSpPr>
        <p:spPr>
          <a:xfrm>
            <a:off x="2006775" y="12965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Material </a:t>
            </a:r>
            <a:endParaRPr sz="1000"/>
          </a:p>
        </p:txBody>
      </p:sp>
      <p:cxnSp>
        <p:nvCxnSpPr>
          <p:cNvPr id="2906" name="Google Shape;2906;p137"/>
          <p:cNvCxnSpPr>
            <a:stCxn id="2898" idx="0"/>
            <a:endCxn id="2897" idx="1"/>
          </p:cNvCxnSpPr>
          <p:nvPr/>
        </p:nvCxnSpPr>
        <p:spPr>
          <a:xfrm flipH="1" rot="-5400000">
            <a:off x="1826399" y="785100"/>
            <a:ext cx="73500" cy="613200"/>
          </a:xfrm>
          <a:prstGeom prst="bentConnector4">
            <a:avLst>
              <a:gd fmla="val -64388" name="adj1"/>
              <a:gd fmla="val 7120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7" name="Google Shape;2907;p137"/>
          <p:cNvCxnSpPr>
            <a:stCxn id="2892" idx="0"/>
            <a:endCxn id="2898" idx="1"/>
          </p:cNvCxnSpPr>
          <p:nvPr/>
        </p:nvCxnSpPr>
        <p:spPr>
          <a:xfrm rot="-5400000">
            <a:off x="468237" y="1780600"/>
            <a:ext cx="1213200" cy="443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8" name="Google Shape;2908;p137"/>
          <p:cNvSpPr/>
          <p:nvPr/>
        </p:nvSpPr>
        <p:spPr>
          <a:xfrm>
            <a:off x="6091824" y="1128450"/>
            <a:ext cx="4251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137"/>
          <p:cNvSpPr/>
          <p:nvPr/>
        </p:nvSpPr>
        <p:spPr>
          <a:xfrm>
            <a:off x="6169487" y="1265110"/>
            <a:ext cx="269700" cy="4077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10" name="Google Shape;2910;p137"/>
          <p:cNvCxnSpPr>
            <a:stCxn id="2897" idx="3"/>
            <a:endCxn id="2908" idx="0"/>
          </p:cNvCxnSpPr>
          <p:nvPr/>
        </p:nvCxnSpPr>
        <p:spPr>
          <a:xfrm>
            <a:off x="3168900" y="1128426"/>
            <a:ext cx="3135600" cy="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1" name="Google Shape;2911;p137"/>
          <p:cNvCxnSpPr>
            <a:stCxn id="2900" idx="3"/>
            <a:endCxn id="2908" idx="1"/>
          </p:cNvCxnSpPr>
          <p:nvPr/>
        </p:nvCxnSpPr>
        <p:spPr>
          <a:xfrm flipH="1" rot="10800000">
            <a:off x="3136125" y="1468827"/>
            <a:ext cx="2955600" cy="3060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2" name="Google Shape;2912;p137"/>
          <p:cNvCxnSpPr>
            <a:stCxn id="2908" idx="3"/>
            <a:endCxn id="2894" idx="0"/>
          </p:cNvCxnSpPr>
          <p:nvPr/>
        </p:nvCxnSpPr>
        <p:spPr>
          <a:xfrm>
            <a:off x="6516924" y="1468950"/>
            <a:ext cx="302700" cy="82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3" name="Google Shape;2913;p137"/>
          <p:cNvSpPr txBox="1"/>
          <p:nvPr/>
        </p:nvSpPr>
        <p:spPr>
          <a:xfrm>
            <a:off x="51399" y="1029725"/>
            <a:ext cx="1287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Raw Materials/Packing materials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14" name="Google Shape;2914;p137"/>
          <p:cNvSpPr txBox="1"/>
          <p:nvPr/>
        </p:nvSpPr>
        <p:spPr>
          <a:xfrm>
            <a:off x="209624" y="3662613"/>
            <a:ext cx="1287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Finished/Semi-Finished Materials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2915" name="Google Shape;2915;p137"/>
          <p:cNvCxnSpPr>
            <a:stCxn id="2858" idx="0"/>
            <a:endCxn id="2852" idx="1"/>
          </p:cNvCxnSpPr>
          <p:nvPr/>
        </p:nvCxnSpPr>
        <p:spPr>
          <a:xfrm rot="-5400000">
            <a:off x="1393349" y="2678888"/>
            <a:ext cx="666900" cy="561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6" name="Google Shape;2916;p137"/>
          <p:cNvCxnSpPr>
            <a:stCxn id="2892" idx="2"/>
            <a:endCxn id="2858" idx="1"/>
          </p:cNvCxnSpPr>
          <p:nvPr/>
        </p:nvCxnSpPr>
        <p:spPr>
          <a:xfrm flipH="1" rot="-5400000">
            <a:off x="847887" y="3295150"/>
            <a:ext cx="343500" cy="33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7" name="Google Shape;2917;p137"/>
          <p:cNvCxnSpPr>
            <a:stCxn id="2856" idx="6"/>
            <a:endCxn id="2892" idx="1"/>
          </p:cNvCxnSpPr>
          <p:nvPr/>
        </p:nvCxnSpPr>
        <p:spPr>
          <a:xfrm flipH="1" rot="10800000">
            <a:off x="520500" y="2949125"/>
            <a:ext cx="726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8" name="Google Shape;2918;p137"/>
          <p:cNvSpPr/>
          <p:nvPr/>
        </p:nvSpPr>
        <p:spPr>
          <a:xfrm>
            <a:off x="2007324" y="3652563"/>
            <a:ext cx="5205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137"/>
          <p:cNvSpPr/>
          <p:nvPr/>
        </p:nvSpPr>
        <p:spPr>
          <a:xfrm>
            <a:off x="2180325" y="3869925"/>
            <a:ext cx="207900" cy="24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p137"/>
          <p:cNvSpPr/>
          <p:nvPr/>
        </p:nvSpPr>
        <p:spPr>
          <a:xfrm>
            <a:off x="6131974" y="3652563"/>
            <a:ext cx="520500" cy="681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p137"/>
          <p:cNvSpPr/>
          <p:nvPr/>
        </p:nvSpPr>
        <p:spPr>
          <a:xfrm>
            <a:off x="6304975" y="3869925"/>
            <a:ext cx="207900" cy="24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22" name="Google Shape;2922;p137"/>
          <p:cNvCxnSpPr>
            <a:stCxn id="2858" idx="3"/>
            <a:endCxn id="2918" idx="1"/>
          </p:cNvCxnSpPr>
          <p:nvPr/>
        </p:nvCxnSpPr>
        <p:spPr>
          <a:xfrm>
            <a:off x="1706549" y="3633338"/>
            <a:ext cx="300900" cy="359700"/>
          </a:xfrm>
          <a:prstGeom prst="bentConnector3">
            <a:avLst>
              <a:gd fmla="val 4997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3" name="Google Shape;2923;p137"/>
          <p:cNvCxnSpPr>
            <a:stCxn id="2918" idx="0"/>
            <a:endCxn id="2860" idx="1"/>
          </p:cNvCxnSpPr>
          <p:nvPr/>
        </p:nvCxnSpPr>
        <p:spPr>
          <a:xfrm rot="-5400000">
            <a:off x="2599374" y="3288063"/>
            <a:ext cx="32700" cy="696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4" name="Google Shape;2924;p137"/>
          <p:cNvCxnSpPr>
            <a:stCxn id="2918" idx="2"/>
            <a:endCxn id="2869" idx="1"/>
          </p:cNvCxnSpPr>
          <p:nvPr/>
        </p:nvCxnSpPr>
        <p:spPr>
          <a:xfrm flipH="1" rot="-5400000">
            <a:off x="2487624" y="4113513"/>
            <a:ext cx="35400" cy="475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5" name="Google Shape;2925;p137"/>
          <p:cNvCxnSpPr>
            <a:stCxn id="2860" idx="3"/>
            <a:endCxn id="2920" idx="0"/>
          </p:cNvCxnSpPr>
          <p:nvPr/>
        </p:nvCxnSpPr>
        <p:spPr>
          <a:xfrm>
            <a:off x="3963100" y="3619777"/>
            <a:ext cx="2429100" cy="3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6" name="Google Shape;2926;p137"/>
          <p:cNvCxnSpPr>
            <a:stCxn id="2875" idx="3"/>
            <a:endCxn id="2920" idx="2"/>
          </p:cNvCxnSpPr>
          <p:nvPr/>
        </p:nvCxnSpPr>
        <p:spPr>
          <a:xfrm flipH="1" rot="10800000">
            <a:off x="5949624" y="4333450"/>
            <a:ext cx="442500" cy="26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7" name="Google Shape;2927;p137"/>
          <p:cNvCxnSpPr>
            <a:stCxn id="2920" idx="3"/>
            <a:endCxn id="2894" idx="2"/>
          </p:cNvCxnSpPr>
          <p:nvPr/>
        </p:nvCxnSpPr>
        <p:spPr>
          <a:xfrm flipH="1" rot="10800000">
            <a:off x="6652474" y="2847063"/>
            <a:ext cx="167100" cy="114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8" name="Google Shape;2928;p137"/>
          <p:cNvSpPr/>
          <p:nvPr/>
        </p:nvSpPr>
        <p:spPr>
          <a:xfrm>
            <a:off x="7169075" y="19030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&amp; change Material</a:t>
            </a:r>
            <a:endParaRPr sz="1000"/>
          </a:p>
        </p:txBody>
      </p:sp>
      <p:sp>
        <p:nvSpPr>
          <p:cNvPr id="2929" name="Google Shape;2929;p137"/>
          <p:cNvSpPr/>
          <p:nvPr/>
        </p:nvSpPr>
        <p:spPr>
          <a:xfrm>
            <a:off x="7645950" y="2354625"/>
            <a:ext cx="5610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send data to MES (libra)  </a:t>
            </a:r>
            <a:endParaRPr sz="600"/>
          </a:p>
        </p:txBody>
      </p:sp>
      <p:sp>
        <p:nvSpPr>
          <p:cNvPr id="2930" name="Google Shape;2930;p137"/>
          <p:cNvSpPr/>
          <p:nvPr/>
        </p:nvSpPr>
        <p:spPr>
          <a:xfrm>
            <a:off x="6834825" y="409545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confirmed which MES System: ask Ninad</a:t>
            </a:r>
            <a:endParaRPr/>
          </a:p>
        </p:txBody>
      </p:sp>
      <p:sp>
        <p:nvSpPr>
          <p:cNvPr id="2931" name="Google Shape;2931;p13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138"/>
          <p:cNvSpPr txBox="1"/>
          <p:nvPr>
            <p:ph type="title"/>
          </p:nvPr>
        </p:nvSpPr>
        <p:spPr>
          <a:xfrm>
            <a:off x="15950" y="72075"/>
            <a:ext cx="8520600" cy="13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M-150-100: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Process Document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material data specialist - product data.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App: Update Material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131"/>
              <a:buFont typeface="Arial"/>
              <a:buNone/>
            </a:pPr>
            <a:r>
              <a:rPr lang="en" sz="1520"/>
              <a:t>Solvay role: DATA DOMAIN LEAD/ enterprise data steward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/>
          </a:p>
        </p:txBody>
      </p:sp>
      <p:sp>
        <p:nvSpPr>
          <p:cNvPr id="2937" name="Google Shape;2937;p138"/>
          <p:cNvSpPr/>
          <p:nvPr/>
        </p:nvSpPr>
        <p:spPr>
          <a:xfrm>
            <a:off x="1121113" y="2571750"/>
            <a:ext cx="816000" cy="79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process document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938" name="Google Shape;2938;p138"/>
          <p:cNvSpPr/>
          <p:nvPr/>
        </p:nvSpPr>
        <p:spPr>
          <a:xfrm>
            <a:off x="8019562" y="2630400"/>
            <a:ext cx="738300" cy="68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END: document processed</a:t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2939" name="Google Shape;2939;p138"/>
          <p:cNvCxnSpPr>
            <a:stCxn id="2937" idx="6"/>
            <a:endCxn id="2940" idx="1"/>
          </p:cNvCxnSpPr>
          <p:nvPr/>
        </p:nvCxnSpPr>
        <p:spPr>
          <a:xfrm>
            <a:off x="1937113" y="2970900"/>
            <a:ext cx="23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1" name="Google Shape;2941;p138"/>
          <p:cNvCxnSpPr>
            <a:stCxn id="2942" idx="3"/>
            <a:endCxn id="2938" idx="2"/>
          </p:cNvCxnSpPr>
          <p:nvPr/>
        </p:nvCxnSpPr>
        <p:spPr>
          <a:xfrm flipH="1" rot="10800000">
            <a:off x="7705162" y="2970900"/>
            <a:ext cx="3144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3" name="Google Shape;2943;p138"/>
          <p:cNvSpPr/>
          <p:nvPr/>
        </p:nvSpPr>
        <p:spPr>
          <a:xfrm>
            <a:off x="4383442" y="263699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Document</a:t>
            </a:r>
            <a:endParaRPr sz="900"/>
          </a:p>
        </p:txBody>
      </p:sp>
      <p:sp>
        <p:nvSpPr>
          <p:cNvPr id="2944" name="Google Shape;2944;p138"/>
          <p:cNvSpPr/>
          <p:nvPr/>
        </p:nvSpPr>
        <p:spPr>
          <a:xfrm>
            <a:off x="5489867" y="263699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Display Material Master</a:t>
            </a:r>
            <a:endParaRPr sz="900"/>
          </a:p>
        </p:txBody>
      </p:sp>
      <p:cxnSp>
        <p:nvCxnSpPr>
          <p:cNvPr id="2945" name="Google Shape;2945;p138"/>
          <p:cNvCxnSpPr>
            <a:stCxn id="2943" idx="3"/>
            <a:endCxn id="2944" idx="1"/>
          </p:cNvCxnSpPr>
          <p:nvPr/>
        </p:nvCxnSpPr>
        <p:spPr>
          <a:xfrm>
            <a:off x="5260942" y="2970890"/>
            <a:ext cx="22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0" name="Google Shape;2940;p138"/>
          <p:cNvSpPr/>
          <p:nvPr/>
        </p:nvSpPr>
        <p:spPr>
          <a:xfrm>
            <a:off x="2170592" y="263699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the document and assign link</a:t>
            </a:r>
            <a:endParaRPr sz="900"/>
          </a:p>
        </p:txBody>
      </p:sp>
      <p:sp>
        <p:nvSpPr>
          <p:cNvPr id="2946" name="Google Shape;2946;p138"/>
          <p:cNvSpPr/>
          <p:nvPr/>
        </p:nvSpPr>
        <p:spPr>
          <a:xfrm>
            <a:off x="3277017" y="263699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document to Material Master</a:t>
            </a:r>
            <a:endParaRPr sz="900"/>
          </a:p>
        </p:txBody>
      </p:sp>
      <p:cxnSp>
        <p:nvCxnSpPr>
          <p:cNvPr id="2947" name="Google Shape;2947;p138"/>
          <p:cNvCxnSpPr>
            <a:stCxn id="2940" idx="3"/>
            <a:endCxn id="2946" idx="1"/>
          </p:cNvCxnSpPr>
          <p:nvPr/>
        </p:nvCxnSpPr>
        <p:spPr>
          <a:xfrm>
            <a:off x="3048092" y="2970890"/>
            <a:ext cx="22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8" name="Google Shape;2948;p138"/>
          <p:cNvCxnSpPr>
            <a:stCxn id="2946" idx="3"/>
            <a:endCxn id="2943" idx="1"/>
          </p:cNvCxnSpPr>
          <p:nvPr/>
        </p:nvCxnSpPr>
        <p:spPr>
          <a:xfrm>
            <a:off x="4154517" y="2970890"/>
            <a:ext cx="22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9" name="Google Shape;2949;p138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950" name="Google Shape;2950;p138"/>
          <p:cNvSpPr/>
          <p:nvPr/>
        </p:nvSpPr>
        <p:spPr>
          <a:xfrm>
            <a:off x="2115125" y="3430325"/>
            <a:ext cx="3190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documents</a:t>
            </a:r>
            <a:endParaRPr sz="1000"/>
          </a:p>
        </p:txBody>
      </p:sp>
      <p:sp>
        <p:nvSpPr>
          <p:cNvPr id="2951" name="Google Shape;2951;p138"/>
          <p:cNvSpPr/>
          <p:nvPr/>
        </p:nvSpPr>
        <p:spPr>
          <a:xfrm>
            <a:off x="5489875" y="3430325"/>
            <a:ext cx="9270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MM03</a:t>
            </a:r>
            <a:endParaRPr sz="1000"/>
          </a:p>
        </p:txBody>
      </p:sp>
      <p:sp>
        <p:nvSpPr>
          <p:cNvPr id="2952" name="Google Shape;2952;p138"/>
          <p:cNvSpPr/>
          <p:nvPr/>
        </p:nvSpPr>
        <p:spPr>
          <a:xfrm>
            <a:off x="5465125" y="38800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 master</a:t>
            </a:r>
            <a:endParaRPr sz="1000"/>
          </a:p>
        </p:txBody>
      </p:sp>
      <p:sp>
        <p:nvSpPr>
          <p:cNvPr id="2953" name="Google Shape;2953;p138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2954" name="Google Shape;2954;p138"/>
          <p:cNvSpPr/>
          <p:nvPr/>
        </p:nvSpPr>
        <p:spPr>
          <a:xfrm>
            <a:off x="6606263" y="2699700"/>
            <a:ext cx="10926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send data to MES (libra)  </a:t>
            </a:r>
            <a:endParaRPr sz="900"/>
          </a:p>
        </p:txBody>
      </p:sp>
      <p:sp>
        <p:nvSpPr>
          <p:cNvPr id="2955" name="Google Shape;2955;p138"/>
          <p:cNvSpPr/>
          <p:nvPr/>
        </p:nvSpPr>
        <p:spPr>
          <a:xfrm>
            <a:off x="6834825" y="409545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confirmed which MES System: ask Ninad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9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Google Shape;2960;p139"/>
          <p:cNvSpPr/>
          <p:nvPr/>
        </p:nvSpPr>
        <p:spPr>
          <a:xfrm>
            <a:off x="3254450" y="1468766"/>
            <a:ext cx="999300" cy="4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Basic views</a:t>
            </a:r>
            <a:endParaRPr sz="900"/>
          </a:p>
        </p:txBody>
      </p:sp>
      <p:sp>
        <p:nvSpPr>
          <p:cNvPr id="2961" name="Google Shape;2961;p139"/>
          <p:cNvSpPr txBox="1"/>
          <p:nvPr>
            <p:ph type="title"/>
          </p:nvPr>
        </p:nvSpPr>
        <p:spPr>
          <a:xfrm>
            <a:off x="-32000" y="-232075"/>
            <a:ext cx="85206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942"/>
              <a:t>M-150-180:</a:t>
            </a:r>
            <a:r>
              <a:rPr lang="en" sz="2652"/>
              <a:t> </a:t>
            </a:r>
            <a:r>
              <a:rPr lang="en" sz="708">
                <a:solidFill>
                  <a:schemeClr val="dk2"/>
                </a:solidFill>
              </a:rPr>
              <a:t>Process Material Master</a:t>
            </a:r>
            <a:endParaRPr sz="7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708"/>
              <a:t>Role = material data specialist - product data.</a:t>
            </a:r>
            <a:endParaRPr sz="7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708"/>
              <a:t>Solvay role: </a:t>
            </a:r>
            <a:endParaRPr sz="708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708"/>
              <a:t>r</a:t>
            </a:r>
            <a:r>
              <a:rPr lang="en" sz="708"/>
              <a:t>aw material/packaging = enterprise data steward</a:t>
            </a:r>
            <a:endParaRPr sz="708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708"/>
              <a:t>finished/semi-finished = data domain lead/ data governance lead</a:t>
            </a:r>
            <a:endParaRPr sz="7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068"/>
          </a:p>
        </p:txBody>
      </p:sp>
      <p:sp>
        <p:nvSpPr>
          <p:cNvPr id="2962" name="Google Shape;2962;p139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2963" name="Google Shape;2963;p139"/>
          <p:cNvSpPr/>
          <p:nvPr/>
        </p:nvSpPr>
        <p:spPr>
          <a:xfrm>
            <a:off x="1940913" y="2766599"/>
            <a:ext cx="999300" cy="4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Basic views</a:t>
            </a:r>
            <a:endParaRPr sz="900"/>
          </a:p>
        </p:txBody>
      </p:sp>
      <p:cxnSp>
        <p:nvCxnSpPr>
          <p:cNvPr id="2964" name="Google Shape;2964;p139"/>
          <p:cNvCxnSpPr>
            <a:stCxn id="2963" idx="3"/>
            <a:endCxn id="2965" idx="1"/>
          </p:cNvCxnSpPr>
          <p:nvPr/>
        </p:nvCxnSpPr>
        <p:spPr>
          <a:xfrm>
            <a:off x="2940213" y="3006749"/>
            <a:ext cx="70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6" name="Google Shape;2966;p139"/>
          <p:cNvSpPr/>
          <p:nvPr/>
        </p:nvSpPr>
        <p:spPr>
          <a:xfrm>
            <a:off x="0" y="2829814"/>
            <a:ext cx="520500" cy="70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Start: need to process material master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967" name="Google Shape;2967;p139"/>
          <p:cNvSpPr/>
          <p:nvPr/>
        </p:nvSpPr>
        <p:spPr>
          <a:xfrm>
            <a:off x="8558400" y="2829600"/>
            <a:ext cx="585600" cy="60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END: material master processed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968" name="Google Shape;2968;p139"/>
          <p:cNvSpPr/>
          <p:nvPr/>
        </p:nvSpPr>
        <p:spPr>
          <a:xfrm>
            <a:off x="1186049" y="3487240"/>
            <a:ext cx="5205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9" name="Google Shape;2969;p139"/>
          <p:cNvSpPr/>
          <p:nvPr/>
        </p:nvSpPr>
        <p:spPr>
          <a:xfrm rot="3122">
            <a:off x="1281164" y="3608386"/>
            <a:ext cx="330300" cy="360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0" name="Google Shape;2970;p139"/>
          <p:cNvCxnSpPr>
            <a:stCxn id="2968" idx="2"/>
            <a:endCxn id="2971" idx="1"/>
          </p:cNvCxnSpPr>
          <p:nvPr/>
        </p:nvCxnSpPr>
        <p:spPr>
          <a:xfrm flipH="1" rot="-5400000">
            <a:off x="2051399" y="3485140"/>
            <a:ext cx="165600" cy="1375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2" name="Google Shape;2972;p139"/>
          <p:cNvSpPr/>
          <p:nvPr/>
        </p:nvSpPr>
        <p:spPr>
          <a:xfrm>
            <a:off x="7078575" y="2883839"/>
            <a:ext cx="638700" cy="4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Material Master</a:t>
            </a:r>
            <a:endParaRPr sz="900"/>
          </a:p>
        </p:txBody>
      </p:sp>
      <p:cxnSp>
        <p:nvCxnSpPr>
          <p:cNvPr id="2973" name="Google Shape;2973;p139"/>
          <p:cNvCxnSpPr>
            <a:stCxn id="2972" idx="3"/>
            <a:endCxn id="2967" idx="2"/>
          </p:cNvCxnSpPr>
          <p:nvPr/>
        </p:nvCxnSpPr>
        <p:spPr>
          <a:xfrm>
            <a:off x="7717275" y="3123989"/>
            <a:ext cx="841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4" name="Google Shape;2974;p139"/>
          <p:cNvSpPr txBox="1"/>
          <p:nvPr/>
        </p:nvSpPr>
        <p:spPr>
          <a:xfrm>
            <a:off x="1172884" y="4214289"/>
            <a:ext cx="6750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75" name="Google Shape;2975;p139"/>
          <p:cNvSpPr txBox="1"/>
          <p:nvPr/>
        </p:nvSpPr>
        <p:spPr>
          <a:xfrm>
            <a:off x="1374609" y="2782538"/>
            <a:ext cx="6750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76" name="Google Shape;2976;p139"/>
          <p:cNvSpPr/>
          <p:nvPr/>
        </p:nvSpPr>
        <p:spPr>
          <a:xfrm>
            <a:off x="1859613" y="3292981"/>
            <a:ext cx="1161900" cy="222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Material </a:t>
            </a:r>
            <a:endParaRPr sz="1000"/>
          </a:p>
        </p:txBody>
      </p:sp>
      <p:sp>
        <p:nvSpPr>
          <p:cNvPr id="2977" name="Google Shape;2977;p139"/>
          <p:cNvSpPr/>
          <p:nvPr/>
        </p:nvSpPr>
        <p:spPr>
          <a:xfrm>
            <a:off x="593037" y="2881584"/>
            <a:ext cx="5205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139"/>
          <p:cNvSpPr/>
          <p:nvPr/>
        </p:nvSpPr>
        <p:spPr>
          <a:xfrm rot="3122">
            <a:off x="688151" y="3002730"/>
            <a:ext cx="330300" cy="360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139"/>
          <p:cNvSpPr/>
          <p:nvPr/>
        </p:nvSpPr>
        <p:spPr>
          <a:xfrm>
            <a:off x="6412825" y="2822330"/>
            <a:ext cx="5205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p139"/>
          <p:cNvSpPr/>
          <p:nvPr/>
        </p:nvSpPr>
        <p:spPr>
          <a:xfrm rot="3122">
            <a:off x="6507939" y="2943476"/>
            <a:ext cx="330300" cy="360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81" name="Google Shape;2981;p139"/>
          <p:cNvCxnSpPr>
            <a:stCxn id="2979" idx="3"/>
            <a:endCxn id="2972" idx="1"/>
          </p:cNvCxnSpPr>
          <p:nvPr/>
        </p:nvCxnSpPr>
        <p:spPr>
          <a:xfrm>
            <a:off x="6933325" y="3123830"/>
            <a:ext cx="1452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2" name="Google Shape;2982;p139"/>
          <p:cNvSpPr/>
          <p:nvPr/>
        </p:nvSpPr>
        <p:spPr>
          <a:xfrm>
            <a:off x="2242525" y="725876"/>
            <a:ext cx="999300" cy="4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Basic views</a:t>
            </a:r>
            <a:endParaRPr sz="900"/>
          </a:p>
        </p:txBody>
      </p:sp>
      <p:sp>
        <p:nvSpPr>
          <p:cNvPr id="2983" name="Google Shape;2983;p139"/>
          <p:cNvSpPr/>
          <p:nvPr/>
        </p:nvSpPr>
        <p:spPr>
          <a:xfrm>
            <a:off x="1296299" y="1505930"/>
            <a:ext cx="5205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139"/>
          <p:cNvSpPr/>
          <p:nvPr/>
        </p:nvSpPr>
        <p:spPr>
          <a:xfrm rot="3122">
            <a:off x="1408014" y="1626921"/>
            <a:ext cx="330300" cy="360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85" name="Google Shape;2985;p139"/>
          <p:cNvCxnSpPr>
            <a:stCxn id="2983" idx="2"/>
            <a:endCxn id="2986" idx="1"/>
          </p:cNvCxnSpPr>
          <p:nvPr/>
        </p:nvCxnSpPr>
        <p:spPr>
          <a:xfrm rot="-5400000">
            <a:off x="2052899" y="1484780"/>
            <a:ext cx="127800" cy="1120500"/>
          </a:xfrm>
          <a:prstGeom prst="bentConnector4">
            <a:avLst>
              <a:gd fmla="val -17875" name="adj1"/>
              <a:gd fmla="val 6161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7" name="Google Shape;2987;p139"/>
          <p:cNvSpPr txBox="1"/>
          <p:nvPr/>
        </p:nvSpPr>
        <p:spPr>
          <a:xfrm>
            <a:off x="1331784" y="2081995"/>
            <a:ext cx="6750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88" name="Google Shape;2988;p139"/>
          <p:cNvSpPr txBox="1"/>
          <p:nvPr/>
        </p:nvSpPr>
        <p:spPr>
          <a:xfrm>
            <a:off x="1509159" y="1168050"/>
            <a:ext cx="6750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89" name="Google Shape;2989;p139"/>
          <p:cNvSpPr/>
          <p:nvPr/>
        </p:nvSpPr>
        <p:spPr>
          <a:xfrm>
            <a:off x="2079700" y="1114786"/>
            <a:ext cx="1161900" cy="222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Material </a:t>
            </a:r>
            <a:endParaRPr sz="1000"/>
          </a:p>
        </p:txBody>
      </p:sp>
      <p:sp>
        <p:nvSpPr>
          <p:cNvPr id="2990" name="Google Shape;2990;p139"/>
          <p:cNvSpPr/>
          <p:nvPr/>
        </p:nvSpPr>
        <p:spPr>
          <a:xfrm>
            <a:off x="3207125" y="1335704"/>
            <a:ext cx="1161900" cy="222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</a:t>
            </a:r>
            <a:r>
              <a:rPr lang="en" sz="1000"/>
              <a:t>Material </a:t>
            </a:r>
            <a:endParaRPr sz="1000"/>
          </a:p>
        </p:txBody>
      </p:sp>
      <p:cxnSp>
        <p:nvCxnSpPr>
          <p:cNvPr id="2991" name="Google Shape;2991;p139"/>
          <p:cNvCxnSpPr>
            <a:stCxn id="2983" idx="0"/>
            <a:endCxn id="2982" idx="1"/>
          </p:cNvCxnSpPr>
          <p:nvPr/>
        </p:nvCxnSpPr>
        <p:spPr>
          <a:xfrm rot="-5400000">
            <a:off x="1629599" y="892880"/>
            <a:ext cx="540000" cy="68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2" name="Google Shape;2992;p139"/>
          <p:cNvCxnSpPr>
            <a:stCxn id="2977" idx="0"/>
            <a:endCxn id="2983" idx="1"/>
          </p:cNvCxnSpPr>
          <p:nvPr/>
        </p:nvCxnSpPr>
        <p:spPr>
          <a:xfrm rot="-5400000">
            <a:off x="537687" y="2122884"/>
            <a:ext cx="1074300" cy="443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3" name="Google Shape;2993;p139"/>
          <p:cNvSpPr/>
          <p:nvPr/>
        </p:nvSpPr>
        <p:spPr>
          <a:xfrm>
            <a:off x="6091824" y="1571004"/>
            <a:ext cx="4251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139"/>
          <p:cNvSpPr/>
          <p:nvPr/>
        </p:nvSpPr>
        <p:spPr>
          <a:xfrm>
            <a:off x="6169488" y="1691995"/>
            <a:ext cx="269700" cy="360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95" name="Google Shape;2995;p139"/>
          <p:cNvCxnSpPr>
            <a:stCxn id="2982" idx="3"/>
            <a:endCxn id="2993" idx="0"/>
          </p:cNvCxnSpPr>
          <p:nvPr/>
        </p:nvCxnSpPr>
        <p:spPr>
          <a:xfrm>
            <a:off x="3241825" y="966026"/>
            <a:ext cx="3062400" cy="605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6" name="Google Shape;2996;p139"/>
          <p:cNvCxnSpPr>
            <a:stCxn id="2993" idx="3"/>
            <a:endCxn id="2979" idx="0"/>
          </p:cNvCxnSpPr>
          <p:nvPr/>
        </p:nvCxnSpPr>
        <p:spPr>
          <a:xfrm>
            <a:off x="6516924" y="1872504"/>
            <a:ext cx="156300" cy="949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7" name="Google Shape;2997;p139"/>
          <p:cNvSpPr txBox="1"/>
          <p:nvPr/>
        </p:nvSpPr>
        <p:spPr>
          <a:xfrm>
            <a:off x="51399" y="1483598"/>
            <a:ext cx="12873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Raw Materials/Packing materials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98" name="Google Shape;2998;p139"/>
          <p:cNvSpPr txBox="1"/>
          <p:nvPr/>
        </p:nvSpPr>
        <p:spPr>
          <a:xfrm>
            <a:off x="209624" y="3814619"/>
            <a:ext cx="12873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Finished/Semi-Finished Materials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2999" name="Google Shape;2999;p139"/>
          <p:cNvCxnSpPr>
            <a:stCxn id="2968" idx="0"/>
            <a:endCxn id="2963" idx="1"/>
          </p:cNvCxnSpPr>
          <p:nvPr/>
        </p:nvCxnSpPr>
        <p:spPr>
          <a:xfrm rot="-5400000">
            <a:off x="1453349" y="2999590"/>
            <a:ext cx="480600" cy="49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0" name="Google Shape;3000;p139"/>
          <p:cNvCxnSpPr>
            <a:stCxn id="2977" idx="2"/>
            <a:endCxn id="2968" idx="1"/>
          </p:cNvCxnSpPr>
          <p:nvPr/>
        </p:nvCxnSpPr>
        <p:spPr>
          <a:xfrm flipH="1" rot="-5400000">
            <a:off x="867537" y="3470334"/>
            <a:ext cx="304200" cy="33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1" name="Google Shape;3001;p139"/>
          <p:cNvCxnSpPr>
            <a:stCxn id="2966" idx="6"/>
            <a:endCxn id="2977" idx="1"/>
          </p:cNvCxnSpPr>
          <p:nvPr/>
        </p:nvCxnSpPr>
        <p:spPr>
          <a:xfrm>
            <a:off x="520500" y="3183214"/>
            <a:ext cx="7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02" name="Google Shape;3002;p139"/>
          <p:cNvSpPr/>
          <p:nvPr/>
        </p:nvSpPr>
        <p:spPr>
          <a:xfrm>
            <a:off x="4002675" y="734476"/>
            <a:ext cx="999300" cy="4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Classification View </a:t>
            </a:r>
            <a:endParaRPr sz="900"/>
          </a:p>
        </p:txBody>
      </p:sp>
      <p:sp>
        <p:nvSpPr>
          <p:cNvPr id="2965" name="Google Shape;2965;p139"/>
          <p:cNvSpPr/>
          <p:nvPr/>
        </p:nvSpPr>
        <p:spPr>
          <a:xfrm>
            <a:off x="3648113" y="2766589"/>
            <a:ext cx="999300" cy="4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Classification View </a:t>
            </a:r>
            <a:endParaRPr sz="900"/>
          </a:p>
        </p:txBody>
      </p:sp>
      <p:sp>
        <p:nvSpPr>
          <p:cNvPr id="3003" name="Google Shape;3003;p139"/>
          <p:cNvSpPr/>
          <p:nvPr/>
        </p:nvSpPr>
        <p:spPr>
          <a:xfrm>
            <a:off x="4002675" y="1139936"/>
            <a:ext cx="1161900" cy="222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Material </a:t>
            </a:r>
            <a:endParaRPr sz="1000"/>
          </a:p>
        </p:txBody>
      </p:sp>
      <p:sp>
        <p:nvSpPr>
          <p:cNvPr id="3004" name="Google Shape;3004;p139"/>
          <p:cNvSpPr/>
          <p:nvPr/>
        </p:nvSpPr>
        <p:spPr>
          <a:xfrm>
            <a:off x="3173150" y="2523016"/>
            <a:ext cx="1161900" cy="222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</a:t>
            </a:r>
            <a:r>
              <a:rPr lang="en" sz="1000"/>
              <a:t>Material </a:t>
            </a:r>
            <a:endParaRPr sz="1000"/>
          </a:p>
        </p:txBody>
      </p:sp>
      <p:sp>
        <p:nvSpPr>
          <p:cNvPr id="3005" name="Google Shape;3005;p139"/>
          <p:cNvSpPr/>
          <p:nvPr/>
        </p:nvSpPr>
        <p:spPr>
          <a:xfrm>
            <a:off x="3603075" y="3246724"/>
            <a:ext cx="1161900" cy="222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Material </a:t>
            </a:r>
            <a:endParaRPr sz="1000"/>
          </a:p>
        </p:txBody>
      </p:sp>
      <p:sp>
        <p:nvSpPr>
          <p:cNvPr id="3006" name="Google Shape;3006;p139"/>
          <p:cNvSpPr/>
          <p:nvPr/>
        </p:nvSpPr>
        <p:spPr>
          <a:xfrm>
            <a:off x="6091824" y="3536554"/>
            <a:ext cx="4251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p139"/>
          <p:cNvSpPr/>
          <p:nvPr/>
        </p:nvSpPr>
        <p:spPr>
          <a:xfrm>
            <a:off x="6169488" y="3657545"/>
            <a:ext cx="269700" cy="3609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08" name="Google Shape;3008;p139"/>
          <p:cNvCxnSpPr>
            <a:stCxn id="2965" idx="3"/>
            <a:endCxn id="3006" idx="0"/>
          </p:cNvCxnSpPr>
          <p:nvPr/>
        </p:nvCxnSpPr>
        <p:spPr>
          <a:xfrm>
            <a:off x="4647413" y="3006739"/>
            <a:ext cx="1656900" cy="529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9" name="Google Shape;3009;p139"/>
          <p:cNvCxnSpPr>
            <a:stCxn id="3006" idx="3"/>
            <a:endCxn id="2979" idx="2"/>
          </p:cNvCxnSpPr>
          <p:nvPr/>
        </p:nvCxnSpPr>
        <p:spPr>
          <a:xfrm flipH="1" rot="10800000">
            <a:off x="6516924" y="3425254"/>
            <a:ext cx="156300" cy="412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6" name="Google Shape;2986;p139"/>
          <p:cNvSpPr/>
          <p:nvPr/>
        </p:nvSpPr>
        <p:spPr>
          <a:xfrm>
            <a:off x="2676974" y="1679554"/>
            <a:ext cx="4251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139"/>
          <p:cNvSpPr/>
          <p:nvPr/>
        </p:nvSpPr>
        <p:spPr>
          <a:xfrm>
            <a:off x="4406124" y="1713754"/>
            <a:ext cx="4251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p139"/>
          <p:cNvSpPr/>
          <p:nvPr/>
        </p:nvSpPr>
        <p:spPr>
          <a:xfrm>
            <a:off x="2782125" y="1855200"/>
            <a:ext cx="214800" cy="25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139"/>
          <p:cNvSpPr/>
          <p:nvPr/>
        </p:nvSpPr>
        <p:spPr>
          <a:xfrm>
            <a:off x="4511275" y="1889400"/>
            <a:ext cx="214800" cy="25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3" name="Google Shape;3013;p139"/>
          <p:cNvSpPr/>
          <p:nvPr/>
        </p:nvSpPr>
        <p:spPr>
          <a:xfrm>
            <a:off x="3254450" y="2062739"/>
            <a:ext cx="999300" cy="4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Classification View</a:t>
            </a:r>
            <a:endParaRPr sz="900"/>
          </a:p>
        </p:txBody>
      </p:sp>
      <p:cxnSp>
        <p:nvCxnSpPr>
          <p:cNvPr id="3014" name="Google Shape;3014;p139"/>
          <p:cNvCxnSpPr>
            <a:stCxn id="2986" idx="2"/>
            <a:endCxn id="3013" idx="1"/>
          </p:cNvCxnSpPr>
          <p:nvPr/>
        </p:nvCxnSpPr>
        <p:spPr>
          <a:xfrm flipH="1" rot="-5400000">
            <a:off x="3061724" y="2110354"/>
            <a:ext cx="20400" cy="36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5" name="Google Shape;3015;p139"/>
          <p:cNvCxnSpPr>
            <a:stCxn id="2986" idx="0"/>
            <a:endCxn id="2960" idx="1"/>
          </p:cNvCxnSpPr>
          <p:nvPr/>
        </p:nvCxnSpPr>
        <p:spPr>
          <a:xfrm flipH="1" rot="-5400000">
            <a:off x="3057224" y="1511854"/>
            <a:ext cx="29400" cy="364800"/>
          </a:xfrm>
          <a:prstGeom prst="bentConnector4">
            <a:avLst>
              <a:gd fmla="val 19206" name="adj1"/>
              <a:gd fmla="val 7915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6" name="Google Shape;3016;p139"/>
          <p:cNvCxnSpPr>
            <a:stCxn id="3013" idx="3"/>
            <a:endCxn id="3010" idx="2"/>
          </p:cNvCxnSpPr>
          <p:nvPr/>
        </p:nvCxnSpPr>
        <p:spPr>
          <a:xfrm>
            <a:off x="4253750" y="2302889"/>
            <a:ext cx="364800" cy="13800"/>
          </a:xfrm>
          <a:prstGeom prst="bentConnector4">
            <a:avLst>
              <a:gd fmla="val 34615" name="adj1"/>
              <a:gd fmla="val -499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7" name="Google Shape;3017;p139"/>
          <p:cNvCxnSpPr>
            <a:stCxn id="2960" idx="3"/>
            <a:endCxn id="3010" idx="0"/>
          </p:cNvCxnSpPr>
          <p:nvPr/>
        </p:nvCxnSpPr>
        <p:spPr>
          <a:xfrm>
            <a:off x="4253750" y="1708916"/>
            <a:ext cx="364800" cy="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8" name="Google Shape;3018;p139"/>
          <p:cNvCxnSpPr>
            <a:stCxn id="3010" idx="3"/>
            <a:endCxn id="2993" idx="2"/>
          </p:cNvCxnSpPr>
          <p:nvPr/>
        </p:nvCxnSpPr>
        <p:spPr>
          <a:xfrm>
            <a:off x="4831224" y="2015254"/>
            <a:ext cx="1473300" cy="158700"/>
          </a:xfrm>
          <a:prstGeom prst="bentConnector4">
            <a:avLst>
              <a:gd fmla="val 42782" name="adj1"/>
              <a:gd fmla="val 15117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9" name="Google Shape;3019;p139"/>
          <p:cNvSpPr/>
          <p:nvPr/>
        </p:nvSpPr>
        <p:spPr>
          <a:xfrm>
            <a:off x="3399538" y="3743441"/>
            <a:ext cx="999300" cy="4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Basic views</a:t>
            </a:r>
            <a:endParaRPr sz="900"/>
          </a:p>
        </p:txBody>
      </p:sp>
      <p:sp>
        <p:nvSpPr>
          <p:cNvPr id="3020" name="Google Shape;3020;p139"/>
          <p:cNvSpPr/>
          <p:nvPr/>
        </p:nvSpPr>
        <p:spPr>
          <a:xfrm>
            <a:off x="3352213" y="3610379"/>
            <a:ext cx="1161900" cy="222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</a:t>
            </a:r>
            <a:r>
              <a:rPr lang="en" sz="1000"/>
              <a:t>Material </a:t>
            </a:r>
            <a:endParaRPr sz="1000"/>
          </a:p>
        </p:txBody>
      </p:sp>
      <p:sp>
        <p:nvSpPr>
          <p:cNvPr id="3021" name="Google Shape;3021;p139"/>
          <p:cNvSpPr/>
          <p:nvPr/>
        </p:nvSpPr>
        <p:spPr>
          <a:xfrm>
            <a:off x="3318238" y="4797691"/>
            <a:ext cx="1161900" cy="2229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</a:t>
            </a:r>
            <a:r>
              <a:rPr lang="en" sz="1000"/>
              <a:t>Material </a:t>
            </a:r>
            <a:endParaRPr sz="1000"/>
          </a:p>
        </p:txBody>
      </p:sp>
      <p:sp>
        <p:nvSpPr>
          <p:cNvPr id="2971" name="Google Shape;2971;p139"/>
          <p:cNvSpPr/>
          <p:nvPr/>
        </p:nvSpPr>
        <p:spPr>
          <a:xfrm>
            <a:off x="2822061" y="3954229"/>
            <a:ext cx="4251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p139"/>
          <p:cNvSpPr/>
          <p:nvPr/>
        </p:nvSpPr>
        <p:spPr>
          <a:xfrm>
            <a:off x="4551211" y="3988429"/>
            <a:ext cx="425100" cy="603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3" name="Google Shape;3023;p139"/>
          <p:cNvSpPr/>
          <p:nvPr/>
        </p:nvSpPr>
        <p:spPr>
          <a:xfrm>
            <a:off x="2927213" y="4129875"/>
            <a:ext cx="214800" cy="25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p139"/>
          <p:cNvSpPr/>
          <p:nvPr/>
        </p:nvSpPr>
        <p:spPr>
          <a:xfrm>
            <a:off x="4656363" y="4164075"/>
            <a:ext cx="214800" cy="25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5" name="Google Shape;3025;p139"/>
          <p:cNvSpPr/>
          <p:nvPr/>
        </p:nvSpPr>
        <p:spPr>
          <a:xfrm>
            <a:off x="3399538" y="4337414"/>
            <a:ext cx="999300" cy="4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Update Classification View</a:t>
            </a:r>
            <a:endParaRPr sz="900"/>
          </a:p>
        </p:txBody>
      </p:sp>
      <p:cxnSp>
        <p:nvCxnSpPr>
          <p:cNvPr id="3026" name="Google Shape;3026;p139"/>
          <p:cNvCxnSpPr>
            <a:stCxn id="2971" idx="2"/>
            <a:endCxn id="3025" idx="1"/>
          </p:cNvCxnSpPr>
          <p:nvPr/>
        </p:nvCxnSpPr>
        <p:spPr>
          <a:xfrm flipH="1" rot="-5400000">
            <a:off x="3206811" y="4385029"/>
            <a:ext cx="20400" cy="36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7" name="Google Shape;3027;p139"/>
          <p:cNvCxnSpPr>
            <a:stCxn id="2971" idx="0"/>
            <a:endCxn id="3019" idx="1"/>
          </p:cNvCxnSpPr>
          <p:nvPr/>
        </p:nvCxnSpPr>
        <p:spPr>
          <a:xfrm flipH="1" rot="-5400000">
            <a:off x="3202311" y="3786529"/>
            <a:ext cx="29400" cy="364800"/>
          </a:xfrm>
          <a:prstGeom prst="bentConnector4">
            <a:avLst>
              <a:gd fmla="val -809949" name="adj1"/>
              <a:gd fmla="val 7915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8" name="Google Shape;3028;p139"/>
          <p:cNvCxnSpPr>
            <a:stCxn id="3025" idx="3"/>
            <a:endCxn id="3022" idx="2"/>
          </p:cNvCxnSpPr>
          <p:nvPr/>
        </p:nvCxnSpPr>
        <p:spPr>
          <a:xfrm>
            <a:off x="4398838" y="4577564"/>
            <a:ext cx="364800" cy="13800"/>
          </a:xfrm>
          <a:prstGeom prst="bentConnector4">
            <a:avLst>
              <a:gd fmla="val 20885" name="adj1"/>
              <a:gd fmla="val 182601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9" name="Google Shape;3029;p139"/>
          <p:cNvCxnSpPr>
            <a:stCxn id="3019" idx="3"/>
            <a:endCxn id="3022" idx="0"/>
          </p:cNvCxnSpPr>
          <p:nvPr/>
        </p:nvCxnSpPr>
        <p:spPr>
          <a:xfrm>
            <a:off x="4398838" y="3983591"/>
            <a:ext cx="364800" cy="4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0" name="Google Shape;3030;p139"/>
          <p:cNvCxnSpPr>
            <a:stCxn id="3022" idx="3"/>
            <a:endCxn id="3006" idx="2"/>
          </p:cNvCxnSpPr>
          <p:nvPr/>
        </p:nvCxnSpPr>
        <p:spPr>
          <a:xfrm flipH="1" rot="10800000">
            <a:off x="4976311" y="4139629"/>
            <a:ext cx="1328100" cy="150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1" name="Google Shape;3031;p139"/>
          <p:cNvSpPr/>
          <p:nvPr/>
        </p:nvSpPr>
        <p:spPr>
          <a:xfrm>
            <a:off x="6816975" y="2535788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 master</a:t>
            </a:r>
            <a:endParaRPr sz="1000"/>
          </a:p>
        </p:txBody>
      </p:sp>
      <p:sp>
        <p:nvSpPr>
          <p:cNvPr id="3032" name="Google Shape;3032;p13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3033" name="Google Shape;3033;p139"/>
          <p:cNvSpPr/>
          <p:nvPr/>
        </p:nvSpPr>
        <p:spPr>
          <a:xfrm>
            <a:off x="7775047" y="2852800"/>
            <a:ext cx="585600" cy="5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send data to MES (libra)  </a:t>
            </a:r>
            <a:endParaRPr sz="700"/>
          </a:p>
        </p:txBody>
      </p:sp>
      <p:sp>
        <p:nvSpPr>
          <p:cNvPr id="3034" name="Google Shape;3034;p139"/>
          <p:cNvSpPr/>
          <p:nvPr/>
        </p:nvSpPr>
        <p:spPr>
          <a:xfrm>
            <a:off x="6834825" y="409545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confirmed which MES System: ask Ninad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8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140"/>
          <p:cNvSpPr txBox="1"/>
          <p:nvPr>
            <p:ph type="title"/>
          </p:nvPr>
        </p:nvSpPr>
        <p:spPr>
          <a:xfrm>
            <a:off x="0" y="-112175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2"/>
              <a:t>M-160-010:</a:t>
            </a:r>
            <a:r>
              <a:rPr lang="en" sz="2912"/>
              <a:t> </a:t>
            </a:r>
            <a:r>
              <a:rPr lang="en" sz="968">
                <a:solidFill>
                  <a:schemeClr val="dk2"/>
                </a:solidFill>
              </a:rPr>
              <a:t>Process  BOM</a:t>
            </a:r>
            <a:endParaRPr sz="96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968"/>
              <a:t>Role = BOM Engineer</a:t>
            </a:r>
            <a:endParaRPr sz="96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968">
                <a:highlight>
                  <a:srgbClr val="CC0000"/>
                </a:highlight>
              </a:rPr>
              <a:t>App: Maintain bill of material or create/change bill of material</a:t>
            </a:r>
            <a:endParaRPr sz="968">
              <a:highlight>
                <a:srgbClr val="CC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968"/>
              <a:t>Solvay Role = enterprise data steward,  data domain lead/ data governance lead</a:t>
            </a:r>
            <a:endParaRPr sz="96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968">
              <a:highlight>
                <a:srgbClr val="CC0000"/>
              </a:highlight>
            </a:endParaRPr>
          </a:p>
        </p:txBody>
      </p:sp>
      <p:sp>
        <p:nvSpPr>
          <p:cNvPr id="3040" name="Google Shape;3040;p140"/>
          <p:cNvSpPr/>
          <p:nvPr/>
        </p:nvSpPr>
        <p:spPr>
          <a:xfrm>
            <a:off x="3006454" y="2586964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Header Information</a:t>
            </a:r>
            <a:endParaRPr sz="900"/>
          </a:p>
        </p:txBody>
      </p:sp>
      <p:sp>
        <p:nvSpPr>
          <p:cNvPr id="3041" name="Google Shape;3041;p140"/>
          <p:cNvSpPr/>
          <p:nvPr/>
        </p:nvSpPr>
        <p:spPr>
          <a:xfrm>
            <a:off x="4030329" y="2586964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components </a:t>
            </a:r>
            <a:endParaRPr sz="900"/>
          </a:p>
        </p:txBody>
      </p:sp>
      <p:sp>
        <p:nvSpPr>
          <p:cNvPr id="3042" name="Google Shape;3042;p140"/>
          <p:cNvSpPr/>
          <p:nvPr/>
        </p:nvSpPr>
        <p:spPr>
          <a:xfrm>
            <a:off x="5054204" y="2586964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components Information details</a:t>
            </a:r>
            <a:endParaRPr sz="900"/>
          </a:p>
        </p:txBody>
      </p:sp>
      <p:cxnSp>
        <p:nvCxnSpPr>
          <p:cNvPr id="3043" name="Google Shape;3043;p140"/>
          <p:cNvCxnSpPr>
            <a:stCxn id="3044" idx="6"/>
            <a:endCxn id="3040" idx="1"/>
          </p:cNvCxnSpPr>
          <p:nvPr/>
        </p:nvCxnSpPr>
        <p:spPr>
          <a:xfrm>
            <a:off x="716700" y="2920949"/>
            <a:ext cx="228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5" name="Google Shape;3045;p140"/>
          <p:cNvCxnSpPr>
            <a:stCxn id="3040" idx="3"/>
            <a:endCxn id="3041" idx="1"/>
          </p:cNvCxnSpPr>
          <p:nvPr/>
        </p:nvCxnSpPr>
        <p:spPr>
          <a:xfrm>
            <a:off x="3883954" y="2920864"/>
            <a:ext cx="14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6" name="Google Shape;3046;p140"/>
          <p:cNvCxnSpPr>
            <a:stCxn id="3041" idx="3"/>
            <a:endCxn id="3042" idx="1"/>
          </p:cNvCxnSpPr>
          <p:nvPr/>
        </p:nvCxnSpPr>
        <p:spPr>
          <a:xfrm>
            <a:off x="4907829" y="2920864"/>
            <a:ext cx="14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4" name="Google Shape;3044;p140"/>
          <p:cNvSpPr/>
          <p:nvPr/>
        </p:nvSpPr>
        <p:spPr>
          <a:xfrm>
            <a:off x="0" y="252959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</a:rPr>
              <a:t>Start: A BOM needs to be processed for inhouse produced or subcontracted material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3047" name="Google Shape;3047;p140"/>
          <p:cNvSpPr/>
          <p:nvPr/>
        </p:nvSpPr>
        <p:spPr>
          <a:xfrm>
            <a:off x="8450136" y="2586879"/>
            <a:ext cx="6483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bom has been processed for inhouse produced or subcontracted material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048" name="Google Shape;3048;p140"/>
          <p:cNvSpPr/>
          <p:nvPr/>
        </p:nvSpPr>
        <p:spPr>
          <a:xfrm>
            <a:off x="876788" y="25870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p140"/>
          <p:cNvSpPr/>
          <p:nvPr/>
        </p:nvSpPr>
        <p:spPr>
          <a:xfrm>
            <a:off x="983164" y="27210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50" name="Google Shape;3050;p140"/>
          <p:cNvCxnSpPr>
            <a:stCxn id="3044" idx="6"/>
            <a:endCxn id="3048" idx="1"/>
          </p:cNvCxnSpPr>
          <p:nvPr/>
        </p:nvCxnSpPr>
        <p:spPr>
          <a:xfrm>
            <a:off x="716700" y="292094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1" name="Google Shape;3051;p140"/>
          <p:cNvSpPr txBox="1"/>
          <p:nvPr/>
        </p:nvSpPr>
        <p:spPr>
          <a:xfrm>
            <a:off x="1398809" y="258703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052" name="Google Shape;3052;p140"/>
          <p:cNvSpPr/>
          <p:nvPr/>
        </p:nvSpPr>
        <p:spPr>
          <a:xfrm>
            <a:off x="3006454" y="16677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copy a bom</a:t>
            </a:r>
            <a:endParaRPr sz="900"/>
          </a:p>
        </p:txBody>
      </p:sp>
      <p:sp>
        <p:nvSpPr>
          <p:cNvPr id="3053" name="Google Shape;3053;p140"/>
          <p:cNvSpPr/>
          <p:nvPr/>
        </p:nvSpPr>
        <p:spPr>
          <a:xfrm>
            <a:off x="2082254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p140"/>
          <p:cNvSpPr/>
          <p:nvPr/>
        </p:nvSpPr>
        <p:spPr>
          <a:xfrm>
            <a:off x="2188629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140"/>
          <p:cNvSpPr txBox="1"/>
          <p:nvPr/>
        </p:nvSpPr>
        <p:spPr>
          <a:xfrm>
            <a:off x="2407299" y="252959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from start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056" name="Google Shape;3056;p140"/>
          <p:cNvSpPr txBox="1"/>
          <p:nvPr/>
        </p:nvSpPr>
        <p:spPr>
          <a:xfrm>
            <a:off x="2274855" y="163475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copy from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057" name="Google Shape;3057;p140"/>
          <p:cNvSpPr/>
          <p:nvPr/>
        </p:nvSpPr>
        <p:spPr>
          <a:xfrm>
            <a:off x="4030338" y="16677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adjustments to BOM components</a:t>
            </a:r>
            <a:endParaRPr sz="900"/>
          </a:p>
        </p:txBody>
      </p:sp>
      <p:cxnSp>
        <p:nvCxnSpPr>
          <p:cNvPr id="3058" name="Google Shape;3058;p140"/>
          <p:cNvCxnSpPr>
            <a:stCxn id="3055" idx="1"/>
            <a:endCxn id="3052" idx="1"/>
          </p:cNvCxnSpPr>
          <p:nvPr/>
        </p:nvCxnSpPr>
        <p:spPr>
          <a:xfrm flipH="1" rot="10800000">
            <a:off x="2407299" y="2001599"/>
            <a:ext cx="599100" cy="626700"/>
          </a:xfrm>
          <a:prstGeom prst="bentConnector3">
            <a:avLst>
              <a:gd fmla="val -437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59" name="Google Shape;3059;p140"/>
          <p:cNvCxnSpPr>
            <a:stCxn id="3052" idx="3"/>
            <a:endCxn id="3057" idx="1"/>
          </p:cNvCxnSpPr>
          <p:nvPr/>
        </p:nvCxnSpPr>
        <p:spPr>
          <a:xfrm>
            <a:off x="3883954" y="2001640"/>
            <a:ext cx="14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0" name="Google Shape;3060;p140"/>
          <p:cNvSpPr txBox="1"/>
          <p:nvPr/>
        </p:nvSpPr>
        <p:spPr>
          <a:xfrm>
            <a:off x="1154724" y="354066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061" name="Google Shape;3061;p140"/>
          <p:cNvSpPr/>
          <p:nvPr/>
        </p:nvSpPr>
        <p:spPr>
          <a:xfrm>
            <a:off x="3035658" y="3786748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changes to the bom</a:t>
            </a:r>
            <a:endParaRPr sz="900"/>
          </a:p>
        </p:txBody>
      </p:sp>
      <p:cxnSp>
        <p:nvCxnSpPr>
          <p:cNvPr id="3062" name="Google Shape;3062;p140"/>
          <p:cNvCxnSpPr>
            <a:stCxn id="3048" idx="2"/>
            <a:endCxn id="3061" idx="1"/>
          </p:cNvCxnSpPr>
          <p:nvPr/>
        </p:nvCxnSpPr>
        <p:spPr>
          <a:xfrm flipH="1" rot="-5400000">
            <a:off x="1668938" y="2753981"/>
            <a:ext cx="865800" cy="1867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3" name="Google Shape;3063;p140"/>
          <p:cNvCxnSpPr>
            <a:stCxn id="3057" idx="3"/>
            <a:endCxn id="3064" idx="0"/>
          </p:cNvCxnSpPr>
          <p:nvPr/>
        </p:nvCxnSpPr>
        <p:spPr>
          <a:xfrm>
            <a:off x="4907838" y="2001640"/>
            <a:ext cx="1445100" cy="585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4" name="Google Shape;3064;p140"/>
          <p:cNvSpPr/>
          <p:nvPr/>
        </p:nvSpPr>
        <p:spPr>
          <a:xfrm>
            <a:off x="6061663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140"/>
          <p:cNvSpPr/>
          <p:nvPr/>
        </p:nvSpPr>
        <p:spPr>
          <a:xfrm>
            <a:off x="6168039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140"/>
          <p:cNvSpPr/>
          <p:nvPr/>
        </p:nvSpPr>
        <p:spPr>
          <a:xfrm>
            <a:off x="6713785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140"/>
          <p:cNvSpPr/>
          <p:nvPr/>
        </p:nvSpPr>
        <p:spPr>
          <a:xfrm>
            <a:off x="6820160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68" name="Google Shape;3068;p140"/>
          <p:cNvCxnSpPr>
            <a:stCxn id="3042" idx="3"/>
            <a:endCxn id="3064" idx="1"/>
          </p:cNvCxnSpPr>
          <p:nvPr/>
        </p:nvCxnSpPr>
        <p:spPr>
          <a:xfrm>
            <a:off x="5931704" y="2920864"/>
            <a:ext cx="12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9" name="Google Shape;3069;p140"/>
          <p:cNvCxnSpPr>
            <a:stCxn id="3064" idx="3"/>
            <a:endCxn id="3066" idx="1"/>
          </p:cNvCxnSpPr>
          <p:nvPr/>
        </p:nvCxnSpPr>
        <p:spPr>
          <a:xfrm>
            <a:off x="6644263" y="2920823"/>
            <a:ext cx="6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0" name="Google Shape;3070;p140"/>
          <p:cNvCxnSpPr>
            <a:stCxn id="3061" idx="3"/>
            <a:endCxn id="3066" idx="2"/>
          </p:cNvCxnSpPr>
          <p:nvPr/>
        </p:nvCxnSpPr>
        <p:spPr>
          <a:xfrm flipH="1" rot="10800000">
            <a:off x="3913158" y="3254848"/>
            <a:ext cx="3091800" cy="865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1" name="Google Shape;3071;p140"/>
          <p:cNvCxnSpPr>
            <a:stCxn id="3066" idx="3"/>
            <a:endCxn id="3047" idx="2"/>
          </p:cNvCxnSpPr>
          <p:nvPr/>
        </p:nvCxnSpPr>
        <p:spPr>
          <a:xfrm>
            <a:off x="7296385" y="2920823"/>
            <a:ext cx="115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2" name="Google Shape;3072;p140"/>
          <p:cNvSpPr/>
          <p:nvPr/>
        </p:nvSpPr>
        <p:spPr>
          <a:xfrm>
            <a:off x="7381175" y="25717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the BOM</a:t>
            </a:r>
            <a:endParaRPr sz="900"/>
          </a:p>
        </p:txBody>
      </p:sp>
      <p:sp>
        <p:nvSpPr>
          <p:cNvPr id="3073" name="Google Shape;3073;p14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3074" name="Google Shape;3074;p140"/>
          <p:cNvSpPr/>
          <p:nvPr/>
        </p:nvSpPr>
        <p:spPr>
          <a:xfrm>
            <a:off x="6834825" y="409545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confirmed if interface is needed. Because part of the process order or planned order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p141"/>
          <p:cNvSpPr txBox="1"/>
          <p:nvPr>
            <p:ph type="title"/>
          </p:nvPr>
        </p:nvSpPr>
        <p:spPr>
          <a:xfrm>
            <a:off x="0" y="-213225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8433"/>
              <a:buNone/>
            </a:pPr>
            <a:r>
              <a:rPr lang="en" sz="1446"/>
              <a:t>M-160-020:</a:t>
            </a:r>
            <a:r>
              <a:rPr lang="en" sz="3346"/>
              <a:t> </a:t>
            </a:r>
            <a:r>
              <a:rPr lang="en" sz="1186">
                <a:solidFill>
                  <a:schemeClr val="dk2"/>
                </a:solidFill>
              </a:rPr>
              <a:t>Process resource</a:t>
            </a:r>
            <a:endParaRPr sz="11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3426"/>
              <a:buNone/>
            </a:pPr>
            <a:r>
              <a:rPr lang="en" sz="1186"/>
              <a:t>Role = </a:t>
            </a:r>
            <a:r>
              <a:rPr lang="en" sz="1186"/>
              <a:t>Production Engineering - Process Manufacturing</a:t>
            </a:r>
            <a:endParaRPr sz="11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3426"/>
              <a:buNone/>
            </a:pPr>
            <a:r>
              <a:rPr lang="en" sz="1186">
                <a:highlight>
                  <a:srgbClr val="CC0000"/>
                </a:highlight>
              </a:rPr>
              <a:t>App: manage resources or create/change resource</a:t>
            </a:r>
            <a:endParaRPr sz="1186">
              <a:highlight>
                <a:srgbClr val="CC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3426"/>
              <a:buNone/>
            </a:pPr>
            <a:r>
              <a:rPr lang="en" sz="1186"/>
              <a:t>Solvay Role = enterprise data steward,  data domain lead</a:t>
            </a:r>
            <a:endParaRPr sz="11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>
              <a:highlight>
                <a:srgbClr val="CC0000"/>
              </a:highlight>
            </a:endParaRPr>
          </a:p>
        </p:txBody>
      </p:sp>
      <p:sp>
        <p:nvSpPr>
          <p:cNvPr id="3080" name="Google Shape;3080;p141"/>
          <p:cNvSpPr/>
          <p:nvPr/>
        </p:nvSpPr>
        <p:spPr>
          <a:xfrm>
            <a:off x="3810924" y="2110050"/>
            <a:ext cx="104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Information for basic scheduling and capacity</a:t>
            </a:r>
            <a:endParaRPr sz="900"/>
          </a:p>
        </p:txBody>
      </p:sp>
      <p:cxnSp>
        <p:nvCxnSpPr>
          <p:cNvPr id="3081" name="Google Shape;3081;p141"/>
          <p:cNvCxnSpPr>
            <a:stCxn id="3082" idx="6"/>
            <a:endCxn id="3080" idx="1"/>
          </p:cNvCxnSpPr>
          <p:nvPr/>
        </p:nvCxnSpPr>
        <p:spPr>
          <a:xfrm flipH="1" rot="10800000">
            <a:off x="716700" y="2443874"/>
            <a:ext cx="30942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3" name="Google Shape;3083;p141"/>
          <p:cNvCxnSpPr>
            <a:stCxn id="3080" idx="3"/>
            <a:endCxn id="3084" idx="1"/>
          </p:cNvCxnSpPr>
          <p:nvPr/>
        </p:nvCxnSpPr>
        <p:spPr>
          <a:xfrm>
            <a:off x="4853724" y="2443950"/>
            <a:ext cx="120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2" name="Google Shape;3082;p141"/>
          <p:cNvSpPr/>
          <p:nvPr/>
        </p:nvSpPr>
        <p:spPr>
          <a:xfrm>
            <a:off x="0" y="2052824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resource needs to be processed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085" name="Google Shape;3085;p141"/>
          <p:cNvSpPr/>
          <p:nvPr/>
        </p:nvSpPr>
        <p:spPr>
          <a:xfrm>
            <a:off x="8450236" y="2117817"/>
            <a:ext cx="6483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resource has been processed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086" name="Google Shape;3086;p141"/>
          <p:cNvSpPr/>
          <p:nvPr/>
        </p:nvSpPr>
        <p:spPr>
          <a:xfrm>
            <a:off x="876788" y="211025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141"/>
          <p:cNvSpPr/>
          <p:nvPr/>
        </p:nvSpPr>
        <p:spPr>
          <a:xfrm>
            <a:off x="983164" y="224431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8" name="Google Shape;3088;p141"/>
          <p:cNvCxnSpPr>
            <a:stCxn id="3082" idx="6"/>
            <a:endCxn id="3086" idx="1"/>
          </p:cNvCxnSpPr>
          <p:nvPr/>
        </p:nvCxnSpPr>
        <p:spPr>
          <a:xfrm>
            <a:off x="716700" y="2444174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9" name="Google Shape;3089;p141"/>
          <p:cNvSpPr txBox="1"/>
          <p:nvPr/>
        </p:nvSpPr>
        <p:spPr>
          <a:xfrm>
            <a:off x="1398809" y="2110264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090" name="Google Shape;3090;p141"/>
          <p:cNvSpPr/>
          <p:nvPr/>
        </p:nvSpPr>
        <p:spPr>
          <a:xfrm>
            <a:off x="3006454" y="119096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copy a resource</a:t>
            </a:r>
            <a:endParaRPr sz="900"/>
          </a:p>
        </p:txBody>
      </p:sp>
      <p:sp>
        <p:nvSpPr>
          <p:cNvPr id="3091" name="Google Shape;3091;p141"/>
          <p:cNvSpPr/>
          <p:nvPr/>
        </p:nvSpPr>
        <p:spPr>
          <a:xfrm>
            <a:off x="1913979" y="211009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p141"/>
          <p:cNvSpPr/>
          <p:nvPr/>
        </p:nvSpPr>
        <p:spPr>
          <a:xfrm>
            <a:off x="2020354" y="224415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p141"/>
          <p:cNvSpPr txBox="1"/>
          <p:nvPr/>
        </p:nvSpPr>
        <p:spPr>
          <a:xfrm>
            <a:off x="2389962" y="2443874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from scratch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094" name="Google Shape;3094;p141"/>
          <p:cNvSpPr txBox="1"/>
          <p:nvPr/>
        </p:nvSpPr>
        <p:spPr>
          <a:xfrm>
            <a:off x="2274855" y="163475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copy from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095" name="Google Shape;3095;p141"/>
          <p:cNvSpPr/>
          <p:nvPr/>
        </p:nvSpPr>
        <p:spPr>
          <a:xfrm>
            <a:off x="4926663" y="119639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adjustments to resource</a:t>
            </a:r>
            <a:endParaRPr sz="900"/>
          </a:p>
        </p:txBody>
      </p:sp>
      <p:cxnSp>
        <p:nvCxnSpPr>
          <p:cNvPr id="3096" name="Google Shape;3096;p141"/>
          <p:cNvCxnSpPr>
            <a:stCxn id="3091" idx="0"/>
            <a:endCxn id="3090" idx="1"/>
          </p:cNvCxnSpPr>
          <p:nvPr/>
        </p:nvCxnSpPr>
        <p:spPr>
          <a:xfrm rot="-5400000">
            <a:off x="2313279" y="1416798"/>
            <a:ext cx="585300" cy="801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97" name="Google Shape;3097;p141"/>
          <p:cNvCxnSpPr>
            <a:stCxn id="3090" idx="3"/>
            <a:endCxn id="3095" idx="1"/>
          </p:cNvCxnSpPr>
          <p:nvPr/>
        </p:nvCxnSpPr>
        <p:spPr>
          <a:xfrm>
            <a:off x="3883954" y="1524865"/>
            <a:ext cx="10428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8" name="Google Shape;3098;p141"/>
          <p:cNvSpPr txBox="1"/>
          <p:nvPr/>
        </p:nvSpPr>
        <p:spPr>
          <a:xfrm>
            <a:off x="1154724" y="354066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099" name="Google Shape;3099;p141"/>
          <p:cNvSpPr/>
          <p:nvPr/>
        </p:nvSpPr>
        <p:spPr>
          <a:xfrm>
            <a:off x="3966608" y="3738048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changes to the resource</a:t>
            </a:r>
            <a:endParaRPr sz="900"/>
          </a:p>
        </p:txBody>
      </p:sp>
      <p:cxnSp>
        <p:nvCxnSpPr>
          <p:cNvPr id="3100" name="Google Shape;3100;p141"/>
          <p:cNvCxnSpPr>
            <a:stCxn id="3086" idx="2"/>
            <a:endCxn id="3099" idx="1"/>
          </p:cNvCxnSpPr>
          <p:nvPr/>
        </p:nvCxnSpPr>
        <p:spPr>
          <a:xfrm flipH="1" rot="-5400000">
            <a:off x="1920338" y="2025806"/>
            <a:ext cx="1293900" cy="2798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1" name="Google Shape;3101;p141"/>
          <p:cNvCxnSpPr>
            <a:stCxn id="3095" idx="3"/>
            <a:endCxn id="3084" idx="0"/>
          </p:cNvCxnSpPr>
          <p:nvPr/>
        </p:nvCxnSpPr>
        <p:spPr>
          <a:xfrm>
            <a:off x="5804163" y="1530290"/>
            <a:ext cx="548700" cy="579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4" name="Google Shape;3084;p141"/>
          <p:cNvSpPr/>
          <p:nvPr/>
        </p:nvSpPr>
        <p:spPr>
          <a:xfrm>
            <a:off x="6061663" y="211014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2" name="Google Shape;3102;p141"/>
          <p:cNvSpPr/>
          <p:nvPr/>
        </p:nvSpPr>
        <p:spPr>
          <a:xfrm>
            <a:off x="6168039" y="224420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p141"/>
          <p:cNvSpPr/>
          <p:nvPr/>
        </p:nvSpPr>
        <p:spPr>
          <a:xfrm>
            <a:off x="6713885" y="2117860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p141"/>
          <p:cNvSpPr/>
          <p:nvPr/>
        </p:nvSpPr>
        <p:spPr>
          <a:xfrm>
            <a:off x="6820260" y="2251917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5" name="Google Shape;3105;p141"/>
          <p:cNvCxnSpPr>
            <a:stCxn id="3084" idx="3"/>
            <a:endCxn id="3103" idx="1"/>
          </p:cNvCxnSpPr>
          <p:nvPr/>
        </p:nvCxnSpPr>
        <p:spPr>
          <a:xfrm>
            <a:off x="6644263" y="2444048"/>
            <a:ext cx="696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6" name="Google Shape;3106;p141"/>
          <p:cNvCxnSpPr>
            <a:stCxn id="3099" idx="3"/>
            <a:endCxn id="3103" idx="2"/>
          </p:cNvCxnSpPr>
          <p:nvPr/>
        </p:nvCxnSpPr>
        <p:spPr>
          <a:xfrm flipH="1" rot="10800000">
            <a:off x="4844108" y="2785548"/>
            <a:ext cx="2161200" cy="1286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7" name="Google Shape;3107;p141"/>
          <p:cNvCxnSpPr>
            <a:stCxn id="3103" idx="3"/>
            <a:endCxn id="3085" idx="2"/>
          </p:cNvCxnSpPr>
          <p:nvPr/>
        </p:nvCxnSpPr>
        <p:spPr>
          <a:xfrm>
            <a:off x="7296485" y="2451760"/>
            <a:ext cx="115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8" name="Google Shape;3108;p141"/>
          <p:cNvSpPr/>
          <p:nvPr/>
        </p:nvSpPr>
        <p:spPr>
          <a:xfrm>
            <a:off x="7381275" y="2102677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the resource</a:t>
            </a:r>
            <a:endParaRPr sz="900"/>
          </a:p>
        </p:txBody>
      </p:sp>
      <p:sp>
        <p:nvSpPr>
          <p:cNvPr id="3109" name="Google Shape;3109;p141"/>
          <p:cNvSpPr/>
          <p:nvPr/>
        </p:nvSpPr>
        <p:spPr>
          <a:xfrm>
            <a:off x="3833137" y="2889025"/>
            <a:ext cx="104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Information for costing</a:t>
            </a:r>
            <a:endParaRPr sz="900"/>
          </a:p>
        </p:txBody>
      </p:sp>
      <p:sp>
        <p:nvSpPr>
          <p:cNvPr id="3110" name="Google Shape;3110;p141"/>
          <p:cNvSpPr/>
          <p:nvPr/>
        </p:nvSpPr>
        <p:spPr>
          <a:xfrm>
            <a:off x="5847900" y="4205975"/>
            <a:ext cx="3296100" cy="939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If PPDS included, more details.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role for inputting costing information different than for the other tasks?</a:t>
            </a:r>
            <a:endParaRPr/>
          </a:p>
        </p:txBody>
      </p:sp>
      <p:sp>
        <p:nvSpPr>
          <p:cNvPr id="3111" name="Google Shape;3111;p141"/>
          <p:cNvSpPr/>
          <p:nvPr/>
        </p:nvSpPr>
        <p:spPr>
          <a:xfrm>
            <a:off x="2951154" y="211027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141"/>
          <p:cNvSpPr/>
          <p:nvPr/>
        </p:nvSpPr>
        <p:spPr>
          <a:xfrm>
            <a:off x="3045800" y="2244375"/>
            <a:ext cx="393300" cy="3996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141"/>
          <p:cNvSpPr/>
          <p:nvPr/>
        </p:nvSpPr>
        <p:spPr>
          <a:xfrm>
            <a:off x="5166404" y="211027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141"/>
          <p:cNvSpPr/>
          <p:nvPr/>
        </p:nvSpPr>
        <p:spPr>
          <a:xfrm>
            <a:off x="5261050" y="2244375"/>
            <a:ext cx="393300" cy="3996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5" name="Google Shape;3115;p141"/>
          <p:cNvCxnSpPr>
            <a:stCxn id="3111" idx="2"/>
            <a:endCxn id="3109" idx="1"/>
          </p:cNvCxnSpPr>
          <p:nvPr/>
        </p:nvCxnSpPr>
        <p:spPr>
          <a:xfrm flipH="1" rot="-5400000">
            <a:off x="3315354" y="2705173"/>
            <a:ext cx="444900" cy="590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6" name="Google Shape;3116;p141"/>
          <p:cNvCxnSpPr>
            <a:stCxn id="3109" idx="3"/>
            <a:endCxn id="3113" idx="2"/>
          </p:cNvCxnSpPr>
          <p:nvPr/>
        </p:nvCxnSpPr>
        <p:spPr>
          <a:xfrm flipH="1" rot="10800000">
            <a:off x="4875937" y="2778025"/>
            <a:ext cx="581700" cy="444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7" name="Google Shape;3117;p141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3118" name="Google Shape;3118;p141"/>
          <p:cNvSpPr/>
          <p:nvPr/>
        </p:nvSpPr>
        <p:spPr>
          <a:xfrm>
            <a:off x="6834825" y="409545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confirmed if interface is needed. Because part of the process order or planned order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2" name="Shape 3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" name="Google Shape;3123;p142"/>
          <p:cNvSpPr txBox="1"/>
          <p:nvPr>
            <p:ph type="title"/>
          </p:nvPr>
        </p:nvSpPr>
        <p:spPr>
          <a:xfrm>
            <a:off x="0" y="-19805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M-160-030: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Process Master Recipe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Production Engineering - Process Manufacturing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>
                <a:highlight>
                  <a:srgbClr val="CC0000"/>
                </a:highlight>
              </a:rPr>
              <a:t>App: manage master recipes &amp; create/change master recipe</a:t>
            </a:r>
            <a:endParaRPr sz="1520">
              <a:highlight>
                <a:srgbClr val="CC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131"/>
              <a:buFont typeface="Arial"/>
              <a:buNone/>
            </a:pPr>
            <a:r>
              <a:rPr lang="en" sz="1520"/>
              <a:t>Solvay Role = enterprise data steward, data domain lead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>
              <a:highlight>
                <a:srgbClr val="CC0000"/>
              </a:highlight>
            </a:endParaRPr>
          </a:p>
        </p:txBody>
      </p:sp>
      <p:sp>
        <p:nvSpPr>
          <p:cNvPr id="3124" name="Google Shape;3124;p142"/>
          <p:cNvSpPr/>
          <p:nvPr/>
        </p:nvSpPr>
        <p:spPr>
          <a:xfrm>
            <a:off x="2806316" y="25717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header Information</a:t>
            </a:r>
            <a:endParaRPr sz="900"/>
          </a:p>
        </p:txBody>
      </p:sp>
      <p:cxnSp>
        <p:nvCxnSpPr>
          <p:cNvPr id="3125" name="Google Shape;3125;p142"/>
          <p:cNvCxnSpPr>
            <a:stCxn id="3126" idx="6"/>
            <a:endCxn id="3124" idx="1"/>
          </p:cNvCxnSpPr>
          <p:nvPr/>
        </p:nvCxnSpPr>
        <p:spPr>
          <a:xfrm flipH="1" rot="10800000">
            <a:off x="716700" y="2905649"/>
            <a:ext cx="20895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7" name="Google Shape;3127;p142"/>
          <p:cNvCxnSpPr>
            <a:stCxn id="3124" idx="3"/>
            <a:endCxn id="3128" idx="1"/>
          </p:cNvCxnSpPr>
          <p:nvPr/>
        </p:nvCxnSpPr>
        <p:spPr>
          <a:xfrm>
            <a:off x="3683816" y="2905639"/>
            <a:ext cx="21393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6" name="Google Shape;3126;p142"/>
          <p:cNvSpPr/>
          <p:nvPr/>
        </p:nvSpPr>
        <p:spPr>
          <a:xfrm>
            <a:off x="0" y="252959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master recipe needs to be processed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129" name="Google Shape;3129;p142"/>
          <p:cNvSpPr/>
          <p:nvPr/>
        </p:nvSpPr>
        <p:spPr>
          <a:xfrm>
            <a:off x="8534002" y="2586875"/>
            <a:ext cx="5643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master recipe has been processed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130" name="Google Shape;3130;p142"/>
          <p:cNvSpPr/>
          <p:nvPr/>
        </p:nvSpPr>
        <p:spPr>
          <a:xfrm>
            <a:off x="876788" y="25870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p142"/>
          <p:cNvSpPr/>
          <p:nvPr/>
        </p:nvSpPr>
        <p:spPr>
          <a:xfrm>
            <a:off x="983164" y="27210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2" name="Google Shape;3132;p142"/>
          <p:cNvCxnSpPr>
            <a:stCxn id="3126" idx="6"/>
            <a:endCxn id="3130" idx="1"/>
          </p:cNvCxnSpPr>
          <p:nvPr/>
        </p:nvCxnSpPr>
        <p:spPr>
          <a:xfrm>
            <a:off x="716700" y="292094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33" name="Google Shape;3133;p142"/>
          <p:cNvSpPr txBox="1"/>
          <p:nvPr/>
        </p:nvSpPr>
        <p:spPr>
          <a:xfrm>
            <a:off x="1398809" y="258703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134" name="Google Shape;3134;p142"/>
          <p:cNvSpPr/>
          <p:nvPr/>
        </p:nvSpPr>
        <p:spPr>
          <a:xfrm>
            <a:off x="3006454" y="16677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copy a master recipe</a:t>
            </a:r>
            <a:endParaRPr sz="900"/>
          </a:p>
        </p:txBody>
      </p:sp>
      <p:sp>
        <p:nvSpPr>
          <p:cNvPr id="3135" name="Google Shape;3135;p142"/>
          <p:cNvSpPr/>
          <p:nvPr/>
        </p:nvSpPr>
        <p:spPr>
          <a:xfrm>
            <a:off x="2082254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6" name="Google Shape;3136;p142"/>
          <p:cNvSpPr/>
          <p:nvPr/>
        </p:nvSpPr>
        <p:spPr>
          <a:xfrm>
            <a:off x="2188629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7" name="Google Shape;3137;p142"/>
          <p:cNvSpPr txBox="1"/>
          <p:nvPr/>
        </p:nvSpPr>
        <p:spPr>
          <a:xfrm>
            <a:off x="2140987" y="331229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from scratch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138" name="Google Shape;3138;p142"/>
          <p:cNvSpPr txBox="1"/>
          <p:nvPr/>
        </p:nvSpPr>
        <p:spPr>
          <a:xfrm>
            <a:off x="2274855" y="163475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copy from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139" name="Google Shape;3139;p142"/>
          <p:cNvSpPr/>
          <p:nvPr/>
        </p:nvSpPr>
        <p:spPr>
          <a:xfrm>
            <a:off x="4679400" y="167316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adjustments to the operations</a:t>
            </a:r>
            <a:endParaRPr sz="900"/>
          </a:p>
        </p:txBody>
      </p:sp>
      <p:cxnSp>
        <p:nvCxnSpPr>
          <p:cNvPr id="3140" name="Google Shape;3140;p142"/>
          <p:cNvCxnSpPr>
            <a:stCxn id="3135" idx="0"/>
            <a:endCxn id="3134" idx="1"/>
          </p:cNvCxnSpPr>
          <p:nvPr/>
        </p:nvCxnSpPr>
        <p:spPr>
          <a:xfrm rot="-5400000">
            <a:off x="2397404" y="1977773"/>
            <a:ext cx="585300" cy="633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41" name="Google Shape;3141;p142"/>
          <p:cNvCxnSpPr>
            <a:stCxn id="3134" idx="3"/>
            <a:endCxn id="3139" idx="1"/>
          </p:cNvCxnSpPr>
          <p:nvPr/>
        </p:nvCxnSpPr>
        <p:spPr>
          <a:xfrm>
            <a:off x="3883954" y="2001640"/>
            <a:ext cx="7953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2" name="Google Shape;3142;p142"/>
          <p:cNvSpPr txBox="1"/>
          <p:nvPr/>
        </p:nvSpPr>
        <p:spPr>
          <a:xfrm>
            <a:off x="1154724" y="354066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143" name="Google Shape;3143;p142"/>
          <p:cNvSpPr/>
          <p:nvPr/>
        </p:nvSpPr>
        <p:spPr>
          <a:xfrm>
            <a:off x="3966608" y="3738048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changes to the master recipe</a:t>
            </a:r>
            <a:endParaRPr sz="900"/>
          </a:p>
        </p:txBody>
      </p:sp>
      <p:cxnSp>
        <p:nvCxnSpPr>
          <p:cNvPr id="3144" name="Google Shape;3144;p142"/>
          <p:cNvCxnSpPr>
            <a:stCxn id="3130" idx="2"/>
            <a:endCxn id="3143" idx="1"/>
          </p:cNvCxnSpPr>
          <p:nvPr/>
        </p:nvCxnSpPr>
        <p:spPr>
          <a:xfrm flipH="1" rot="-5400000">
            <a:off x="2158688" y="2264231"/>
            <a:ext cx="817200" cy="2798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5" name="Google Shape;3145;p142"/>
          <p:cNvCxnSpPr>
            <a:stCxn id="3146" idx="2"/>
            <a:endCxn id="3128" idx="0"/>
          </p:cNvCxnSpPr>
          <p:nvPr/>
        </p:nvCxnSpPr>
        <p:spPr>
          <a:xfrm flipH="1" rot="-5400000">
            <a:off x="5899169" y="2406025"/>
            <a:ext cx="217500" cy="1368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8" name="Google Shape;3128;p142"/>
          <p:cNvSpPr/>
          <p:nvPr/>
        </p:nvSpPr>
        <p:spPr>
          <a:xfrm>
            <a:off x="5823073" y="2583150"/>
            <a:ext cx="50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p142"/>
          <p:cNvSpPr/>
          <p:nvPr/>
        </p:nvSpPr>
        <p:spPr>
          <a:xfrm>
            <a:off x="5915590" y="2717207"/>
            <a:ext cx="321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8" name="Google Shape;3148;p142"/>
          <p:cNvSpPr/>
          <p:nvPr/>
        </p:nvSpPr>
        <p:spPr>
          <a:xfrm>
            <a:off x="7202550" y="2579400"/>
            <a:ext cx="458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p142"/>
          <p:cNvSpPr/>
          <p:nvPr/>
        </p:nvSpPr>
        <p:spPr>
          <a:xfrm>
            <a:off x="7286319" y="2713457"/>
            <a:ext cx="2910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50" name="Google Shape;3150;p142"/>
          <p:cNvCxnSpPr>
            <a:stCxn id="3151" idx="3"/>
            <a:endCxn id="3148" idx="1"/>
          </p:cNvCxnSpPr>
          <p:nvPr/>
        </p:nvCxnSpPr>
        <p:spPr>
          <a:xfrm flipH="1" rot="10800000">
            <a:off x="7082663" y="2913150"/>
            <a:ext cx="1200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2" name="Google Shape;3152;p142"/>
          <p:cNvCxnSpPr>
            <a:stCxn id="3143" idx="3"/>
            <a:endCxn id="3148" idx="2"/>
          </p:cNvCxnSpPr>
          <p:nvPr/>
        </p:nvCxnSpPr>
        <p:spPr>
          <a:xfrm flipH="1" rot="10800000">
            <a:off x="4844108" y="3247248"/>
            <a:ext cx="2587800" cy="82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3" name="Google Shape;3153;p142"/>
          <p:cNvCxnSpPr>
            <a:stCxn id="3148" idx="3"/>
            <a:endCxn id="3129" idx="2"/>
          </p:cNvCxnSpPr>
          <p:nvPr/>
        </p:nvCxnSpPr>
        <p:spPr>
          <a:xfrm>
            <a:off x="7661250" y="2913300"/>
            <a:ext cx="8727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4" name="Google Shape;3154;p142"/>
          <p:cNvSpPr/>
          <p:nvPr/>
        </p:nvSpPr>
        <p:spPr>
          <a:xfrm>
            <a:off x="7697800" y="2577450"/>
            <a:ext cx="716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the master recipe</a:t>
            </a:r>
            <a:endParaRPr sz="900"/>
          </a:p>
        </p:txBody>
      </p:sp>
      <p:sp>
        <p:nvSpPr>
          <p:cNvPr id="3155" name="Google Shape;3155;p142"/>
          <p:cNvSpPr/>
          <p:nvPr/>
        </p:nvSpPr>
        <p:spPr>
          <a:xfrm>
            <a:off x="3969004" y="166774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142"/>
          <p:cNvSpPr/>
          <p:nvPr/>
        </p:nvSpPr>
        <p:spPr>
          <a:xfrm rot="-2700000">
            <a:off x="4049857" y="1797785"/>
            <a:ext cx="420870" cy="407718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142"/>
          <p:cNvSpPr/>
          <p:nvPr/>
        </p:nvSpPr>
        <p:spPr>
          <a:xfrm>
            <a:off x="4679388" y="84206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adjustments to the materials</a:t>
            </a:r>
            <a:endParaRPr sz="900"/>
          </a:p>
        </p:txBody>
      </p:sp>
      <p:sp>
        <p:nvSpPr>
          <p:cNvPr id="3146" name="Google Shape;3146;p142"/>
          <p:cNvSpPr/>
          <p:nvPr/>
        </p:nvSpPr>
        <p:spPr>
          <a:xfrm>
            <a:off x="5686169" y="1697875"/>
            <a:ext cx="50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142"/>
          <p:cNvSpPr/>
          <p:nvPr/>
        </p:nvSpPr>
        <p:spPr>
          <a:xfrm rot="-2938683">
            <a:off x="5742346" y="1840710"/>
            <a:ext cx="394455" cy="382122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59" name="Google Shape;3159;p142"/>
          <p:cNvCxnSpPr>
            <a:stCxn id="3155" idx="0"/>
            <a:endCxn id="3157" idx="1"/>
          </p:cNvCxnSpPr>
          <p:nvPr/>
        </p:nvCxnSpPr>
        <p:spPr>
          <a:xfrm rot="-5400000">
            <a:off x="4224004" y="1212348"/>
            <a:ext cx="491700" cy="419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0" name="Google Shape;3160;p142"/>
          <p:cNvCxnSpPr>
            <a:stCxn id="3157" idx="3"/>
            <a:endCxn id="3146" idx="0"/>
          </p:cNvCxnSpPr>
          <p:nvPr/>
        </p:nvCxnSpPr>
        <p:spPr>
          <a:xfrm>
            <a:off x="5556888" y="1175965"/>
            <a:ext cx="382500" cy="522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1" name="Google Shape;3161;p142"/>
          <p:cNvSpPr/>
          <p:nvPr/>
        </p:nvSpPr>
        <p:spPr>
          <a:xfrm>
            <a:off x="3801741" y="25386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operations</a:t>
            </a:r>
            <a:endParaRPr sz="900"/>
          </a:p>
        </p:txBody>
      </p:sp>
      <p:sp>
        <p:nvSpPr>
          <p:cNvPr id="3162" name="Google Shape;3162;p142"/>
          <p:cNvSpPr/>
          <p:nvPr/>
        </p:nvSpPr>
        <p:spPr>
          <a:xfrm>
            <a:off x="4813241" y="25717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the BOMs </a:t>
            </a:r>
            <a:endParaRPr sz="900"/>
          </a:p>
        </p:txBody>
      </p:sp>
      <p:cxnSp>
        <p:nvCxnSpPr>
          <p:cNvPr id="3163" name="Google Shape;3163;p142"/>
          <p:cNvCxnSpPr>
            <a:stCxn id="3139" idx="3"/>
            <a:endCxn id="3146" idx="1"/>
          </p:cNvCxnSpPr>
          <p:nvPr/>
        </p:nvCxnSpPr>
        <p:spPr>
          <a:xfrm>
            <a:off x="5556900" y="2007065"/>
            <a:ext cx="1293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1" name="Google Shape;3151;p142"/>
          <p:cNvSpPr/>
          <p:nvPr/>
        </p:nvSpPr>
        <p:spPr>
          <a:xfrm>
            <a:off x="6449663" y="2587050"/>
            <a:ext cx="633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Create Production version</a:t>
            </a:r>
            <a:endParaRPr sz="800"/>
          </a:p>
        </p:txBody>
      </p:sp>
      <p:cxnSp>
        <p:nvCxnSpPr>
          <p:cNvPr id="3164" name="Google Shape;3164;p142"/>
          <p:cNvCxnSpPr>
            <a:stCxn id="3128" idx="3"/>
            <a:endCxn id="3151" idx="1"/>
          </p:cNvCxnSpPr>
          <p:nvPr/>
        </p:nvCxnSpPr>
        <p:spPr>
          <a:xfrm>
            <a:off x="6329773" y="2917050"/>
            <a:ext cx="1200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5" name="Google Shape;3165;p142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3166" name="Google Shape;3166;p142"/>
          <p:cNvSpPr/>
          <p:nvPr/>
        </p:nvSpPr>
        <p:spPr>
          <a:xfrm>
            <a:off x="6834825" y="409545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confirmed if interface is needed. Because part of the process order or planned order</a:t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0" name="Shape 3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1" name="Google Shape;3171;p14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M-160-040: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Process Production Version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Production Engineering - Process Manufacturing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131"/>
              <a:buFont typeface="Arial"/>
              <a:buNone/>
            </a:pPr>
            <a:r>
              <a:rPr lang="en" sz="1520"/>
              <a:t>Solvay Role = enterprise data steward,  data domain lead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/>
          </a:p>
        </p:txBody>
      </p:sp>
      <p:sp>
        <p:nvSpPr>
          <p:cNvPr id="3172" name="Google Shape;3172;p143"/>
          <p:cNvSpPr/>
          <p:nvPr/>
        </p:nvSpPr>
        <p:spPr>
          <a:xfrm>
            <a:off x="4048366" y="25870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Information</a:t>
            </a:r>
            <a:endParaRPr sz="900"/>
          </a:p>
        </p:txBody>
      </p:sp>
      <p:cxnSp>
        <p:nvCxnSpPr>
          <p:cNvPr id="3173" name="Google Shape;3173;p143"/>
          <p:cNvCxnSpPr>
            <a:stCxn id="3174" idx="6"/>
            <a:endCxn id="3172" idx="1"/>
          </p:cNvCxnSpPr>
          <p:nvPr/>
        </p:nvCxnSpPr>
        <p:spPr>
          <a:xfrm>
            <a:off x="716700" y="2920949"/>
            <a:ext cx="333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5" name="Google Shape;3175;p143"/>
          <p:cNvCxnSpPr>
            <a:stCxn id="3172" idx="3"/>
            <a:endCxn id="3176" idx="1"/>
          </p:cNvCxnSpPr>
          <p:nvPr/>
        </p:nvCxnSpPr>
        <p:spPr>
          <a:xfrm>
            <a:off x="4925866" y="2920939"/>
            <a:ext cx="70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4" name="Google Shape;3174;p143"/>
          <p:cNvSpPr/>
          <p:nvPr/>
        </p:nvSpPr>
        <p:spPr>
          <a:xfrm>
            <a:off x="0" y="252959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production Version needs to be processed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177" name="Google Shape;3177;p143"/>
          <p:cNvSpPr/>
          <p:nvPr/>
        </p:nvSpPr>
        <p:spPr>
          <a:xfrm>
            <a:off x="8330500" y="2529599"/>
            <a:ext cx="6483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End: production version has been processed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178" name="Google Shape;3178;p143"/>
          <p:cNvSpPr/>
          <p:nvPr/>
        </p:nvSpPr>
        <p:spPr>
          <a:xfrm>
            <a:off x="876788" y="25870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9" name="Google Shape;3179;p143"/>
          <p:cNvSpPr/>
          <p:nvPr/>
        </p:nvSpPr>
        <p:spPr>
          <a:xfrm>
            <a:off x="983164" y="27210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0" name="Google Shape;3180;p143"/>
          <p:cNvCxnSpPr>
            <a:stCxn id="3174" idx="6"/>
            <a:endCxn id="3178" idx="1"/>
          </p:cNvCxnSpPr>
          <p:nvPr/>
        </p:nvCxnSpPr>
        <p:spPr>
          <a:xfrm>
            <a:off x="716700" y="292094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1" name="Google Shape;3181;p143"/>
          <p:cNvSpPr txBox="1"/>
          <p:nvPr/>
        </p:nvSpPr>
        <p:spPr>
          <a:xfrm>
            <a:off x="1398809" y="258703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182" name="Google Shape;3182;p143"/>
          <p:cNvSpPr/>
          <p:nvPr/>
        </p:nvSpPr>
        <p:spPr>
          <a:xfrm>
            <a:off x="4048379" y="16347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Approve Production Version Proposal</a:t>
            </a:r>
            <a:endParaRPr sz="900"/>
          </a:p>
        </p:txBody>
      </p:sp>
      <p:sp>
        <p:nvSpPr>
          <p:cNvPr id="3183" name="Google Shape;3183;p143"/>
          <p:cNvSpPr/>
          <p:nvPr/>
        </p:nvSpPr>
        <p:spPr>
          <a:xfrm>
            <a:off x="2082254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4" name="Google Shape;3184;p143"/>
          <p:cNvSpPr/>
          <p:nvPr/>
        </p:nvSpPr>
        <p:spPr>
          <a:xfrm>
            <a:off x="2188629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5" name="Google Shape;3185;p143"/>
          <p:cNvSpPr txBox="1"/>
          <p:nvPr/>
        </p:nvSpPr>
        <p:spPr>
          <a:xfrm>
            <a:off x="2600937" y="292094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from scratch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186" name="Google Shape;3186;p143"/>
          <p:cNvSpPr txBox="1"/>
          <p:nvPr/>
        </p:nvSpPr>
        <p:spPr>
          <a:xfrm>
            <a:off x="2274855" y="163475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Production Version Proposal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3187" name="Google Shape;3187;p143"/>
          <p:cNvCxnSpPr>
            <a:stCxn id="3183" idx="0"/>
            <a:endCxn id="3182" idx="1"/>
          </p:cNvCxnSpPr>
          <p:nvPr/>
        </p:nvCxnSpPr>
        <p:spPr>
          <a:xfrm rot="-5400000">
            <a:off x="2901854" y="1440323"/>
            <a:ext cx="618300" cy="1674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88" name="Google Shape;3188;p143"/>
          <p:cNvSpPr txBox="1"/>
          <p:nvPr/>
        </p:nvSpPr>
        <p:spPr>
          <a:xfrm>
            <a:off x="1154724" y="354066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189" name="Google Shape;3189;p143"/>
          <p:cNvSpPr/>
          <p:nvPr/>
        </p:nvSpPr>
        <p:spPr>
          <a:xfrm>
            <a:off x="3966608" y="3738048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changes to the Production Version</a:t>
            </a:r>
            <a:endParaRPr sz="900"/>
          </a:p>
        </p:txBody>
      </p:sp>
      <p:cxnSp>
        <p:nvCxnSpPr>
          <p:cNvPr id="3190" name="Google Shape;3190;p143"/>
          <p:cNvCxnSpPr>
            <a:stCxn id="3178" idx="2"/>
            <a:endCxn id="3189" idx="1"/>
          </p:cNvCxnSpPr>
          <p:nvPr/>
        </p:nvCxnSpPr>
        <p:spPr>
          <a:xfrm flipH="1" rot="-5400000">
            <a:off x="2158688" y="2264231"/>
            <a:ext cx="817200" cy="2798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1" name="Google Shape;3191;p143"/>
          <p:cNvCxnSpPr>
            <a:stCxn id="3182" idx="3"/>
            <a:endCxn id="3176" idx="0"/>
          </p:cNvCxnSpPr>
          <p:nvPr/>
        </p:nvCxnSpPr>
        <p:spPr>
          <a:xfrm>
            <a:off x="4925879" y="1968640"/>
            <a:ext cx="998700" cy="618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6" name="Google Shape;3176;p143"/>
          <p:cNvSpPr/>
          <p:nvPr/>
        </p:nvSpPr>
        <p:spPr>
          <a:xfrm>
            <a:off x="5633238" y="258704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2" name="Google Shape;3192;p143"/>
          <p:cNvSpPr/>
          <p:nvPr/>
        </p:nvSpPr>
        <p:spPr>
          <a:xfrm>
            <a:off x="5739751" y="270585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p143"/>
          <p:cNvSpPr/>
          <p:nvPr/>
        </p:nvSpPr>
        <p:spPr>
          <a:xfrm>
            <a:off x="6396710" y="258704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4" name="Google Shape;3194;p143"/>
          <p:cNvSpPr/>
          <p:nvPr/>
        </p:nvSpPr>
        <p:spPr>
          <a:xfrm>
            <a:off x="6503085" y="272110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95" name="Google Shape;3195;p143"/>
          <p:cNvCxnSpPr>
            <a:stCxn id="3176" idx="3"/>
            <a:endCxn id="3193" idx="1"/>
          </p:cNvCxnSpPr>
          <p:nvPr/>
        </p:nvCxnSpPr>
        <p:spPr>
          <a:xfrm>
            <a:off x="6215838" y="2920948"/>
            <a:ext cx="18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6" name="Google Shape;3196;p143"/>
          <p:cNvCxnSpPr>
            <a:stCxn id="3189" idx="3"/>
            <a:endCxn id="3193" idx="2"/>
          </p:cNvCxnSpPr>
          <p:nvPr/>
        </p:nvCxnSpPr>
        <p:spPr>
          <a:xfrm flipH="1" rot="10800000">
            <a:off x="4844108" y="3254748"/>
            <a:ext cx="1843800" cy="81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7" name="Google Shape;3197;p143"/>
          <p:cNvCxnSpPr>
            <a:stCxn id="3193" idx="3"/>
            <a:endCxn id="3177" idx="2"/>
          </p:cNvCxnSpPr>
          <p:nvPr/>
        </p:nvCxnSpPr>
        <p:spPr>
          <a:xfrm>
            <a:off x="6979310" y="2920948"/>
            <a:ext cx="135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8" name="Google Shape;3198;p143"/>
          <p:cNvSpPr/>
          <p:nvPr/>
        </p:nvSpPr>
        <p:spPr>
          <a:xfrm>
            <a:off x="7102050" y="258686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the production version</a:t>
            </a:r>
            <a:endParaRPr sz="900"/>
          </a:p>
        </p:txBody>
      </p:sp>
      <p:sp>
        <p:nvSpPr>
          <p:cNvPr id="3199" name="Google Shape;3199;p143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200" name="Google Shape;3200;p143"/>
          <p:cNvSpPr/>
          <p:nvPr/>
        </p:nvSpPr>
        <p:spPr>
          <a:xfrm>
            <a:off x="3623075" y="4485025"/>
            <a:ext cx="1766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Production Versions &amp; C223</a:t>
            </a:r>
            <a:endParaRPr sz="1000"/>
          </a:p>
        </p:txBody>
      </p:sp>
      <p:sp>
        <p:nvSpPr>
          <p:cNvPr id="3201" name="Google Shape;3201;p143"/>
          <p:cNvSpPr/>
          <p:nvPr/>
        </p:nvSpPr>
        <p:spPr>
          <a:xfrm>
            <a:off x="3623075" y="3287150"/>
            <a:ext cx="1766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Production Versions &amp; C223</a:t>
            </a:r>
            <a:endParaRPr sz="1000"/>
          </a:p>
        </p:txBody>
      </p:sp>
      <p:sp>
        <p:nvSpPr>
          <p:cNvPr id="3202" name="Google Shape;3202;p143"/>
          <p:cNvSpPr/>
          <p:nvPr/>
        </p:nvSpPr>
        <p:spPr>
          <a:xfrm>
            <a:off x="2899475" y="1319700"/>
            <a:ext cx="2555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Process Production Versions</a:t>
            </a:r>
            <a:endParaRPr sz="1000"/>
          </a:p>
        </p:txBody>
      </p:sp>
      <p:sp>
        <p:nvSpPr>
          <p:cNvPr id="3203" name="Google Shape;3203;p143"/>
          <p:cNvSpPr/>
          <p:nvPr/>
        </p:nvSpPr>
        <p:spPr>
          <a:xfrm>
            <a:off x="2899479" y="167316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Review Production Version Proposal</a:t>
            </a:r>
            <a:endParaRPr sz="900"/>
          </a:p>
        </p:txBody>
      </p:sp>
      <p:sp>
        <p:nvSpPr>
          <p:cNvPr id="3204" name="Google Shape;3204;p143"/>
          <p:cNvSpPr/>
          <p:nvPr/>
        </p:nvSpPr>
        <p:spPr>
          <a:xfrm>
            <a:off x="6821200" y="3352950"/>
            <a:ext cx="1766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Production Versions &amp; C223</a:t>
            </a:r>
            <a:endParaRPr sz="1000"/>
          </a:p>
        </p:txBody>
      </p:sp>
      <p:sp>
        <p:nvSpPr>
          <p:cNvPr id="3205" name="Google Shape;3205;p14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  <p:sp>
        <p:nvSpPr>
          <p:cNvPr id="3206" name="Google Shape;3206;p143"/>
          <p:cNvSpPr/>
          <p:nvPr/>
        </p:nvSpPr>
        <p:spPr>
          <a:xfrm>
            <a:off x="6834825" y="4095450"/>
            <a:ext cx="2325900" cy="1023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confirmed if interface is needed. Because part of the process order or planned order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144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M-160-060: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Authorize Change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Role = /</a:t>
            </a:r>
            <a:endParaRPr sz="1520"/>
          </a:p>
        </p:txBody>
      </p:sp>
      <p:sp>
        <p:nvSpPr>
          <p:cNvPr id="3212" name="Google Shape;3212;p144"/>
          <p:cNvSpPr/>
          <p:nvPr/>
        </p:nvSpPr>
        <p:spPr>
          <a:xfrm>
            <a:off x="1944991" y="200368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Change Status to Approved</a:t>
            </a:r>
            <a:endParaRPr sz="900"/>
          </a:p>
        </p:txBody>
      </p:sp>
      <p:sp>
        <p:nvSpPr>
          <p:cNvPr id="3213" name="Google Shape;3213;p144"/>
          <p:cNvSpPr/>
          <p:nvPr/>
        </p:nvSpPr>
        <p:spPr>
          <a:xfrm>
            <a:off x="126575" y="257174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needs to authorize change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214" name="Google Shape;3214;p144"/>
          <p:cNvSpPr/>
          <p:nvPr/>
        </p:nvSpPr>
        <p:spPr>
          <a:xfrm>
            <a:off x="6220025" y="1946249"/>
            <a:ext cx="6483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End: Authorization granted</a:t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3215" name="Google Shape;3215;p144"/>
          <p:cNvCxnSpPr>
            <a:stCxn id="3213" idx="6"/>
            <a:endCxn id="3216" idx="1"/>
          </p:cNvCxnSpPr>
          <p:nvPr/>
        </p:nvCxnSpPr>
        <p:spPr>
          <a:xfrm>
            <a:off x="843275" y="296309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7" name="Google Shape;3217;p144"/>
          <p:cNvCxnSpPr>
            <a:stCxn id="3212" idx="3"/>
            <a:endCxn id="3214" idx="2"/>
          </p:cNvCxnSpPr>
          <p:nvPr/>
        </p:nvCxnSpPr>
        <p:spPr>
          <a:xfrm>
            <a:off x="2822491" y="2337589"/>
            <a:ext cx="339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8" name="Google Shape;3218;p144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219" name="Google Shape;3219;p144"/>
          <p:cNvSpPr/>
          <p:nvPr/>
        </p:nvSpPr>
        <p:spPr>
          <a:xfrm>
            <a:off x="1003463" y="2629206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0" name="Google Shape;3220;p144"/>
          <p:cNvSpPr/>
          <p:nvPr/>
        </p:nvSpPr>
        <p:spPr>
          <a:xfrm>
            <a:off x="1109839" y="2763263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1" name="Google Shape;3221;p144"/>
          <p:cNvSpPr/>
          <p:nvPr/>
        </p:nvSpPr>
        <p:spPr>
          <a:xfrm>
            <a:off x="3886666" y="200368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Change in progress</a:t>
            </a:r>
            <a:endParaRPr sz="900"/>
          </a:p>
        </p:txBody>
      </p:sp>
      <p:sp>
        <p:nvSpPr>
          <p:cNvPr id="3222" name="Google Shape;3222;p144"/>
          <p:cNvSpPr/>
          <p:nvPr/>
        </p:nvSpPr>
        <p:spPr>
          <a:xfrm>
            <a:off x="1944991" y="3162864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Change Status to Rejected</a:t>
            </a:r>
            <a:endParaRPr sz="900"/>
          </a:p>
        </p:txBody>
      </p:sp>
      <p:sp>
        <p:nvSpPr>
          <p:cNvPr id="3223" name="Google Shape;3223;p144"/>
          <p:cNvSpPr/>
          <p:nvPr/>
        </p:nvSpPr>
        <p:spPr>
          <a:xfrm>
            <a:off x="3556600" y="3105424"/>
            <a:ext cx="6483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End: Authorization rejected</a:t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3224" name="Google Shape;3224;p144"/>
          <p:cNvCxnSpPr>
            <a:stCxn id="3219" idx="0"/>
            <a:endCxn id="3212" idx="1"/>
          </p:cNvCxnSpPr>
          <p:nvPr/>
        </p:nvCxnSpPr>
        <p:spPr>
          <a:xfrm rot="-5400000">
            <a:off x="1474013" y="2158356"/>
            <a:ext cx="291600" cy="650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5" name="Google Shape;3225;p144"/>
          <p:cNvCxnSpPr>
            <a:stCxn id="3219" idx="2"/>
            <a:endCxn id="3222" idx="1"/>
          </p:cNvCxnSpPr>
          <p:nvPr/>
        </p:nvCxnSpPr>
        <p:spPr>
          <a:xfrm flipH="1" rot="-5400000">
            <a:off x="1519913" y="3071856"/>
            <a:ext cx="199800" cy="650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6" name="Google Shape;3226;p144"/>
          <p:cNvCxnSpPr>
            <a:stCxn id="3222" idx="3"/>
            <a:endCxn id="3223" idx="2"/>
          </p:cNvCxnSpPr>
          <p:nvPr/>
        </p:nvCxnSpPr>
        <p:spPr>
          <a:xfrm>
            <a:off x="2822491" y="3496764"/>
            <a:ext cx="7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7" name="Google Shape;3227;p144"/>
          <p:cNvSpPr/>
          <p:nvPr/>
        </p:nvSpPr>
        <p:spPr>
          <a:xfrm>
            <a:off x="1778400" y="38306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Change Records</a:t>
            </a:r>
            <a:endParaRPr sz="1000"/>
          </a:p>
        </p:txBody>
      </p:sp>
      <p:sp>
        <p:nvSpPr>
          <p:cNvPr id="3228" name="Google Shape;3228;p144"/>
          <p:cNvSpPr/>
          <p:nvPr/>
        </p:nvSpPr>
        <p:spPr>
          <a:xfrm>
            <a:off x="1778400" y="17520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Change Records</a:t>
            </a:r>
            <a:endParaRPr sz="1000"/>
          </a:p>
        </p:txBody>
      </p:sp>
      <p:sp>
        <p:nvSpPr>
          <p:cNvPr id="3229" name="Google Shape;3229;p144"/>
          <p:cNvSpPr/>
          <p:nvPr/>
        </p:nvSpPr>
        <p:spPr>
          <a:xfrm>
            <a:off x="3744475" y="1752000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Manage Change Records</a:t>
            </a:r>
            <a:endParaRPr sz="1000"/>
          </a:p>
        </p:txBody>
      </p:sp>
      <p:sp>
        <p:nvSpPr>
          <p:cNvPr id="3230" name="Google Shape;3230;p144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4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p145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M-160-070: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Identify change in Production Data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</a:t>
            </a:r>
            <a:r>
              <a:rPr lang="en" sz="1520"/>
              <a:t>Production Engineering - Process Manufacturing &amp; Bom Engineer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/>
          </a:p>
        </p:txBody>
      </p:sp>
      <p:sp>
        <p:nvSpPr>
          <p:cNvPr id="3236" name="Google Shape;3236;p145"/>
          <p:cNvSpPr/>
          <p:nvPr/>
        </p:nvSpPr>
        <p:spPr>
          <a:xfrm>
            <a:off x="4048366" y="25870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</a:t>
            </a:r>
            <a:r>
              <a:rPr lang="en" sz="900"/>
              <a:t>Identify</a:t>
            </a:r>
            <a:r>
              <a:rPr lang="en" sz="900"/>
              <a:t> change in production data</a:t>
            </a:r>
            <a:endParaRPr sz="900"/>
          </a:p>
        </p:txBody>
      </p:sp>
      <p:sp>
        <p:nvSpPr>
          <p:cNvPr id="3237" name="Google Shape;3237;p145"/>
          <p:cNvSpPr/>
          <p:nvPr/>
        </p:nvSpPr>
        <p:spPr>
          <a:xfrm>
            <a:off x="3149875" y="252959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needs for authorization to change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238" name="Google Shape;3238;p145"/>
          <p:cNvSpPr/>
          <p:nvPr/>
        </p:nvSpPr>
        <p:spPr>
          <a:xfrm>
            <a:off x="5429150" y="2529599"/>
            <a:ext cx="6483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End: Authorization for change been granted</a:t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3239" name="Google Shape;3239;p145"/>
          <p:cNvCxnSpPr>
            <a:stCxn id="3237" idx="6"/>
            <a:endCxn id="3240" idx="1"/>
          </p:cNvCxnSpPr>
          <p:nvPr/>
        </p:nvCxnSpPr>
        <p:spPr>
          <a:xfrm>
            <a:off x="3866575" y="292094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1" name="Google Shape;3241;p145"/>
          <p:cNvCxnSpPr>
            <a:stCxn id="3236" idx="3"/>
            <a:endCxn id="3238" idx="2"/>
          </p:cNvCxnSpPr>
          <p:nvPr/>
        </p:nvCxnSpPr>
        <p:spPr>
          <a:xfrm>
            <a:off x="4925866" y="2920939"/>
            <a:ext cx="50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2" name="Google Shape;3242;p145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243" name="Google Shape;3243;p145"/>
          <p:cNvSpPr/>
          <p:nvPr/>
        </p:nvSpPr>
        <p:spPr>
          <a:xfrm>
            <a:off x="2923150" y="2196300"/>
            <a:ext cx="3425100" cy="1293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Deleted</a:t>
            </a:r>
            <a:endParaRPr/>
          </a:p>
        </p:txBody>
      </p:sp>
      <p:sp>
        <p:nvSpPr>
          <p:cNvPr id="3244" name="Google Shape;3244;p14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8" name="Shape 3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Google Shape;3249;p146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M-160-100:</a:t>
            </a:r>
            <a:r>
              <a:rPr lang="en" sz="3680"/>
              <a:t> </a:t>
            </a:r>
            <a:r>
              <a:rPr lang="en" sz="1779"/>
              <a:t>Execute Change (in the scenario of a quality)</a:t>
            </a:r>
            <a:endParaRPr sz="177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Quality Engineer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/>
          </a:p>
        </p:txBody>
      </p:sp>
      <p:sp>
        <p:nvSpPr>
          <p:cNvPr id="3250" name="Google Shape;3250;p146"/>
          <p:cNvSpPr/>
          <p:nvPr/>
        </p:nvSpPr>
        <p:spPr>
          <a:xfrm>
            <a:off x="28025" y="2523600"/>
            <a:ext cx="7392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</a:rPr>
              <a:t>Start: There is a need to execute change for inspection plan, bom, master recipe, rate routing or material master</a:t>
            </a:r>
            <a:endParaRPr sz="500">
              <a:solidFill>
                <a:schemeClr val="dk1"/>
              </a:solidFill>
            </a:endParaRPr>
          </a:p>
        </p:txBody>
      </p:sp>
      <p:cxnSp>
        <p:nvCxnSpPr>
          <p:cNvPr id="3251" name="Google Shape;3251;p146"/>
          <p:cNvCxnSpPr>
            <a:stCxn id="3250" idx="6"/>
            <a:endCxn id="3252" idx="1"/>
          </p:cNvCxnSpPr>
          <p:nvPr/>
        </p:nvCxnSpPr>
        <p:spPr>
          <a:xfrm flipH="1" rot="10800000">
            <a:off x="767225" y="2893350"/>
            <a:ext cx="1369800" cy="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3" name="Google Shape;3253;p146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254" name="Google Shape;3254;p146"/>
          <p:cNvSpPr/>
          <p:nvPr/>
        </p:nvSpPr>
        <p:spPr>
          <a:xfrm>
            <a:off x="5026766" y="3323514"/>
            <a:ext cx="34200" cy="34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5" name="Google Shape;3255;p146"/>
          <p:cNvSpPr/>
          <p:nvPr/>
        </p:nvSpPr>
        <p:spPr>
          <a:xfrm>
            <a:off x="4145591" y="1331189"/>
            <a:ext cx="34200" cy="34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2" name="Google Shape;3252;p146"/>
          <p:cNvSpPr/>
          <p:nvPr/>
        </p:nvSpPr>
        <p:spPr>
          <a:xfrm>
            <a:off x="2137138" y="255939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6" name="Google Shape;3256;p146"/>
          <p:cNvSpPr/>
          <p:nvPr/>
        </p:nvSpPr>
        <p:spPr>
          <a:xfrm>
            <a:off x="2243514" y="269345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146"/>
          <p:cNvSpPr txBox="1"/>
          <p:nvPr/>
        </p:nvSpPr>
        <p:spPr>
          <a:xfrm>
            <a:off x="1607734" y="352313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Change Number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258" name="Google Shape;3258;p146"/>
          <p:cNvSpPr txBox="1"/>
          <p:nvPr/>
        </p:nvSpPr>
        <p:spPr>
          <a:xfrm>
            <a:off x="1788409" y="1632964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Change Record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259" name="Google Shape;3259;p146"/>
          <p:cNvSpPr/>
          <p:nvPr/>
        </p:nvSpPr>
        <p:spPr>
          <a:xfrm>
            <a:off x="4409976" y="3939913"/>
            <a:ext cx="675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change number</a:t>
            </a:r>
            <a:endParaRPr sz="700"/>
          </a:p>
        </p:txBody>
      </p:sp>
      <p:cxnSp>
        <p:nvCxnSpPr>
          <p:cNvPr id="3260" name="Google Shape;3260;p146"/>
          <p:cNvCxnSpPr>
            <a:stCxn id="3252" idx="2"/>
            <a:endCxn id="3259" idx="1"/>
          </p:cNvCxnSpPr>
          <p:nvPr/>
        </p:nvCxnSpPr>
        <p:spPr>
          <a:xfrm flipH="1" rot="-5400000">
            <a:off x="2895838" y="2759793"/>
            <a:ext cx="1046700" cy="1981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1" name="Google Shape;3261;p146"/>
          <p:cNvCxnSpPr>
            <a:stCxn id="3259" idx="3"/>
            <a:endCxn id="3262" idx="1"/>
          </p:cNvCxnSpPr>
          <p:nvPr/>
        </p:nvCxnSpPr>
        <p:spPr>
          <a:xfrm>
            <a:off x="5084976" y="4273813"/>
            <a:ext cx="42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3" name="Google Shape;3263;p146"/>
          <p:cNvSpPr/>
          <p:nvPr/>
        </p:nvSpPr>
        <p:spPr>
          <a:xfrm>
            <a:off x="2835750" y="1178863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</a:t>
            </a:r>
            <a:r>
              <a:rPr lang="en" sz="700"/>
              <a:t>change</a:t>
            </a:r>
            <a:r>
              <a:rPr lang="en" sz="700"/>
              <a:t> record</a:t>
            </a:r>
            <a:endParaRPr sz="700"/>
          </a:p>
        </p:txBody>
      </p:sp>
      <p:sp>
        <p:nvSpPr>
          <p:cNvPr id="3264" name="Google Shape;3264;p146"/>
          <p:cNvSpPr/>
          <p:nvPr/>
        </p:nvSpPr>
        <p:spPr>
          <a:xfrm>
            <a:off x="3513175" y="1178863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</a:t>
            </a:r>
            <a:r>
              <a:rPr lang="en" sz="700"/>
              <a:t>: change request in review</a:t>
            </a:r>
            <a:endParaRPr sz="700"/>
          </a:p>
        </p:txBody>
      </p:sp>
      <p:cxnSp>
        <p:nvCxnSpPr>
          <p:cNvPr id="3265" name="Google Shape;3265;p146"/>
          <p:cNvCxnSpPr>
            <a:stCxn id="3252" idx="0"/>
            <a:endCxn id="3263" idx="1"/>
          </p:cNvCxnSpPr>
          <p:nvPr/>
        </p:nvCxnSpPr>
        <p:spPr>
          <a:xfrm rot="-5400000">
            <a:off x="2108788" y="1832343"/>
            <a:ext cx="1046700" cy="40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6" name="Google Shape;3266;p146"/>
          <p:cNvCxnSpPr>
            <a:stCxn id="3263" idx="3"/>
            <a:endCxn id="3264" idx="1"/>
          </p:cNvCxnSpPr>
          <p:nvPr/>
        </p:nvCxnSpPr>
        <p:spPr>
          <a:xfrm>
            <a:off x="3418350" y="1512763"/>
            <a:ext cx="9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7" name="Google Shape;3267;p146"/>
          <p:cNvSpPr/>
          <p:nvPr/>
        </p:nvSpPr>
        <p:spPr>
          <a:xfrm>
            <a:off x="7106013" y="253794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8" name="Google Shape;3268;p146"/>
          <p:cNvSpPr/>
          <p:nvPr/>
        </p:nvSpPr>
        <p:spPr>
          <a:xfrm>
            <a:off x="7212514" y="267205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69" name="Google Shape;3269;p146"/>
          <p:cNvCxnSpPr>
            <a:stCxn id="3264" idx="3"/>
            <a:endCxn id="3270" idx="1"/>
          </p:cNvCxnSpPr>
          <p:nvPr/>
        </p:nvCxnSpPr>
        <p:spPr>
          <a:xfrm flipH="1" rot="10800000">
            <a:off x="4095775" y="1496563"/>
            <a:ext cx="3504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1" name="Google Shape;3271;p146"/>
          <p:cNvSpPr/>
          <p:nvPr/>
        </p:nvSpPr>
        <p:spPr>
          <a:xfrm>
            <a:off x="5984225" y="1162563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Change closed</a:t>
            </a:r>
            <a:endParaRPr sz="700"/>
          </a:p>
        </p:txBody>
      </p:sp>
      <p:sp>
        <p:nvSpPr>
          <p:cNvPr id="3272" name="Google Shape;3272;p146"/>
          <p:cNvSpPr/>
          <p:nvPr/>
        </p:nvSpPr>
        <p:spPr>
          <a:xfrm>
            <a:off x="6703200" y="1170763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Change released</a:t>
            </a:r>
            <a:endParaRPr sz="700"/>
          </a:p>
        </p:txBody>
      </p:sp>
      <p:cxnSp>
        <p:nvCxnSpPr>
          <p:cNvPr id="3273" name="Google Shape;3273;p146"/>
          <p:cNvCxnSpPr>
            <a:stCxn id="3270" idx="3"/>
            <a:endCxn id="3274" idx="1"/>
          </p:cNvCxnSpPr>
          <p:nvPr/>
        </p:nvCxnSpPr>
        <p:spPr>
          <a:xfrm>
            <a:off x="5028850" y="1496463"/>
            <a:ext cx="23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5" name="Google Shape;3275;p146"/>
          <p:cNvCxnSpPr>
            <a:stCxn id="3274" idx="3"/>
            <a:endCxn id="3271" idx="1"/>
          </p:cNvCxnSpPr>
          <p:nvPr/>
        </p:nvCxnSpPr>
        <p:spPr>
          <a:xfrm>
            <a:off x="5847850" y="1496488"/>
            <a:ext cx="13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6" name="Google Shape;3276;p146"/>
          <p:cNvCxnSpPr>
            <a:stCxn id="3271" idx="3"/>
            <a:endCxn id="3272" idx="1"/>
          </p:cNvCxnSpPr>
          <p:nvPr/>
        </p:nvCxnSpPr>
        <p:spPr>
          <a:xfrm>
            <a:off x="6566825" y="1496463"/>
            <a:ext cx="1365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2" name="Google Shape;3262;p146"/>
          <p:cNvSpPr/>
          <p:nvPr/>
        </p:nvSpPr>
        <p:spPr>
          <a:xfrm>
            <a:off x="5506739" y="3939913"/>
            <a:ext cx="6750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execute change</a:t>
            </a:r>
            <a:endParaRPr sz="700"/>
          </a:p>
        </p:txBody>
      </p:sp>
      <p:sp>
        <p:nvSpPr>
          <p:cNvPr id="3277" name="Google Shape;3277;p146"/>
          <p:cNvSpPr/>
          <p:nvPr/>
        </p:nvSpPr>
        <p:spPr>
          <a:xfrm>
            <a:off x="8594425" y="2537962"/>
            <a:ext cx="5061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</a:t>
            </a:r>
            <a:r>
              <a:rPr lang="en" sz="600">
                <a:solidFill>
                  <a:schemeClr val="dk1"/>
                </a:solidFill>
              </a:rPr>
              <a:t>: change executed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3278" name="Google Shape;3278;p146"/>
          <p:cNvCxnSpPr>
            <a:stCxn id="3262" idx="3"/>
            <a:endCxn id="3267" idx="2"/>
          </p:cNvCxnSpPr>
          <p:nvPr/>
        </p:nvCxnSpPr>
        <p:spPr>
          <a:xfrm flipH="1" rot="10800000">
            <a:off x="6181739" y="3205813"/>
            <a:ext cx="1215600" cy="106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79" name="Google Shape;3279;p146"/>
          <p:cNvCxnSpPr>
            <a:stCxn id="3272" idx="3"/>
            <a:endCxn id="3267" idx="0"/>
          </p:cNvCxnSpPr>
          <p:nvPr/>
        </p:nvCxnSpPr>
        <p:spPr>
          <a:xfrm>
            <a:off x="7285800" y="1504663"/>
            <a:ext cx="111600" cy="1033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0" name="Google Shape;3280;p146"/>
          <p:cNvCxnSpPr>
            <a:stCxn id="3281" idx="3"/>
            <a:endCxn id="3277" idx="2"/>
          </p:cNvCxnSpPr>
          <p:nvPr/>
        </p:nvCxnSpPr>
        <p:spPr>
          <a:xfrm>
            <a:off x="8394575" y="2871838"/>
            <a:ext cx="19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1" name="Google Shape;3281;p146"/>
          <p:cNvSpPr/>
          <p:nvPr/>
        </p:nvSpPr>
        <p:spPr>
          <a:xfrm>
            <a:off x="7888475" y="2556988"/>
            <a:ext cx="506100" cy="62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review changes </a:t>
            </a:r>
            <a:endParaRPr sz="700"/>
          </a:p>
        </p:txBody>
      </p:sp>
      <p:cxnSp>
        <p:nvCxnSpPr>
          <p:cNvPr id="3282" name="Google Shape;3282;p146"/>
          <p:cNvCxnSpPr>
            <a:stCxn id="3267" idx="3"/>
            <a:endCxn id="3281" idx="1"/>
          </p:cNvCxnSpPr>
          <p:nvPr/>
        </p:nvCxnSpPr>
        <p:spPr>
          <a:xfrm>
            <a:off x="7688613" y="2871843"/>
            <a:ext cx="19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3" name="Google Shape;3283;p146"/>
          <p:cNvSpPr/>
          <p:nvPr/>
        </p:nvSpPr>
        <p:spPr>
          <a:xfrm>
            <a:off x="2561125" y="910888"/>
            <a:ext cx="857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Manage change records</a:t>
            </a:r>
            <a:endParaRPr sz="700"/>
          </a:p>
        </p:txBody>
      </p:sp>
      <p:sp>
        <p:nvSpPr>
          <p:cNvPr id="3284" name="Google Shape;3284;p146"/>
          <p:cNvSpPr/>
          <p:nvPr/>
        </p:nvSpPr>
        <p:spPr>
          <a:xfrm>
            <a:off x="3463325" y="910888"/>
            <a:ext cx="857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Manage change records</a:t>
            </a:r>
            <a:endParaRPr sz="700"/>
          </a:p>
        </p:txBody>
      </p:sp>
      <p:sp>
        <p:nvSpPr>
          <p:cNvPr id="3285" name="Google Shape;3285;p146"/>
          <p:cNvSpPr/>
          <p:nvPr/>
        </p:nvSpPr>
        <p:spPr>
          <a:xfrm>
            <a:off x="5333700" y="740825"/>
            <a:ext cx="857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Manage change records</a:t>
            </a:r>
            <a:endParaRPr sz="700"/>
          </a:p>
        </p:txBody>
      </p:sp>
      <p:sp>
        <p:nvSpPr>
          <p:cNvPr id="3286" name="Google Shape;3286;p146"/>
          <p:cNvSpPr/>
          <p:nvPr/>
        </p:nvSpPr>
        <p:spPr>
          <a:xfrm>
            <a:off x="6254000" y="740825"/>
            <a:ext cx="857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Manage change records</a:t>
            </a:r>
            <a:endParaRPr sz="700"/>
          </a:p>
        </p:txBody>
      </p:sp>
      <p:sp>
        <p:nvSpPr>
          <p:cNvPr id="3287" name="Google Shape;3287;p146"/>
          <p:cNvSpPr/>
          <p:nvPr/>
        </p:nvSpPr>
        <p:spPr>
          <a:xfrm>
            <a:off x="5415550" y="3649538"/>
            <a:ext cx="857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Manage purchasing info records</a:t>
            </a:r>
            <a:endParaRPr sz="700"/>
          </a:p>
        </p:txBody>
      </p:sp>
      <p:sp>
        <p:nvSpPr>
          <p:cNvPr id="3288" name="Google Shape;3288;p146"/>
          <p:cNvSpPr/>
          <p:nvPr/>
        </p:nvSpPr>
        <p:spPr>
          <a:xfrm>
            <a:off x="4367625" y="3695300"/>
            <a:ext cx="857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Manage change masters</a:t>
            </a:r>
            <a:endParaRPr sz="700"/>
          </a:p>
        </p:txBody>
      </p:sp>
      <p:sp>
        <p:nvSpPr>
          <p:cNvPr id="3274" name="Google Shape;3274;p146"/>
          <p:cNvSpPr/>
          <p:nvPr/>
        </p:nvSpPr>
        <p:spPr>
          <a:xfrm>
            <a:off x="5265250" y="1162588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Taskt: Create Change Number (automatic) </a:t>
            </a:r>
            <a:endParaRPr sz="700"/>
          </a:p>
        </p:txBody>
      </p:sp>
      <p:sp>
        <p:nvSpPr>
          <p:cNvPr id="3289" name="Google Shape;3289;p146"/>
          <p:cNvSpPr/>
          <p:nvPr/>
        </p:nvSpPr>
        <p:spPr>
          <a:xfrm>
            <a:off x="950066" y="2523601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Identify change in production data</a:t>
            </a:r>
            <a:endParaRPr sz="900"/>
          </a:p>
        </p:txBody>
      </p:sp>
      <p:sp>
        <p:nvSpPr>
          <p:cNvPr id="3270" name="Google Shape;3270;p146"/>
          <p:cNvSpPr/>
          <p:nvPr/>
        </p:nvSpPr>
        <p:spPr>
          <a:xfrm>
            <a:off x="4446250" y="1162563"/>
            <a:ext cx="5826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Placeholder</a:t>
            </a:r>
            <a:r>
              <a:rPr lang="en" sz="700"/>
              <a:t>: Authorize Change</a:t>
            </a:r>
            <a:endParaRPr sz="700"/>
          </a:p>
        </p:txBody>
      </p:sp>
      <p:sp>
        <p:nvSpPr>
          <p:cNvPr id="3290" name="Google Shape;3290;p146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4" name="Shape 3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5" name="Google Shape;3295;p147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M-160-130: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Maintain master data for bulk finished goods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</a:t>
            </a:r>
            <a:r>
              <a:rPr lang="en" sz="1520"/>
              <a:t>material data specialist - product data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>
                <a:highlight>
                  <a:srgbClr val="CC0000"/>
                </a:highlight>
              </a:rPr>
              <a:t>App: Manage product master data</a:t>
            </a:r>
            <a:endParaRPr sz="1520">
              <a:highlight>
                <a:srgbClr val="CC0000"/>
              </a:highlight>
            </a:endParaRPr>
          </a:p>
        </p:txBody>
      </p:sp>
      <p:sp>
        <p:nvSpPr>
          <p:cNvPr id="3296" name="Google Shape;3296;p147"/>
          <p:cNvSpPr/>
          <p:nvPr/>
        </p:nvSpPr>
        <p:spPr>
          <a:xfrm>
            <a:off x="4048366" y="25870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maintain master data for bulk finished goods</a:t>
            </a:r>
            <a:endParaRPr sz="900"/>
          </a:p>
        </p:txBody>
      </p:sp>
      <p:sp>
        <p:nvSpPr>
          <p:cNvPr id="3297" name="Google Shape;3297;p147"/>
          <p:cNvSpPr/>
          <p:nvPr/>
        </p:nvSpPr>
        <p:spPr>
          <a:xfrm>
            <a:off x="3149875" y="252959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need to maintain master data for bulk finished goods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298" name="Google Shape;3298;p147"/>
          <p:cNvSpPr/>
          <p:nvPr/>
        </p:nvSpPr>
        <p:spPr>
          <a:xfrm>
            <a:off x="5429150" y="2529599"/>
            <a:ext cx="6483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End: master data for bulk finished goods maintained</a:t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3299" name="Google Shape;3299;p147"/>
          <p:cNvCxnSpPr>
            <a:stCxn id="3297" idx="6"/>
            <a:endCxn id="3300" idx="1"/>
          </p:cNvCxnSpPr>
          <p:nvPr/>
        </p:nvCxnSpPr>
        <p:spPr>
          <a:xfrm>
            <a:off x="3866575" y="292094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1" name="Google Shape;3301;p147"/>
          <p:cNvCxnSpPr>
            <a:stCxn id="3296" idx="3"/>
            <a:endCxn id="3298" idx="2"/>
          </p:cNvCxnSpPr>
          <p:nvPr/>
        </p:nvCxnSpPr>
        <p:spPr>
          <a:xfrm>
            <a:off x="4925866" y="2920939"/>
            <a:ext cx="50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2" name="Google Shape;3302;p147"/>
          <p:cNvSpPr/>
          <p:nvPr/>
        </p:nvSpPr>
        <p:spPr>
          <a:xfrm>
            <a:off x="2859300" y="1655750"/>
            <a:ext cx="3446700" cy="215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To be deleted: </a:t>
            </a:r>
            <a:r>
              <a:rPr lang="en" sz="1100">
                <a:solidFill>
                  <a:schemeClr val="dk1"/>
                </a:solidFill>
              </a:rPr>
              <a:t>Also for subcontracting, packaged finished goods, consignment stock</a:t>
            </a:r>
            <a:endParaRPr/>
          </a:p>
        </p:txBody>
      </p:sp>
      <p:sp>
        <p:nvSpPr>
          <p:cNvPr id="3303" name="Google Shape;3303;p147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7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Google Shape;3308;p148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M-160-220: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Process Resources Hierarchy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Production Engineering - Process Manufacturing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131"/>
              <a:buFont typeface="Arial"/>
              <a:buNone/>
            </a:pPr>
            <a:r>
              <a:rPr lang="en" sz="1520">
                <a:highlight>
                  <a:srgbClr val="CC0000"/>
                </a:highlight>
              </a:rPr>
              <a:t>App: create/change hierarchy</a:t>
            </a:r>
            <a:endParaRPr sz="1520">
              <a:highlight>
                <a:srgbClr val="CC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131"/>
              <a:buFont typeface="Arial"/>
              <a:buNone/>
            </a:pPr>
            <a:r>
              <a:rPr lang="en" sz="1520"/>
              <a:t>Solvay Role = enterprise data steward,  data domain lead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131"/>
              <a:buFont typeface="Arial"/>
              <a:buNone/>
            </a:pPr>
            <a:r>
              <a:t/>
            </a:r>
            <a:endParaRPr sz="1520">
              <a:highlight>
                <a:srgbClr val="CC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>
              <a:highlight>
                <a:srgbClr val="CC0000"/>
              </a:highlight>
            </a:endParaRPr>
          </a:p>
        </p:txBody>
      </p:sp>
      <p:sp>
        <p:nvSpPr>
          <p:cNvPr id="3309" name="Google Shape;3309;p148"/>
          <p:cNvSpPr/>
          <p:nvPr/>
        </p:nvSpPr>
        <p:spPr>
          <a:xfrm>
            <a:off x="2806316" y="25717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header resource</a:t>
            </a:r>
            <a:endParaRPr sz="900"/>
          </a:p>
        </p:txBody>
      </p:sp>
      <p:cxnSp>
        <p:nvCxnSpPr>
          <p:cNvPr id="3310" name="Google Shape;3310;p148"/>
          <p:cNvCxnSpPr>
            <a:stCxn id="3311" idx="6"/>
            <a:endCxn id="3309" idx="1"/>
          </p:cNvCxnSpPr>
          <p:nvPr/>
        </p:nvCxnSpPr>
        <p:spPr>
          <a:xfrm flipH="1" rot="10800000">
            <a:off x="716700" y="2905649"/>
            <a:ext cx="20895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2" name="Google Shape;3312;p148"/>
          <p:cNvCxnSpPr>
            <a:stCxn id="3309" idx="3"/>
            <a:endCxn id="3313" idx="1"/>
          </p:cNvCxnSpPr>
          <p:nvPr/>
        </p:nvCxnSpPr>
        <p:spPr>
          <a:xfrm>
            <a:off x="3683816" y="2905639"/>
            <a:ext cx="30300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1" name="Google Shape;3311;p148"/>
          <p:cNvSpPr/>
          <p:nvPr/>
        </p:nvSpPr>
        <p:spPr>
          <a:xfrm>
            <a:off x="0" y="252959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resource hierarchy needs to be updated or created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314" name="Google Shape;3314;p148"/>
          <p:cNvSpPr/>
          <p:nvPr/>
        </p:nvSpPr>
        <p:spPr>
          <a:xfrm>
            <a:off x="8450136" y="2586879"/>
            <a:ext cx="6483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resource hierarchy has been updated or created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315" name="Google Shape;3315;p148"/>
          <p:cNvSpPr/>
          <p:nvPr/>
        </p:nvSpPr>
        <p:spPr>
          <a:xfrm>
            <a:off x="876788" y="25870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6" name="Google Shape;3316;p148"/>
          <p:cNvSpPr/>
          <p:nvPr/>
        </p:nvSpPr>
        <p:spPr>
          <a:xfrm>
            <a:off x="983164" y="27210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7" name="Google Shape;3317;p148"/>
          <p:cNvCxnSpPr>
            <a:stCxn id="3311" idx="6"/>
            <a:endCxn id="3315" idx="1"/>
          </p:cNvCxnSpPr>
          <p:nvPr/>
        </p:nvCxnSpPr>
        <p:spPr>
          <a:xfrm>
            <a:off x="716700" y="292094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8" name="Google Shape;3318;p148"/>
          <p:cNvSpPr txBox="1"/>
          <p:nvPr/>
        </p:nvSpPr>
        <p:spPr>
          <a:xfrm>
            <a:off x="1398809" y="258703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319" name="Google Shape;3319;p148"/>
          <p:cNvSpPr txBox="1"/>
          <p:nvPr/>
        </p:nvSpPr>
        <p:spPr>
          <a:xfrm>
            <a:off x="1154724" y="354066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320" name="Google Shape;3320;p148"/>
          <p:cNvSpPr/>
          <p:nvPr/>
        </p:nvSpPr>
        <p:spPr>
          <a:xfrm>
            <a:off x="3966608" y="3738048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changes to the resource hierarchy</a:t>
            </a:r>
            <a:endParaRPr sz="900"/>
          </a:p>
        </p:txBody>
      </p:sp>
      <p:cxnSp>
        <p:nvCxnSpPr>
          <p:cNvPr id="3321" name="Google Shape;3321;p148"/>
          <p:cNvCxnSpPr>
            <a:stCxn id="3315" idx="2"/>
            <a:endCxn id="3320" idx="1"/>
          </p:cNvCxnSpPr>
          <p:nvPr/>
        </p:nvCxnSpPr>
        <p:spPr>
          <a:xfrm flipH="1" rot="-5400000">
            <a:off x="2158688" y="2264231"/>
            <a:ext cx="817200" cy="2798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3" name="Google Shape;3313;p148"/>
          <p:cNvSpPr/>
          <p:nvPr/>
        </p:nvSpPr>
        <p:spPr>
          <a:xfrm>
            <a:off x="6713785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2" name="Google Shape;3322;p148"/>
          <p:cNvSpPr/>
          <p:nvPr/>
        </p:nvSpPr>
        <p:spPr>
          <a:xfrm>
            <a:off x="6820160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3" name="Google Shape;3323;p148"/>
          <p:cNvCxnSpPr>
            <a:stCxn id="3320" idx="3"/>
            <a:endCxn id="3313" idx="2"/>
          </p:cNvCxnSpPr>
          <p:nvPr/>
        </p:nvCxnSpPr>
        <p:spPr>
          <a:xfrm flipH="1" rot="10800000">
            <a:off x="4844108" y="3254748"/>
            <a:ext cx="2160900" cy="81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4" name="Google Shape;3324;p148"/>
          <p:cNvCxnSpPr>
            <a:stCxn id="3313" idx="3"/>
            <a:endCxn id="3314" idx="2"/>
          </p:cNvCxnSpPr>
          <p:nvPr/>
        </p:nvCxnSpPr>
        <p:spPr>
          <a:xfrm>
            <a:off x="7296385" y="2920823"/>
            <a:ext cx="115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5" name="Google Shape;3325;p148"/>
          <p:cNvSpPr/>
          <p:nvPr/>
        </p:nvSpPr>
        <p:spPr>
          <a:xfrm>
            <a:off x="7381175" y="25717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the resource hierarchy</a:t>
            </a:r>
            <a:endParaRPr sz="900"/>
          </a:p>
        </p:txBody>
      </p:sp>
      <p:sp>
        <p:nvSpPr>
          <p:cNvPr id="3326" name="Google Shape;3326;p148"/>
          <p:cNvSpPr/>
          <p:nvPr/>
        </p:nvSpPr>
        <p:spPr>
          <a:xfrm>
            <a:off x="4462691" y="25870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the resources</a:t>
            </a:r>
            <a:r>
              <a:rPr lang="en" sz="900"/>
              <a:t> underneed the hierarchy</a:t>
            </a:r>
            <a:endParaRPr sz="900"/>
          </a:p>
        </p:txBody>
      </p:sp>
      <p:sp>
        <p:nvSpPr>
          <p:cNvPr id="3327" name="Google Shape;3327;p148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p149"/>
          <p:cNvSpPr txBox="1"/>
          <p:nvPr>
            <p:ph type="title"/>
          </p:nvPr>
        </p:nvSpPr>
        <p:spPr>
          <a:xfrm>
            <a:off x="0" y="-132625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3551"/>
              <a:buNone/>
            </a:pPr>
            <a:r>
              <a:rPr lang="en" sz="1557"/>
              <a:t>M-160-260:</a:t>
            </a:r>
            <a:r>
              <a:rPr lang="en" sz="3457"/>
              <a:t> </a:t>
            </a:r>
            <a:r>
              <a:rPr lang="en" sz="1297">
                <a:solidFill>
                  <a:schemeClr val="dk2"/>
                </a:solidFill>
              </a:rPr>
              <a:t>Process Rate Routing</a:t>
            </a:r>
            <a:endParaRPr sz="12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6284"/>
              <a:buNone/>
            </a:pPr>
            <a:r>
              <a:rPr lang="en" sz="1297"/>
              <a:t>Role = Production Engineering - Process Manufacturing</a:t>
            </a:r>
            <a:endParaRPr sz="12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6284"/>
              <a:buFont typeface="Arial"/>
              <a:buNone/>
            </a:pPr>
            <a:r>
              <a:rPr lang="en" sz="1297"/>
              <a:t>Solvay Role = enterprise data steward,  data domain lead</a:t>
            </a:r>
            <a:endParaRPr sz="12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>
              <a:highlight>
                <a:srgbClr val="CC0000"/>
              </a:highlight>
            </a:endParaRPr>
          </a:p>
        </p:txBody>
      </p:sp>
      <p:sp>
        <p:nvSpPr>
          <p:cNvPr id="3333" name="Google Shape;3333;p149"/>
          <p:cNvSpPr/>
          <p:nvPr/>
        </p:nvSpPr>
        <p:spPr>
          <a:xfrm>
            <a:off x="2806316" y="25717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header Information</a:t>
            </a:r>
            <a:endParaRPr sz="900"/>
          </a:p>
        </p:txBody>
      </p:sp>
      <p:cxnSp>
        <p:nvCxnSpPr>
          <p:cNvPr id="3334" name="Google Shape;3334;p149"/>
          <p:cNvCxnSpPr>
            <a:stCxn id="3335" idx="6"/>
            <a:endCxn id="3333" idx="1"/>
          </p:cNvCxnSpPr>
          <p:nvPr/>
        </p:nvCxnSpPr>
        <p:spPr>
          <a:xfrm flipH="1" rot="10800000">
            <a:off x="716700" y="2905649"/>
            <a:ext cx="20895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5" name="Google Shape;3335;p149"/>
          <p:cNvSpPr/>
          <p:nvPr/>
        </p:nvSpPr>
        <p:spPr>
          <a:xfrm>
            <a:off x="0" y="252959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rate routing needs to be updated or created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336" name="Google Shape;3336;p149"/>
          <p:cNvSpPr/>
          <p:nvPr/>
        </p:nvSpPr>
        <p:spPr>
          <a:xfrm>
            <a:off x="8450136" y="2586879"/>
            <a:ext cx="6483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rate routing has been updated or created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337" name="Google Shape;3337;p149"/>
          <p:cNvSpPr/>
          <p:nvPr/>
        </p:nvSpPr>
        <p:spPr>
          <a:xfrm>
            <a:off x="876788" y="25870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8" name="Google Shape;3338;p149"/>
          <p:cNvSpPr/>
          <p:nvPr/>
        </p:nvSpPr>
        <p:spPr>
          <a:xfrm>
            <a:off x="983164" y="27210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39" name="Google Shape;3339;p149"/>
          <p:cNvCxnSpPr>
            <a:stCxn id="3335" idx="6"/>
            <a:endCxn id="3337" idx="1"/>
          </p:cNvCxnSpPr>
          <p:nvPr/>
        </p:nvCxnSpPr>
        <p:spPr>
          <a:xfrm>
            <a:off x="716700" y="292094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0" name="Google Shape;3340;p149"/>
          <p:cNvSpPr txBox="1"/>
          <p:nvPr/>
        </p:nvSpPr>
        <p:spPr>
          <a:xfrm>
            <a:off x="1398809" y="258703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341" name="Google Shape;3341;p149"/>
          <p:cNvSpPr/>
          <p:nvPr/>
        </p:nvSpPr>
        <p:spPr>
          <a:xfrm>
            <a:off x="3118654" y="12503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copy a rate routing</a:t>
            </a:r>
            <a:endParaRPr sz="900"/>
          </a:p>
        </p:txBody>
      </p:sp>
      <p:sp>
        <p:nvSpPr>
          <p:cNvPr id="3342" name="Google Shape;3342;p149"/>
          <p:cNvSpPr/>
          <p:nvPr/>
        </p:nvSpPr>
        <p:spPr>
          <a:xfrm>
            <a:off x="2082254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3" name="Google Shape;3343;p149"/>
          <p:cNvSpPr/>
          <p:nvPr/>
        </p:nvSpPr>
        <p:spPr>
          <a:xfrm>
            <a:off x="2188629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4" name="Google Shape;3344;p149"/>
          <p:cNvSpPr txBox="1"/>
          <p:nvPr/>
        </p:nvSpPr>
        <p:spPr>
          <a:xfrm>
            <a:off x="2131337" y="320644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from scratch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345" name="Google Shape;3345;p149"/>
          <p:cNvSpPr txBox="1"/>
          <p:nvPr/>
        </p:nvSpPr>
        <p:spPr>
          <a:xfrm>
            <a:off x="2367130" y="1219575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copy from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3346" name="Google Shape;3346;p149"/>
          <p:cNvCxnSpPr>
            <a:stCxn id="3342" idx="0"/>
            <a:endCxn id="3341" idx="1"/>
          </p:cNvCxnSpPr>
          <p:nvPr/>
        </p:nvCxnSpPr>
        <p:spPr>
          <a:xfrm rot="-5400000">
            <a:off x="2244854" y="1713023"/>
            <a:ext cx="1002600" cy="745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47" name="Google Shape;3347;p149"/>
          <p:cNvSpPr txBox="1"/>
          <p:nvPr/>
        </p:nvSpPr>
        <p:spPr>
          <a:xfrm>
            <a:off x="1154724" y="354066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348" name="Google Shape;3348;p149"/>
          <p:cNvSpPr/>
          <p:nvPr/>
        </p:nvSpPr>
        <p:spPr>
          <a:xfrm>
            <a:off x="3966608" y="3738048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changes to the rate routing</a:t>
            </a:r>
            <a:endParaRPr sz="900"/>
          </a:p>
        </p:txBody>
      </p:sp>
      <p:cxnSp>
        <p:nvCxnSpPr>
          <p:cNvPr id="3349" name="Google Shape;3349;p149"/>
          <p:cNvCxnSpPr>
            <a:stCxn id="3337" idx="2"/>
            <a:endCxn id="3348" idx="1"/>
          </p:cNvCxnSpPr>
          <p:nvPr/>
        </p:nvCxnSpPr>
        <p:spPr>
          <a:xfrm flipH="1" rot="-5400000">
            <a:off x="2158688" y="2264231"/>
            <a:ext cx="817200" cy="2798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0" name="Google Shape;3350;p149"/>
          <p:cNvCxnSpPr>
            <a:stCxn id="3351" idx="3"/>
            <a:endCxn id="3352" idx="0"/>
          </p:cNvCxnSpPr>
          <p:nvPr/>
        </p:nvCxnSpPr>
        <p:spPr>
          <a:xfrm>
            <a:off x="5103029" y="1584240"/>
            <a:ext cx="1367400" cy="987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2" name="Google Shape;3352;p149"/>
          <p:cNvSpPr/>
          <p:nvPr/>
        </p:nvSpPr>
        <p:spPr>
          <a:xfrm>
            <a:off x="6179163" y="257169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3" name="Google Shape;3353;p149"/>
          <p:cNvSpPr/>
          <p:nvPr/>
        </p:nvSpPr>
        <p:spPr>
          <a:xfrm>
            <a:off x="6289889" y="271345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149"/>
          <p:cNvSpPr/>
          <p:nvPr/>
        </p:nvSpPr>
        <p:spPr>
          <a:xfrm>
            <a:off x="6881010" y="258704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p149"/>
          <p:cNvSpPr/>
          <p:nvPr/>
        </p:nvSpPr>
        <p:spPr>
          <a:xfrm>
            <a:off x="6987385" y="272110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6" name="Google Shape;3356;p149"/>
          <p:cNvCxnSpPr>
            <a:stCxn id="3352" idx="3"/>
            <a:endCxn id="3354" idx="1"/>
          </p:cNvCxnSpPr>
          <p:nvPr/>
        </p:nvCxnSpPr>
        <p:spPr>
          <a:xfrm>
            <a:off x="6761763" y="2905598"/>
            <a:ext cx="1191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7" name="Google Shape;3357;p149"/>
          <p:cNvCxnSpPr>
            <a:stCxn id="3348" idx="3"/>
            <a:endCxn id="3354" idx="2"/>
          </p:cNvCxnSpPr>
          <p:nvPr/>
        </p:nvCxnSpPr>
        <p:spPr>
          <a:xfrm flipH="1" rot="10800000">
            <a:off x="4844108" y="3254748"/>
            <a:ext cx="2328300" cy="81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8" name="Google Shape;3358;p149"/>
          <p:cNvCxnSpPr>
            <a:stCxn id="3354" idx="3"/>
            <a:endCxn id="3336" idx="2"/>
          </p:cNvCxnSpPr>
          <p:nvPr/>
        </p:nvCxnSpPr>
        <p:spPr>
          <a:xfrm flipH="1" rot="10800000">
            <a:off x="7463610" y="2920648"/>
            <a:ext cx="9864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9" name="Google Shape;3359;p149"/>
          <p:cNvSpPr/>
          <p:nvPr/>
        </p:nvSpPr>
        <p:spPr>
          <a:xfrm>
            <a:off x="7541975" y="2571750"/>
            <a:ext cx="716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the rate routing</a:t>
            </a:r>
            <a:endParaRPr sz="900"/>
          </a:p>
        </p:txBody>
      </p:sp>
      <p:sp>
        <p:nvSpPr>
          <p:cNvPr id="3360" name="Google Shape;3360;p149"/>
          <p:cNvSpPr/>
          <p:nvPr/>
        </p:nvSpPr>
        <p:spPr>
          <a:xfrm>
            <a:off x="4410775" y="2853900"/>
            <a:ext cx="1027200" cy="49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operations from reference rate routing</a:t>
            </a:r>
            <a:endParaRPr sz="900"/>
          </a:p>
        </p:txBody>
      </p:sp>
      <p:sp>
        <p:nvSpPr>
          <p:cNvPr id="3351" name="Google Shape;3351;p149"/>
          <p:cNvSpPr/>
          <p:nvPr/>
        </p:nvSpPr>
        <p:spPr>
          <a:xfrm>
            <a:off x="4225529" y="12503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adjustments to the operations</a:t>
            </a:r>
            <a:endParaRPr sz="900"/>
          </a:p>
        </p:txBody>
      </p:sp>
      <p:cxnSp>
        <p:nvCxnSpPr>
          <p:cNvPr id="3361" name="Google Shape;3361;p149"/>
          <p:cNvCxnSpPr>
            <a:stCxn id="3341" idx="3"/>
            <a:endCxn id="3351" idx="1"/>
          </p:cNvCxnSpPr>
          <p:nvPr/>
        </p:nvCxnSpPr>
        <p:spPr>
          <a:xfrm>
            <a:off x="3996154" y="1584240"/>
            <a:ext cx="2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2" name="Google Shape;3362;p149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363" name="Google Shape;3363;p149"/>
          <p:cNvSpPr/>
          <p:nvPr/>
        </p:nvSpPr>
        <p:spPr>
          <a:xfrm>
            <a:off x="3779000" y="4457175"/>
            <a:ext cx="1703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Rate Routing</a:t>
            </a:r>
            <a:endParaRPr sz="1000"/>
          </a:p>
        </p:txBody>
      </p:sp>
      <p:sp>
        <p:nvSpPr>
          <p:cNvPr id="3364" name="Google Shape;3364;p149"/>
          <p:cNvSpPr/>
          <p:nvPr/>
        </p:nvSpPr>
        <p:spPr>
          <a:xfrm>
            <a:off x="2511450" y="911600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/>
              <a:t>Rate Routing</a:t>
            </a:r>
            <a:endParaRPr sz="1000"/>
          </a:p>
        </p:txBody>
      </p:sp>
      <p:sp>
        <p:nvSpPr>
          <p:cNvPr id="3365" name="Google Shape;3365;p149"/>
          <p:cNvSpPr/>
          <p:nvPr/>
        </p:nvSpPr>
        <p:spPr>
          <a:xfrm>
            <a:off x="4058875" y="877925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Rate Routing</a:t>
            </a:r>
            <a:endParaRPr sz="1000"/>
          </a:p>
        </p:txBody>
      </p:sp>
      <p:sp>
        <p:nvSpPr>
          <p:cNvPr id="3366" name="Google Shape;3366;p149"/>
          <p:cNvSpPr/>
          <p:nvPr/>
        </p:nvSpPr>
        <p:spPr>
          <a:xfrm>
            <a:off x="2722775" y="3269400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Rate Routing</a:t>
            </a:r>
            <a:endParaRPr sz="1000"/>
          </a:p>
        </p:txBody>
      </p:sp>
      <p:sp>
        <p:nvSpPr>
          <p:cNvPr id="3367" name="Google Shape;3367;p149"/>
          <p:cNvSpPr/>
          <p:nvPr/>
        </p:nvSpPr>
        <p:spPr>
          <a:xfrm>
            <a:off x="4271250" y="3417175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Rate Routing</a:t>
            </a:r>
            <a:endParaRPr sz="1000"/>
          </a:p>
        </p:txBody>
      </p:sp>
      <p:sp>
        <p:nvSpPr>
          <p:cNvPr id="3368" name="Google Shape;3368;p149"/>
          <p:cNvSpPr/>
          <p:nvPr/>
        </p:nvSpPr>
        <p:spPr>
          <a:xfrm>
            <a:off x="7189750" y="219627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Create/change rate routing</a:t>
            </a:r>
            <a:endParaRPr sz="1000"/>
          </a:p>
        </p:txBody>
      </p:sp>
      <p:sp>
        <p:nvSpPr>
          <p:cNvPr id="3369" name="Google Shape;3369;p149"/>
          <p:cNvSpPr/>
          <p:nvPr/>
        </p:nvSpPr>
        <p:spPr>
          <a:xfrm>
            <a:off x="4414663" y="2179288"/>
            <a:ext cx="1003200" cy="50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operations Manually</a:t>
            </a:r>
            <a:endParaRPr sz="900"/>
          </a:p>
        </p:txBody>
      </p:sp>
      <p:sp>
        <p:nvSpPr>
          <p:cNvPr id="3370" name="Google Shape;3370;p149"/>
          <p:cNvSpPr/>
          <p:nvPr/>
        </p:nvSpPr>
        <p:spPr>
          <a:xfrm>
            <a:off x="3795276" y="257174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1" name="Google Shape;3371;p149"/>
          <p:cNvSpPr/>
          <p:nvPr/>
        </p:nvSpPr>
        <p:spPr>
          <a:xfrm>
            <a:off x="3901651" y="270580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2" name="Google Shape;3372;p149"/>
          <p:cNvCxnSpPr>
            <a:stCxn id="3370" idx="0"/>
            <a:endCxn id="3369" idx="1"/>
          </p:cNvCxnSpPr>
          <p:nvPr/>
        </p:nvCxnSpPr>
        <p:spPr>
          <a:xfrm rot="-5400000">
            <a:off x="4181676" y="2338648"/>
            <a:ext cx="138000" cy="328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3" name="Google Shape;3373;p149"/>
          <p:cNvCxnSpPr>
            <a:stCxn id="3370" idx="2"/>
            <a:endCxn id="3360" idx="1"/>
          </p:cNvCxnSpPr>
          <p:nvPr/>
        </p:nvCxnSpPr>
        <p:spPr>
          <a:xfrm rot="-5400000">
            <a:off x="4179426" y="3008098"/>
            <a:ext cx="138600" cy="324300"/>
          </a:xfrm>
          <a:prstGeom prst="bentConnector4">
            <a:avLst>
              <a:gd fmla="val -171807" name="adj1"/>
              <a:gd fmla="val 9489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4" name="Google Shape;3374;p149"/>
          <p:cNvSpPr/>
          <p:nvPr/>
        </p:nvSpPr>
        <p:spPr>
          <a:xfrm>
            <a:off x="5562588" y="257169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5" name="Google Shape;3375;p149"/>
          <p:cNvSpPr/>
          <p:nvPr/>
        </p:nvSpPr>
        <p:spPr>
          <a:xfrm>
            <a:off x="5673314" y="271345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6" name="Google Shape;3376;p149"/>
          <p:cNvCxnSpPr>
            <a:stCxn id="3369" idx="3"/>
            <a:endCxn id="3374" idx="0"/>
          </p:cNvCxnSpPr>
          <p:nvPr/>
        </p:nvCxnSpPr>
        <p:spPr>
          <a:xfrm>
            <a:off x="5417863" y="2433838"/>
            <a:ext cx="435900" cy="13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7" name="Google Shape;3377;p149"/>
          <p:cNvCxnSpPr>
            <a:stCxn id="3360" idx="3"/>
            <a:endCxn id="3374" idx="2"/>
          </p:cNvCxnSpPr>
          <p:nvPr/>
        </p:nvCxnSpPr>
        <p:spPr>
          <a:xfrm>
            <a:off x="5437975" y="3100950"/>
            <a:ext cx="415800" cy="138600"/>
          </a:xfrm>
          <a:prstGeom prst="bentConnector4">
            <a:avLst>
              <a:gd fmla="val 14985" name="adj1"/>
              <a:gd fmla="val 27177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8" name="Google Shape;3378;p149"/>
          <p:cNvSpPr/>
          <p:nvPr/>
        </p:nvSpPr>
        <p:spPr>
          <a:xfrm>
            <a:off x="4118050" y="1952150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Rate Routing</a:t>
            </a:r>
            <a:endParaRPr sz="1000"/>
          </a:p>
        </p:txBody>
      </p:sp>
      <p:cxnSp>
        <p:nvCxnSpPr>
          <p:cNvPr id="3379" name="Google Shape;3379;p149"/>
          <p:cNvCxnSpPr>
            <a:stCxn id="3333" idx="3"/>
            <a:endCxn id="3370" idx="1"/>
          </p:cNvCxnSpPr>
          <p:nvPr/>
        </p:nvCxnSpPr>
        <p:spPr>
          <a:xfrm>
            <a:off x="3683816" y="2905639"/>
            <a:ext cx="11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0" name="Google Shape;3380;p149"/>
          <p:cNvCxnSpPr>
            <a:stCxn id="3374" idx="3"/>
            <a:endCxn id="3374" idx="3"/>
          </p:cNvCxnSpPr>
          <p:nvPr/>
        </p:nvCxnSpPr>
        <p:spPr>
          <a:xfrm>
            <a:off x="6145188" y="290559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1" name="Google Shape;3381;p149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5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p150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M-160-270: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Process Reference Operation Set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Production Engineering - Process Manufacturing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131"/>
              <a:buFont typeface="Arial"/>
              <a:buNone/>
            </a:pPr>
            <a:r>
              <a:rPr lang="en" sz="1520"/>
              <a:t>Solvay Role = enterprise data steward,  data domain lead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>
              <a:highlight>
                <a:srgbClr val="CC0000"/>
              </a:highlight>
            </a:endParaRPr>
          </a:p>
        </p:txBody>
      </p:sp>
      <p:sp>
        <p:nvSpPr>
          <p:cNvPr id="3387" name="Google Shape;3387;p150"/>
          <p:cNvSpPr/>
          <p:nvPr/>
        </p:nvSpPr>
        <p:spPr>
          <a:xfrm>
            <a:off x="2806316" y="25717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header Information</a:t>
            </a:r>
            <a:endParaRPr sz="900"/>
          </a:p>
        </p:txBody>
      </p:sp>
      <p:cxnSp>
        <p:nvCxnSpPr>
          <p:cNvPr id="3388" name="Google Shape;3388;p150"/>
          <p:cNvCxnSpPr>
            <a:stCxn id="3389" idx="6"/>
            <a:endCxn id="3387" idx="1"/>
          </p:cNvCxnSpPr>
          <p:nvPr/>
        </p:nvCxnSpPr>
        <p:spPr>
          <a:xfrm flipH="1" rot="10800000">
            <a:off x="716700" y="2905649"/>
            <a:ext cx="20895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0" name="Google Shape;3390;p150"/>
          <p:cNvCxnSpPr>
            <a:stCxn id="3387" idx="3"/>
            <a:endCxn id="3391" idx="1"/>
          </p:cNvCxnSpPr>
          <p:nvPr/>
        </p:nvCxnSpPr>
        <p:spPr>
          <a:xfrm>
            <a:off x="3683816" y="2905639"/>
            <a:ext cx="21984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9" name="Google Shape;3389;p150"/>
          <p:cNvSpPr/>
          <p:nvPr/>
        </p:nvSpPr>
        <p:spPr>
          <a:xfrm>
            <a:off x="0" y="252959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reference operation set needs to be updated or created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392" name="Google Shape;3392;p150"/>
          <p:cNvSpPr/>
          <p:nvPr/>
        </p:nvSpPr>
        <p:spPr>
          <a:xfrm>
            <a:off x="8450136" y="2586879"/>
            <a:ext cx="6483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reference operation set has been updated or created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393" name="Google Shape;3393;p150"/>
          <p:cNvSpPr/>
          <p:nvPr/>
        </p:nvSpPr>
        <p:spPr>
          <a:xfrm>
            <a:off x="876788" y="25870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4" name="Google Shape;3394;p150"/>
          <p:cNvSpPr/>
          <p:nvPr/>
        </p:nvSpPr>
        <p:spPr>
          <a:xfrm>
            <a:off x="983164" y="27210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5" name="Google Shape;3395;p150"/>
          <p:cNvCxnSpPr>
            <a:stCxn id="3389" idx="6"/>
            <a:endCxn id="3393" idx="1"/>
          </p:cNvCxnSpPr>
          <p:nvPr/>
        </p:nvCxnSpPr>
        <p:spPr>
          <a:xfrm>
            <a:off x="716700" y="292094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6" name="Google Shape;3396;p150"/>
          <p:cNvSpPr txBox="1"/>
          <p:nvPr/>
        </p:nvSpPr>
        <p:spPr>
          <a:xfrm>
            <a:off x="1398809" y="258703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397" name="Google Shape;3397;p150"/>
          <p:cNvSpPr/>
          <p:nvPr/>
        </p:nvSpPr>
        <p:spPr>
          <a:xfrm>
            <a:off x="3026379" y="166551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copy a reference operation set</a:t>
            </a:r>
            <a:endParaRPr sz="900"/>
          </a:p>
        </p:txBody>
      </p:sp>
      <p:sp>
        <p:nvSpPr>
          <p:cNvPr id="3398" name="Google Shape;3398;p150"/>
          <p:cNvSpPr/>
          <p:nvPr/>
        </p:nvSpPr>
        <p:spPr>
          <a:xfrm>
            <a:off x="2082254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9" name="Google Shape;3399;p150"/>
          <p:cNvSpPr/>
          <p:nvPr/>
        </p:nvSpPr>
        <p:spPr>
          <a:xfrm>
            <a:off x="2188629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0" name="Google Shape;3400;p150"/>
          <p:cNvSpPr txBox="1"/>
          <p:nvPr/>
        </p:nvSpPr>
        <p:spPr>
          <a:xfrm>
            <a:off x="2131337" y="320644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from scratch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401" name="Google Shape;3401;p150"/>
          <p:cNvSpPr txBox="1"/>
          <p:nvPr/>
        </p:nvSpPr>
        <p:spPr>
          <a:xfrm>
            <a:off x="2274855" y="163475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copy from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3402" name="Google Shape;3402;p150"/>
          <p:cNvCxnSpPr>
            <a:stCxn id="3398" idx="0"/>
            <a:endCxn id="3397" idx="1"/>
          </p:cNvCxnSpPr>
          <p:nvPr/>
        </p:nvCxnSpPr>
        <p:spPr>
          <a:xfrm rot="-5400000">
            <a:off x="2406254" y="1966823"/>
            <a:ext cx="587400" cy="652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03" name="Google Shape;3403;p150"/>
          <p:cNvSpPr txBox="1"/>
          <p:nvPr/>
        </p:nvSpPr>
        <p:spPr>
          <a:xfrm>
            <a:off x="1154724" y="354066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404" name="Google Shape;3404;p150"/>
          <p:cNvSpPr/>
          <p:nvPr/>
        </p:nvSpPr>
        <p:spPr>
          <a:xfrm>
            <a:off x="3966608" y="3738048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changes to the reference operation set</a:t>
            </a:r>
            <a:endParaRPr sz="900"/>
          </a:p>
        </p:txBody>
      </p:sp>
      <p:cxnSp>
        <p:nvCxnSpPr>
          <p:cNvPr id="3405" name="Google Shape;3405;p150"/>
          <p:cNvCxnSpPr>
            <a:stCxn id="3393" idx="2"/>
            <a:endCxn id="3404" idx="1"/>
          </p:cNvCxnSpPr>
          <p:nvPr/>
        </p:nvCxnSpPr>
        <p:spPr>
          <a:xfrm flipH="1" rot="-5400000">
            <a:off x="2158688" y="2264231"/>
            <a:ext cx="817200" cy="2798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6" name="Google Shape;3406;p150"/>
          <p:cNvCxnSpPr>
            <a:stCxn id="3407" idx="3"/>
            <a:endCxn id="3391" idx="0"/>
          </p:cNvCxnSpPr>
          <p:nvPr/>
        </p:nvCxnSpPr>
        <p:spPr>
          <a:xfrm>
            <a:off x="5010754" y="1999415"/>
            <a:ext cx="1162800" cy="579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1" name="Google Shape;3391;p150"/>
          <p:cNvSpPr/>
          <p:nvPr/>
        </p:nvSpPr>
        <p:spPr>
          <a:xfrm>
            <a:off x="5882238" y="257939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8" name="Google Shape;3408;p150"/>
          <p:cNvSpPr/>
          <p:nvPr/>
        </p:nvSpPr>
        <p:spPr>
          <a:xfrm>
            <a:off x="5988614" y="271345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9" name="Google Shape;3409;p150"/>
          <p:cNvSpPr/>
          <p:nvPr/>
        </p:nvSpPr>
        <p:spPr>
          <a:xfrm>
            <a:off x="6713785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p150"/>
          <p:cNvSpPr/>
          <p:nvPr/>
        </p:nvSpPr>
        <p:spPr>
          <a:xfrm>
            <a:off x="6820160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11" name="Google Shape;3411;p150"/>
          <p:cNvCxnSpPr>
            <a:stCxn id="3391" idx="3"/>
            <a:endCxn id="3409" idx="1"/>
          </p:cNvCxnSpPr>
          <p:nvPr/>
        </p:nvCxnSpPr>
        <p:spPr>
          <a:xfrm>
            <a:off x="6464838" y="2913298"/>
            <a:ext cx="2490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2" name="Google Shape;3412;p150"/>
          <p:cNvCxnSpPr>
            <a:stCxn id="3404" idx="3"/>
            <a:endCxn id="3409" idx="2"/>
          </p:cNvCxnSpPr>
          <p:nvPr/>
        </p:nvCxnSpPr>
        <p:spPr>
          <a:xfrm flipH="1" rot="10800000">
            <a:off x="4844108" y="3254748"/>
            <a:ext cx="2160900" cy="81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3" name="Google Shape;3413;p150"/>
          <p:cNvCxnSpPr>
            <a:stCxn id="3409" idx="3"/>
            <a:endCxn id="3392" idx="2"/>
          </p:cNvCxnSpPr>
          <p:nvPr/>
        </p:nvCxnSpPr>
        <p:spPr>
          <a:xfrm>
            <a:off x="7296385" y="2920823"/>
            <a:ext cx="115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4" name="Google Shape;3414;p150"/>
          <p:cNvSpPr/>
          <p:nvPr/>
        </p:nvSpPr>
        <p:spPr>
          <a:xfrm>
            <a:off x="7381175" y="25717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the </a:t>
            </a:r>
            <a:r>
              <a:rPr lang="en" sz="900"/>
              <a:t>reference operation set</a:t>
            </a:r>
            <a:endParaRPr sz="900"/>
          </a:p>
        </p:txBody>
      </p:sp>
      <p:sp>
        <p:nvSpPr>
          <p:cNvPr id="3415" name="Google Shape;3415;p150"/>
          <p:cNvSpPr/>
          <p:nvPr/>
        </p:nvSpPr>
        <p:spPr>
          <a:xfrm>
            <a:off x="3809779" y="25348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operations</a:t>
            </a:r>
            <a:endParaRPr sz="900"/>
          </a:p>
        </p:txBody>
      </p:sp>
      <p:sp>
        <p:nvSpPr>
          <p:cNvPr id="3407" name="Google Shape;3407;p150"/>
          <p:cNvSpPr/>
          <p:nvPr/>
        </p:nvSpPr>
        <p:spPr>
          <a:xfrm>
            <a:off x="4133254" y="166551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adjustments to the reference operation set</a:t>
            </a:r>
            <a:endParaRPr sz="900"/>
          </a:p>
        </p:txBody>
      </p:sp>
      <p:cxnSp>
        <p:nvCxnSpPr>
          <p:cNvPr id="3416" name="Google Shape;3416;p150"/>
          <p:cNvCxnSpPr>
            <a:stCxn id="3397" idx="3"/>
            <a:endCxn id="3407" idx="1"/>
          </p:cNvCxnSpPr>
          <p:nvPr/>
        </p:nvCxnSpPr>
        <p:spPr>
          <a:xfrm>
            <a:off x="3903879" y="1999415"/>
            <a:ext cx="2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7" name="Google Shape;3417;p150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418" name="Google Shape;3418;p150"/>
          <p:cNvSpPr/>
          <p:nvPr/>
        </p:nvSpPr>
        <p:spPr>
          <a:xfrm>
            <a:off x="3779000" y="4457175"/>
            <a:ext cx="1703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</a:t>
            </a:r>
            <a:r>
              <a:rPr lang="en" sz="1000">
                <a:solidFill>
                  <a:schemeClr val="dk1"/>
                </a:solidFill>
              </a:rPr>
              <a:t>Reference Operation Set</a:t>
            </a:r>
            <a:endParaRPr sz="1000"/>
          </a:p>
        </p:txBody>
      </p:sp>
      <p:sp>
        <p:nvSpPr>
          <p:cNvPr id="3419" name="Google Shape;3419;p150"/>
          <p:cNvSpPr/>
          <p:nvPr/>
        </p:nvSpPr>
        <p:spPr>
          <a:xfrm>
            <a:off x="2419175" y="1326775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>
                <a:solidFill>
                  <a:schemeClr val="dk1"/>
                </a:solidFill>
              </a:rPr>
              <a:t>Reference Operation Set</a:t>
            </a:r>
            <a:endParaRPr sz="1000"/>
          </a:p>
        </p:txBody>
      </p:sp>
      <p:sp>
        <p:nvSpPr>
          <p:cNvPr id="3420" name="Google Shape;3420;p150"/>
          <p:cNvSpPr/>
          <p:nvPr/>
        </p:nvSpPr>
        <p:spPr>
          <a:xfrm>
            <a:off x="3966600" y="1293100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>
                <a:solidFill>
                  <a:schemeClr val="dk1"/>
                </a:solidFill>
              </a:rPr>
              <a:t>Reference Operation Set</a:t>
            </a:r>
            <a:endParaRPr sz="1000"/>
          </a:p>
        </p:txBody>
      </p:sp>
      <p:sp>
        <p:nvSpPr>
          <p:cNvPr id="3421" name="Google Shape;3421;p150"/>
          <p:cNvSpPr/>
          <p:nvPr/>
        </p:nvSpPr>
        <p:spPr>
          <a:xfrm>
            <a:off x="2722775" y="3269400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/>
              <a:t>Reference Operation Set</a:t>
            </a:r>
            <a:endParaRPr sz="1000"/>
          </a:p>
        </p:txBody>
      </p:sp>
      <p:sp>
        <p:nvSpPr>
          <p:cNvPr id="3422" name="Google Shape;3422;p150"/>
          <p:cNvSpPr/>
          <p:nvPr/>
        </p:nvSpPr>
        <p:spPr>
          <a:xfrm>
            <a:off x="4351400" y="3239775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>
                <a:solidFill>
                  <a:schemeClr val="dk1"/>
                </a:solidFill>
              </a:rPr>
              <a:t>Reference Operation Set</a:t>
            </a:r>
            <a:endParaRPr sz="1000"/>
          </a:p>
        </p:txBody>
      </p:sp>
      <p:sp>
        <p:nvSpPr>
          <p:cNvPr id="3423" name="Google Shape;3423;p150"/>
          <p:cNvSpPr/>
          <p:nvPr/>
        </p:nvSpPr>
        <p:spPr>
          <a:xfrm>
            <a:off x="6924100" y="2277900"/>
            <a:ext cx="1703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create/</a:t>
            </a:r>
            <a:r>
              <a:rPr lang="en" sz="1000"/>
              <a:t>Change </a:t>
            </a:r>
            <a:r>
              <a:rPr lang="en" sz="1000">
                <a:solidFill>
                  <a:schemeClr val="dk1"/>
                </a:solidFill>
              </a:rPr>
              <a:t>Reference Operation Set</a:t>
            </a:r>
            <a:endParaRPr sz="1000"/>
          </a:p>
        </p:txBody>
      </p:sp>
      <p:sp>
        <p:nvSpPr>
          <p:cNvPr id="3424" name="Google Shape;3424;p150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8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151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5617"/>
              <a:buNone/>
            </a:pPr>
            <a:r>
              <a:rPr lang="en" sz="1779"/>
              <a:t>M-160-280:</a:t>
            </a:r>
            <a:r>
              <a:rPr lang="en" sz="3680"/>
              <a:t> </a:t>
            </a:r>
            <a:r>
              <a:rPr lang="en" sz="1520">
                <a:solidFill>
                  <a:schemeClr val="dk2"/>
                </a:solidFill>
              </a:rPr>
              <a:t>Process Reference Rate Routing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Role = Production Engineering - Process Manufacturing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>
              <a:highlight>
                <a:srgbClr val="CC0000"/>
              </a:highlight>
            </a:endParaRPr>
          </a:p>
        </p:txBody>
      </p:sp>
      <p:sp>
        <p:nvSpPr>
          <p:cNvPr id="3430" name="Google Shape;3430;p151"/>
          <p:cNvSpPr/>
          <p:nvPr/>
        </p:nvSpPr>
        <p:spPr>
          <a:xfrm>
            <a:off x="2806316" y="25717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header Information</a:t>
            </a:r>
            <a:endParaRPr sz="900"/>
          </a:p>
        </p:txBody>
      </p:sp>
      <p:cxnSp>
        <p:nvCxnSpPr>
          <p:cNvPr id="3431" name="Google Shape;3431;p151"/>
          <p:cNvCxnSpPr>
            <a:stCxn id="3432" idx="6"/>
            <a:endCxn id="3430" idx="1"/>
          </p:cNvCxnSpPr>
          <p:nvPr/>
        </p:nvCxnSpPr>
        <p:spPr>
          <a:xfrm flipH="1" rot="10800000">
            <a:off x="716700" y="2905649"/>
            <a:ext cx="20895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3" name="Google Shape;3433;p151"/>
          <p:cNvCxnSpPr>
            <a:stCxn id="3430" idx="3"/>
            <a:endCxn id="3434" idx="1"/>
          </p:cNvCxnSpPr>
          <p:nvPr/>
        </p:nvCxnSpPr>
        <p:spPr>
          <a:xfrm>
            <a:off x="3683816" y="2905639"/>
            <a:ext cx="21984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2" name="Google Shape;3432;p151"/>
          <p:cNvSpPr/>
          <p:nvPr/>
        </p:nvSpPr>
        <p:spPr>
          <a:xfrm>
            <a:off x="0" y="2529599"/>
            <a:ext cx="7167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A reference </a:t>
            </a:r>
            <a:r>
              <a:rPr lang="en" sz="600">
                <a:solidFill>
                  <a:schemeClr val="dk1"/>
                </a:solidFill>
              </a:rPr>
              <a:t>Rate Routing</a:t>
            </a:r>
            <a:r>
              <a:rPr lang="en" sz="600">
                <a:solidFill>
                  <a:schemeClr val="dk1"/>
                </a:solidFill>
              </a:rPr>
              <a:t> set needs to be updated or created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435" name="Google Shape;3435;p151"/>
          <p:cNvSpPr/>
          <p:nvPr/>
        </p:nvSpPr>
        <p:spPr>
          <a:xfrm>
            <a:off x="8450136" y="2586879"/>
            <a:ext cx="6483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reference </a:t>
            </a:r>
            <a:r>
              <a:rPr lang="en" sz="600">
                <a:solidFill>
                  <a:schemeClr val="dk1"/>
                </a:solidFill>
              </a:rPr>
              <a:t>Rate Routing Set </a:t>
            </a:r>
            <a:r>
              <a:rPr lang="en" sz="600">
                <a:solidFill>
                  <a:schemeClr val="dk1"/>
                </a:solidFill>
              </a:rPr>
              <a:t>has been updated or created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436" name="Google Shape;3436;p151"/>
          <p:cNvSpPr/>
          <p:nvPr/>
        </p:nvSpPr>
        <p:spPr>
          <a:xfrm>
            <a:off x="876788" y="2587031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7" name="Google Shape;3437;p151"/>
          <p:cNvSpPr/>
          <p:nvPr/>
        </p:nvSpPr>
        <p:spPr>
          <a:xfrm>
            <a:off x="983164" y="2721088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8" name="Google Shape;3438;p151"/>
          <p:cNvCxnSpPr>
            <a:stCxn id="3432" idx="6"/>
            <a:endCxn id="3436" idx="1"/>
          </p:cNvCxnSpPr>
          <p:nvPr/>
        </p:nvCxnSpPr>
        <p:spPr>
          <a:xfrm>
            <a:off x="716700" y="2920949"/>
            <a:ext cx="1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9" name="Google Shape;3439;p151"/>
          <p:cNvSpPr txBox="1"/>
          <p:nvPr/>
        </p:nvSpPr>
        <p:spPr>
          <a:xfrm>
            <a:off x="1398809" y="258703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Create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440" name="Google Shape;3440;p151"/>
          <p:cNvSpPr/>
          <p:nvPr/>
        </p:nvSpPr>
        <p:spPr>
          <a:xfrm>
            <a:off x="3026379" y="166551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copy a reference </a:t>
            </a:r>
            <a:r>
              <a:rPr lang="en" sz="900"/>
              <a:t>Rate Routing Set</a:t>
            </a:r>
            <a:endParaRPr sz="900"/>
          </a:p>
        </p:txBody>
      </p:sp>
      <p:sp>
        <p:nvSpPr>
          <p:cNvPr id="3441" name="Google Shape;3441;p151"/>
          <p:cNvSpPr/>
          <p:nvPr/>
        </p:nvSpPr>
        <p:spPr>
          <a:xfrm>
            <a:off x="2082254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2" name="Google Shape;3442;p151"/>
          <p:cNvSpPr/>
          <p:nvPr/>
        </p:nvSpPr>
        <p:spPr>
          <a:xfrm>
            <a:off x="2188629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3" name="Google Shape;3443;p151"/>
          <p:cNvSpPr txBox="1"/>
          <p:nvPr/>
        </p:nvSpPr>
        <p:spPr>
          <a:xfrm>
            <a:off x="2131337" y="3206449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from scratch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444" name="Google Shape;3444;p151"/>
          <p:cNvSpPr txBox="1"/>
          <p:nvPr/>
        </p:nvSpPr>
        <p:spPr>
          <a:xfrm>
            <a:off x="2274855" y="163475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copy from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3445" name="Google Shape;3445;p151"/>
          <p:cNvCxnSpPr>
            <a:stCxn id="3441" idx="0"/>
            <a:endCxn id="3440" idx="1"/>
          </p:cNvCxnSpPr>
          <p:nvPr/>
        </p:nvCxnSpPr>
        <p:spPr>
          <a:xfrm rot="-5400000">
            <a:off x="2406254" y="1966823"/>
            <a:ext cx="587400" cy="652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46" name="Google Shape;3446;p151"/>
          <p:cNvSpPr txBox="1"/>
          <p:nvPr/>
        </p:nvSpPr>
        <p:spPr>
          <a:xfrm>
            <a:off x="1154724" y="3540660"/>
            <a:ext cx="675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Condition: Update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447" name="Google Shape;3447;p151"/>
          <p:cNvSpPr/>
          <p:nvPr/>
        </p:nvSpPr>
        <p:spPr>
          <a:xfrm>
            <a:off x="3966608" y="3738048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changes to the reference </a:t>
            </a:r>
            <a:r>
              <a:rPr lang="en" sz="900"/>
              <a:t>Rate Routing</a:t>
            </a:r>
            <a:endParaRPr sz="900"/>
          </a:p>
        </p:txBody>
      </p:sp>
      <p:cxnSp>
        <p:nvCxnSpPr>
          <p:cNvPr id="3448" name="Google Shape;3448;p151"/>
          <p:cNvCxnSpPr>
            <a:stCxn id="3436" idx="2"/>
            <a:endCxn id="3447" idx="1"/>
          </p:cNvCxnSpPr>
          <p:nvPr/>
        </p:nvCxnSpPr>
        <p:spPr>
          <a:xfrm flipH="1" rot="-5400000">
            <a:off x="2158688" y="2264231"/>
            <a:ext cx="817200" cy="2798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9" name="Google Shape;3449;p151"/>
          <p:cNvCxnSpPr>
            <a:stCxn id="3450" idx="3"/>
            <a:endCxn id="3434" idx="0"/>
          </p:cNvCxnSpPr>
          <p:nvPr/>
        </p:nvCxnSpPr>
        <p:spPr>
          <a:xfrm>
            <a:off x="5010754" y="1999415"/>
            <a:ext cx="1162800" cy="579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4" name="Google Shape;3434;p151"/>
          <p:cNvSpPr/>
          <p:nvPr/>
        </p:nvSpPr>
        <p:spPr>
          <a:xfrm>
            <a:off x="5882238" y="2579398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1" name="Google Shape;3451;p151"/>
          <p:cNvSpPr/>
          <p:nvPr/>
        </p:nvSpPr>
        <p:spPr>
          <a:xfrm>
            <a:off x="5988614" y="2713455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2" name="Google Shape;3452;p151"/>
          <p:cNvSpPr/>
          <p:nvPr/>
        </p:nvSpPr>
        <p:spPr>
          <a:xfrm>
            <a:off x="6713785" y="2586923"/>
            <a:ext cx="5826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3" name="Google Shape;3453;p151"/>
          <p:cNvSpPr/>
          <p:nvPr/>
        </p:nvSpPr>
        <p:spPr>
          <a:xfrm>
            <a:off x="6820160" y="2720980"/>
            <a:ext cx="3696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54" name="Google Shape;3454;p151"/>
          <p:cNvCxnSpPr>
            <a:stCxn id="3434" idx="3"/>
            <a:endCxn id="3452" idx="1"/>
          </p:cNvCxnSpPr>
          <p:nvPr/>
        </p:nvCxnSpPr>
        <p:spPr>
          <a:xfrm>
            <a:off x="6464838" y="2913298"/>
            <a:ext cx="2490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5" name="Google Shape;3455;p151"/>
          <p:cNvCxnSpPr>
            <a:stCxn id="3447" idx="3"/>
            <a:endCxn id="3452" idx="2"/>
          </p:cNvCxnSpPr>
          <p:nvPr/>
        </p:nvCxnSpPr>
        <p:spPr>
          <a:xfrm flipH="1" rot="10800000">
            <a:off x="4844108" y="3254748"/>
            <a:ext cx="2160900" cy="81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6" name="Google Shape;3456;p151"/>
          <p:cNvCxnSpPr>
            <a:stCxn id="3452" idx="3"/>
            <a:endCxn id="3435" idx="2"/>
          </p:cNvCxnSpPr>
          <p:nvPr/>
        </p:nvCxnSpPr>
        <p:spPr>
          <a:xfrm>
            <a:off x="7296385" y="2920823"/>
            <a:ext cx="115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7" name="Google Shape;3457;p151"/>
          <p:cNvSpPr/>
          <p:nvPr/>
        </p:nvSpPr>
        <p:spPr>
          <a:xfrm>
            <a:off x="7381175" y="2571740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Save the reference </a:t>
            </a:r>
            <a:r>
              <a:rPr lang="en" sz="900"/>
              <a:t>Rate Routing Set</a:t>
            </a:r>
            <a:endParaRPr sz="900"/>
          </a:p>
        </p:txBody>
      </p:sp>
      <p:sp>
        <p:nvSpPr>
          <p:cNvPr id="3458" name="Google Shape;3458;p151"/>
          <p:cNvSpPr/>
          <p:nvPr/>
        </p:nvSpPr>
        <p:spPr>
          <a:xfrm>
            <a:off x="4433991" y="2538639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input the operations</a:t>
            </a:r>
            <a:endParaRPr sz="900"/>
          </a:p>
        </p:txBody>
      </p:sp>
      <p:sp>
        <p:nvSpPr>
          <p:cNvPr id="3450" name="Google Shape;3450;p151"/>
          <p:cNvSpPr/>
          <p:nvPr/>
        </p:nvSpPr>
        <p:spPr>
          <a:xfrm>
            <a:off x="4133254" y="1665515"/>
            <a:ext cx="877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make adjustments to the reference </a:t>
            </a:r>
            <a:r>
              <a:rPr lang="en" sz="900"/>
              <a:t>Rate Routing Set</a:t>
            </a:r>
            <a:endParaRPr sz="900"/>
          </a:p>
        </p:txBody>
      </p:sp>
      <p:cxnSp>
        <p:nvCxnSpPr>
          <p:cNvPr id="3459" name="Google Shape;3459;p151"/>
          <p:cNvCxnSpPr>
            <a:stCxn id="3440" idx="3"/>
            <a:endCxn id="3450" idx="1"/>
          </p:cNvCxnSpPr>
          <p:nvPr/>
        </p:nvCxnSpPr>
        <p:spPr>
          <a:xfrm>
            <a:off x="3903879" y="1999415"/>
            <a:ext cx="2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0" name="Google Shape;3460;p151"/>
          <p:cNvSpPr/>
          <p:nvPr/>
        </p:nvSpPr>
        <p:spPr>
          <a:xfrm>
            <a:off x="51400" y="47367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461" name="Google Shape;3461;p151"/>
          <p:cNvSpPr/>
          <p:nvPr/>
        </p:nvSpPr>
        <p:spPr>
          <a:xfrm>
            <a:off x="3779000" y="4457175"/>
            <a:ext cx="1703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Change </a:t>
            </a:r>
            <a:r>
              <a:rPr lang="en" sz="1000">
                <a:solidFill>
                  <a:schemeClr val="dk1"/>
                </a:solidFill>
              </a:rPr>
              <a:t>Reference </a:t>
            </a:r>
            <a:r>
              <a:rPr lang="en" sz="1000">
                <a:solidFill>
                  <a:schemeClr val="dk1"/>
                </a:solidFill>
              </a:rPr>
              <a:t>Rate Routing Set</a:t>
            </a:r>
            <a:endParaRPr sz="1000"/>
          </a:p>
        </p:txBody>
      </p:sp>
      <p:sp>
        <p:nvSpPr>
          <p:cNvPr id="3462" name="Google Shape;3462;p151"/>
          <p:cNvSpPr/>
          <p:nvPr/>
        </p:nvSpPr>
        <p:spPr>
          <a:xfrm>
            <a:off x="2419175" y="1326775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>
                <a:solidFill>
                  <a:schemeClr val="dk1"/>
                </a:solidFill>
              </a:rPr>
              <a:t>Reference Rate Routing Set</a:t>
            </a:r>
            <a:endParaRPr sz="1000"/>
          </a:p>
        </p:txBody>
      </p:sp>
      <p:sp>
        <p:nvSpPr>
          <p:cNvPr id="3463" name="Google Shape;3463;p151"/>
          <p:cNvSpPr/>
          <p:nvPr/>
        </p:nvSpPr>
        <p:spPr>
          <a:xfrm>
            <a:off x="3966600" y="1293100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>
                <a:solidFill>
                  <a:schemeClr val="dk1"/>
                </a:solidFill>
              </a:rPr>
              <a:t>Reference </a:t>
            </a:r>
            <a:r>
              <a:rPr lang="en" sz="1000">
                <a:solidFill>
                  <a:schemeClr val="dk1"/>
                </a:solidFill>
              </a:rPr>
              <a:t>Rate Routing Set</a:t>
            </a:r>
            <a:endParaRPr sz="1000"/>
          </a:p>
        </p:txBody>
      </p:sp>
      <p:sp>
        <p:nvSpPr>
          <p:cNvPr id="3464" name="Google Shape;3464;p151"/>
          <p:cNvSpPr/>
          <p:nvPr/>
        </p:nvSpPr>
        <p:spPr>
          <a:xfrm>
            <a:off x="2722775" y="3269400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Reference </a:t>
            </a:r>
            <a:r>
              <a:rPr lang="en" sz="1000">
                <a:solidFill>
                  <a:schemeClr val="dk1"/>
                </a:solidFill>
              </a:rPr>
              <a:t>Rate Routing Set</a:t>
            </a:r>
            <a:endParaRPr sz="1000"/>
          </a:p>
        </p:txBody>
      </p:sp>
      <p:sp>
        <p:nvSpPr>
          <p:cNvPr id="3465" name="Google Shape;3465;p151"/>
          <p:cNvSpPr/>
          <p:nvPr/>
        </p:nvSpPr>
        <p:spPr>
          <a:xfrm>
            <a:off x="4351400" y="3239775"/>
            <a:ext cx="14847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</a:t>
            </a:r>
            <a:r>
              <a:rPr lang="en" sz="1000">
                <a:solidFill>
                  <a:schemeClr val="dk1"/>
                </a:solidFill>
              </a:rPr>
              <a:t>Reference </a:t>
            </a:r>
            <a:r>
              <a:rPr lang="en" sz="1000">
                <a:solidFill>
                  <a:schemeClr val="dk1"/>
                </a:solidFill>
              </a:rPr>
              <a:t>Rate Routing Set</a:t>
            </a:r>
            <a:endParaRPr sz="1000"/>
          </a:p>
        </p:txBody>
      </p:sp>
      <p:sp>
        <p:nvSpPr>
          <p:cNvPr id="3466" name="Google Shape;3466;p151"/>
          <p:cNvSpPr/>
          <p:nvPr/>
        </p:nvSpPr>
        <p:spPr>
          <a:xfrm>
            <a:off x="6173550" y="4363425"/>
            <a:ext cx="2968800" cy="7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Reference Rate Routing apps not in Celonis</a:t>
            </a:r>
            <a:endParaRPr/>
          </a:p>
        </p:txBody>
      </p:sp>
      <p:sp>
        <p:nvSpPr>
          <p:cNvPr id="3467" name="Google Shape;3467;p151"/>
          <p:cNvSpPr/>
          <p:nvPr/>
        </p:nvSpPr>
        <p:spPr>
          <a:xfrm>
            <a:off x="6968225" y="2277900"/>
            <a:ext cx="17034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Create/</a:t>
            </a:r>
            <a:r>
              <a:rPr lang="en" sz="1000"/>
              <a:t>Change </a:t>
            </a:r>
            <a:r>
              <a:rPr lang="en" sz="1000">
                <a:solidFill>
                  <a:schemeClr val="dk1"/>
                </a:solidFill>
              </a:rPr>
              <a:t>Reference Rate Routing Set</a:t>
            </a:r>
            <a:endParaRPr sz="1000"/>
          </a:p>
        </p:txBody>
      </p:sp>
      <p:sp>
        <p:nvSpPr>
          <p:cNvPr id="3468" name="Google Shape;3468;p151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2" name="Shape 3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Google Shape;3473;p15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7.5 </a:t>
            </a:r>
            <a:r>
              <a:rPr lang="en" sz="2800">
                <a:solidFill>
                  <a:schemeClr val="dk2"/>
                </a:solidFill>
              </a:rPr>
              <a:t> Manage Plan to Produce Data</a:t>
            </a:r>
            <a:endParaRPr/>
          </a:p>
        </p:txBody>
      </p:sp>
      <p:sp>
        <p:nvSpPr>
          <p:cNvPr id="3474" name="Google Shape;3474;p1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7.5.2 </a:t>
            </a:r>
            <a:r>
              <a:rPr lang="en"/>
              <a:t>Manage Delivery Master Data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8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79" name="Google Shape;3479;p153"/>
          <p:cNvCxnSpPr>
            <a:stCxn id="3480" idx="0"/>
            <a:endCxn id="3481" idx="1"/>
          </p:cNvCxnSpPr>
          <p:nvPr/>
        </p:nvCxnSpPr>
        <p:spPr>
          <a:xfrm rot="-5400000">
            <a:off x="1932710" y="345537"/>
            <a:ext cx="767100" cy="2542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2" name="Google Shape;3482;p153"/>
          <p:cNvSpPr txBox="1"/>
          <p:nvPr>
            <p:ph type="title"/>
          </p:nvPr>
        </p:nvSpPr>
        <p:spPr>
          <a:xfrm>
            <a:off x="0" y="0"/>
            <a:ext cx="8520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/>
              <a:t>Manage Certificate of Analysis master data</a:t>
            </a:r>
            <a:endParaRPr sz="15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</p:txBody>
      </p:sp>
      <p:sp>
        <p:nvSpPr>
          <p:cNvPr id="3483" name="Google Shape;3483;p153"/>
          <p:cNvSpPr/>
          <p:nvPr/>
        </p:nvSpPr>
        <p:spPr>
          <a:xfrm>
            <a:off x="91600" y="4723825"/>
            <a:ext cx="11619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484" name="Google Shape;3484;p153"/>
          <p:cNvSpPr/>
          <p:nvPr/>
        </p:nvSpPr>
        <p:spPr>
          <a:xfrm>
            <a:off x="2602627" y="899306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Profile header</a:t>
            </a:r>
            <a:endParaRPr sz="700"/>
          </a:p>
        </p:txBody>
      </p:sp>
      <p:sp>
        <p:nvSpPr>
          <p:cNvPr id="3481" name="Google Shape;3481;p153"/>
          <p:cNvSpPr/>
          <p:nvPr/>
        </p:nvSpPr>
        <p:spPr>
          <a:xfrm>
            <a:off x="3587352" y="899306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Create profile </a:t>
            </a:r>
            <a:r>
              <a:rPr lang="en" sz="600"/>
              <a:t>characteristics</a:t>
            </a:r>
            <a:endParaRPr sz="600"/>
          </a:p>
        </p:txBody>
      </p:sp>
      <p:cxnSp>
        <p:nvCxnSpPr>
          <p:cNvPr id="3485" name="Google Shape;3485;p153"/>
          <p:cNvCxnSpPr>
            <a:stCxn id="3481" idx="3"/>
            <a:endCxn id="3486" idx="0"/>
          </p:cNvCxnSpPr>
          <p:nvPr/>
        </p:nvCxnSpPr>
        <p:spPr>
          <a:xfrm>
            <a:off x="4210152" y="1233206"/>
            <a:ext cx="2026200" cy="767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7" name="Google Shape;3487;p153"/>
          <p:cNvSpPr/>
          <p:nvPr/>
        </p:nvSpPr>
        <p:spPr>
          <a:xfrm>
            <a:off x="2665624" y="710825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QC01</a:t>
            </a:r>
            <a:endParaRPr sz="1000"/>
          </a:p>
        </p:txBody>
      </p:sp>
      <p:sp>
        <p:nvSpPr>
          <p:cNvPr id="3488" name="Google Shape;3488;p153"/>
          <p:cNvSpPr/>
          <p:nvPr/>
        </p:nvSpPr>
        <p:spPr>
          <a:xfrm>
            <a:off x="91600" y="1942732"/>
            <a:ext cx="6228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need to manage COA master data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480" name="Google Shape;3480;p153"/>
          <p:cNvSpPr/>
          <p:nvPr/>
        </p:nvSpPr>
        <p:spPr>
          <a:xfrm>
            <a:off x="836810" y="2000187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9" name="Google Shape;3489;p153"/>
          <p:cNvSpPr/>
          <p:nvPr/>
        </p:nvSpPr>
        <p:spPr>
          <a:xfrm>
            <a:off x="912860" y="2134243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0" name="Google Shape;3490;p153"/>
          <p:cNvSpPr txBox="1"/>
          <p:nvPr/>
        </p:nvSpPr>
        <p:spPr>
          <a:xfrm>
            <a:off x="510175" y="962525"/>
            <a:ext cx="7458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Create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491" name="Google Shape;3491;p153"/>
          <p:cNvSpPr txBox="1"/>
          <p:nvPr/>
        </p:nvSpPr>
        <p:spPr>
          <a:xfrm>
            <a:off x="714400" y="3203300"/>
            <a:ext cx="7458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Update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492" name="Google Shape;3492;p153"/>
          <p:cNvSpPr/>
          <p:nvPr/>
        </p:nvSpPr>
        <p:spPr>
          <a:xfrm>
            <a:off x="3007100" y="2065975"/>
            <a:ext cx="1267200" cy="45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change Certificate Profile header</a:t>
            </a:r>
            <a:endParaRPr sz="700"/>
          </a:p>
        </p:txBody>
      </p:sp>
      <p:sp>
        <p:nvSpPr>
          <p:cNvPr id="3493" name="Google Shape;3493;p153"/>
          <p:cNvSpPr/>
          <p:nvPr/>
        </p:nvSpPr>
        <p:spPr>
          <a:xfrm>
            <a:off x="3043700" y="3438425"/>
            <a:ext cx="1267200" cy="45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change Profile materials</a:t>
            </a:r>
            <a:endParaRPr sz="700"/>
          </a:p>
        </p:txBody>
      </p:sp>
      <p:sp>
        <p:nvSpPr>
          <p:cNvPr id="3494" name="Google Shape;3494;p153"/>
          <p:cNvSpPr/>
          <p:nvPr/>
        </p:nvSpPr>
        <p:spPr>
          <a:xfrm>
            <a:off x="3080525" y="4139025"/>
            <a:ext cx="1267200" cy="45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change profile characteristics</a:t>
            </a:r>
            <a:endParaRPr sz="600"/>
          </a:p>
        </p:txBody>
      </p:sp>
      <p:sp>
        <p:nvSpPr>
          <p:cNvPr id="3495" name="Google Shape;3495;p153"/>
          <p:cNvSpPr/>
          <p:nvPr/>
        </p:nvSpPr>
        <p:spPr>
          <a:xfrm>
            <a:off x="1788272" y="2824262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6" name="Google Shape;3496;p153"/>
          <p:cNvSpPr/>
          <p:nvPr/>
        </p:nvSpPr>
        <p:spPr>
          <a:xfrm>
            <a:off x="1892363" y="3032300"/>
            <a:ext cx="208500" cy="25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7" name="Google Shape;3497;p153"/>
          <p:cNvSpPr/>
          <p:nvPr/>
        </p:nvSpPr>
        <p:spPr>
          <a:xfrm>
            <a:off x="5122597" y="2824262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8" name="Google Shape;3498;p153"/>
          <p:cNvSpPr/>
          <p:nvPr/>
        </p:nvSpPr>
        <p:spPr>
          <a:xfrm>
            <a:off x="5226688" y="3032300"/>
            <a:ext cx="208500" cy="25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99" name="Google Shape;3499;p153"/>
          <p:cNvCxnSpPr>
            <a:stCxn id="3480" idx="2"/>
            <a:endCxn id="3495" idx="1"/>
          </p:cNvCxnSpPr>
          <p:nvPr/>
        </p:nvCxnSpPr>
        <p:spPr>
          <a:xfrm flipH="1" rot="-5400000">
            <a:off x="1171610" y="2541537"/>
            <a:ext cx="490200" cy="743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0" name="Google Shape;3500;p153"/>
          <p:cNvCxnSpPr>
            <a:stCxn id="3497" idx="3"/>
            <a:endCxn id="3486" idx="2"/>
          </p:cNvCxnSpPr>
          <p:nvPr/>
        </p:nvCxnSpPr>
        <p:spPr>
          <a:xfrm flipH="1" rot="10800000">
            <a:off x="5539297" y="2667962"/>
            <a:ext cx="696900" cy="490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6" name="Google Shape;3486;p153"/>
          <p:cNvSpPr/>
          <p:nvPr/>
        </p:nvSpPr>
        <p:spPr>
          <a:xfrm>
            <a:off x="6027910" y="2000187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1" name="Google Shape;3501;p153"/>
          <p:cNvSpPr/>
          <p:nvPr/>
        </p:nvSpPr>
        <p:spPr>
          <a:xfrm>
            <a:off x="6103960" y="2134243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2" name="Google Shape;3502;p153"/>
          <p:cNvSpPr/>
          <p:nvPr/>
        </p:nvSpPr>
        <p:spPr>
          <a:xfrm>
            <a:off x="6862425" y="1942707"/>
            <a:ext cx="6228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COA master data managed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3503" name="Google Shape;3503;p153"/>
          <p:cNvCxnSpPr>
            <a:stCxn id="3495" idx="2"/>
            <a:endCxn id="3493" idx="1"/>
          </p:cNvCxnSpPr>
          <p:nvPr/>
        </p:nvCxnSpPr>
        <p:spPr>
          <a:xfrm flipH="1" rot="-5400000">
            <a:off x="2433572" y="3055112"/>
            <a:ext cx="173100" cy="1047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4" name="Google Shape;3504;p153"/>
          <p:cNvCxnSpPr>
            <a:stCxn id="3495" idx="2"/>
            <a:endCxn id="3494" idx="1"/>
          </p:cNvCxnSpPr>
          <p:nvPr/>
        </p:nvCxnSpPr>
        <p:spPr>
          <a:xfrm flipH="1" rot="-5400000">
            <a:off x="2101772" y="3386912"/>
            <a:ext cx="873600" cy="108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5" name="Google Shape;3505;p153"/>
          <p:cNvCxnSpPr>
            <a:stCxn id="3495" idx="0"/>
            <a:endCxn id="3492" idx="1"/>
          </p:cNvCxnSpPr>
          <p:nvPr/>
        </p:nvCxnSpPr>
        <p:spPr>
          <a:xfrm rot="-5400000">
            <a:off x="2236022" y="2053262"/>
            <a:ext cx="531600" cy="101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6" name="Google Shape;3506;p153"/>
          <p:cNvCxnSpPr>
            <a:stCxn id="3493" idx="3"/>
            <a:endCxn id="3497" idx="2"/>
          </p:cNvCxnSpPr>
          <p:nvPr/>
        </p:nvCxnSpPr>
        <p:spPr>
          <a:xfrm flipH="1" rot="10800000">
            <a:off x="4310900" y="3491975"/>
            <a:ext cx="1020000" cy="173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7" name="Google Shape;3507;p153"/>
          <p:cNvCxnSpPr>
            <a:stCxn id="3494" idx="3"/>
            <a:endCxn id="3497" idx="2"/>
          </p:cNvCxnSpPr>
          <p:nvPr/>
        </p:nvCxnSpPr>
        <p:spPr>
          <a:xfrm flipH="1" rot="10800000">
            <a:off x="4347725" y="3492075"/>
            <a:ext cx="983100" cy="873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8" name="Google Shape;3508;p153"/>
          <p:cNvCxnSpPr>
            <a:stCxn id="3492" idx="3"/>
            <a:endCxn id="3497" idx="0"/>
          </p:cNvCxnSpPr>
          <p:nvPr/>
        </p:nvCxnSpPr>
        <p:spPr>
          <a:xfrm>
            <a:off x="4274300" y="2292625"/>
            <a:ext cx="1056600" cy="531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9" name="Google Shape;3509;p153"/>
          <p:cNvCxnSpPr>
            <a:stCxn id="3486" idx="3"/>
            <a:endCxn id="3502" idx="2"/>
          </p:cNvCxnSpPr>
          <p:nvPr/>
        </p:nvCxnSpPr>
        <p:spPr>
          <a:xfrm>
            <a:off x="6444610" y="2334087"/>
            <a:ext cx="417900" cy="6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0" name="Google Shape;3510;p153"/>
          <p:cNvCxnSpPr>
            <a:endCxn id="3480" idx="1"/>
          </p:cNvCxnSpPr>
          <p:nvPr/>
        </p:nvCxnSpPr>
        <p:spPr>
          <a:xfrm>
            <a:off x="714410" y="2333487"/>
            <a:ext cx="1224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1" name="Google Shape;3511;p153"/>
          <p:cNvSpPr/>
          <p:nvPr/>
        </p:nvSpPr>
        <p:spPr>
          <a:xfrm>
            <a:off x="1685215" y="899306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Select Certificate Type</a:t>
            </a:r>
            <a:endParaRPr sz="700"/>
          </a:p>
        </p:txBody>
      </p:sp>
      <p:sp>
        <p:nvSpPr>
          <p:cNvPr id="3512" name="Google Shape;3512;p153"/>
          <p:cNvSpPr/>
          <p:nvPr/>
        </p:nvSpPr>
        <p:spPr>
          <a:xfrm>
            <a:off x="1748224" y="613200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QC01</a:t>
            </a:r>
            <a:endParaRPr sz="1000"/>
          </a:p>
        </p:txBody>
      </p:sp>
      <p:sp>
        <p:nvSpPr>
          <p:cNvPr id="3513" name="Google Shape;3513;p153"/>
          <p:cNvSpPr/>
          <p:nvPr/>
        </p:nvSpPr>
        <p:spPr>
          <a:xfrm>
            <a:off x="3618849" y="710825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QC01</a:t>
            </a:r>
            <a:endParaRPr sz="1000"/>
          </a:p>
        </p:txBody>
      </p:sp>
      <p:sp>
        <p:nvSpPr>
          <p:cNvPr id="3514" name="Google Shape;3514;p153"/>
          <p:cNvSpPr/>
          <p:nvPr/>
        </p:nvSpPr>
        <p:spPr>
          <a:xfrm>
            <a:off x="4572077" y="899306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Create profile materials</a:t>
            </a:r>
            <a:endParaRPr sz="600"/>
          </a:p>
        </p:txBody>
      </p:sp>
      <p:sp>
        <p:nvSpPr>
          <p:cNvPr id="3515" name="Google Shape;3515;p153"/>
          <p:cNvSpPr/>
          <p:nvPr/>
        </p:nvSpPr>
        <p:spPr>
          <a:xfrm>
            <a:off x="4572074" y="689175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QC01</a:t>
            </a:r>
            <a:endParaRPr sz="1000"/>
          </a:p>
        </p:txBody>
      </p:sp>
      <p:sp>
        <p:nvSpPr>
          <p:cNvPr id="3516" name="Google Shape;3516;p153"/>
          <p:cNvSpPr/>
          <p:nvPr/>
        </p:nvSpPr>
        <p:spPr>
          <a:xfrm>
            <a:off x="3290224" y="1814275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QC02</a:t>
            </a:r>
            <a:endParaRPr sz="1000"/>
          </a:p>
        </p:txBody>
      </p:sp>
      <p:sp>
        <p:nvSpPr>
          <p:cNvPr id="3517" name="Google Shape;3517;p153"/>
          <p:cNvSpPr/>
          <p:nvPr/>
        </p:nvSpPr>
        <p:spPr>
          <a:xfrm>
            <a:off x="3383887" y="3203300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QC02</a:t>
            </a:r>
            <a:endParaRPr sz="1000"/>
          </a:p>
        </p:txBody>
      </p:sp>
      <p:sp>
        <p:nvSpPr>
          <p:cNvPr id="3518" name="Google Shape;3518;p153"/>
          <p:cNvSpPr/>
          <p:nvPr/>
        </p:nvSpPr>
        <p:spPr>
          <a:xfrm>
            <a:off x="3477599" y="3971875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QC02</a:t>
            </a:r>
            <a:endParaRPr sz="1000"/>
          </a:p>
        </p:txBody>
      </p:sp>
      <p:sp>
        <p:nvSpPr>
          <p:cNvPr id="3519" name="Google Shape;3519;p153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3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3524;p1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7.5  Manage Plan to Produce Data</a:t>
            </a:r>
            <a:endParaRPr/>
          </a:p>
        </p:txBody>
      </p:sp>
      <p:sp>
        <p:nvSpPr>
          <p:cNvPr id="3525" name="Google Shape;3525;p1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7.5.3 Manage Quality master data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p155"/>
          <p:cNvSpPr txBox="1"/>
          <p:nvPr>
            <p:ph type="title"/>
          </p:nvPr>
        </p:nvSpPr>
        <p:spPr>
          <a:xfrm>
            <a:off x="-29950" y="-212325"/>
            <a:ext cx="38985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7181"/>
              <a:buNone/>
            </a:pPr>
            <a:r>
              <a:rPr lang="en" sz="1135"/>
              <a:t>M-160-050:</a:t>
            </a:r>
            <a:r>
              <a:rPr lang="en" sz="3035"/>
              <a:t> </a:t>
            </a:r>
            <a:r>
              <a:rPr lang="en" sz="875">
                <a:solidFill>
                  <a:schemeClr val="dk2"/>
                </a:solidFill>
              </a:rPr>
              <a:t>Process QM Master Data</a:t>
            </a:r>
            <a:endParaRPr sz="87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3070"/>
              <a:buNone/>
            </a:pPr>
            <a:r>
              <a:rPr lang="en" sz="875"/>
              <a:t>Role = Quality Planner</a:t>
            </a:r>
            <a:endParaRPr sz="87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3070"/>
              <a:buNone/>
            </a:pPr>
            <a:r>
              <a:t/>
            </a:r>
            <a:endParaRPr sz="87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3070"/>
              <a:buNone/>
            </a:pPr>
            <a:r>
              <a:rPr lang="en" sz="875">
                <a:highlight>
                  <a:srgbClr val="FCE5CD"/>
                </a:highlight>
              </a:rPr>
              <a:t>Part one</a:t>
            </a:r>
            <a:endParaRPr sz="875">
              <a:highlight>
                <a:srgbClr val="FCE5CD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>
              <a:highlight>
                <a:srgbClr val="CC0000"/>
              </a:highlight>
            </a:endParaRPr>
          </a:p>
        </p:txBody>
      </p:sp>
      <p:sp>
        <p:nvSpPr>
          <p:cNvPr id="3531" name="Google Shape;3531;p155"/>
          <p:cNvSpPr/>
          <p:nvPr/>
        </p:nvSpPr>
        <p:spPr>
          <a:xfrm>
            <a:off x="0" y="2529607"/>
            <a:ext cx="6228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need to process QM master data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532" name="Google Shape;3532;p155"/>
          <p:cNvSpPr/>
          <p:nvPr/>
        </p:nvSpPr>
        <p:spPr>
          <a:xfrm>
            <a:off x="8571523" y="2644504"/>
            <a:ext cx="5334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QM master data processed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533" name="Google Shape;3533;p155"/>
          <p:cNvSpPr/>
          <p:nvPr/>
        </p:nvSpPr>
        <p:spPr>
          <a:xfrm>
            <a:off x="1238580" y="2587058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4" name="Google Shape;3534;p155"/>
          <p:cNvCxnSpPr>
            <a:stCxn id="3531" idx="6"/>
            <a:endCxn id="3533" idx="1"/>
          </p:cNvCxnSpPr>
          <p:nvPr/>
        </p:nvCxnSpPr>
        <p:spPr>
          <a:xfrm>
            <a:off x="622800" y="2920957"/>
            <a:ext cx="61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5" name="Google Shape;3535;p155"/>
          <p:cNvSpPr/>
          <p:nvPr/>
        </p:nvSpPr>
        <p:spPr>
          <a:xfrm>
            <a:off x="44652" y="4736725"/>
            <a:ext cx="1009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536" name="Google Shape;3536;p155"/>
          <p:cNvSpPr/>
          <p:nvPr/>
        </p:nvSpPr>
        <p:spPr>
          <a:xfrm>
            <a:off x="1286273" y="2735220"/>
            <a:ext cx="321000" cy="3714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7" name="Google Shape;3537;p155"/>
          <p:cNvCxnSpPr>
            <a:stCxn id="3533" idx="2"/>
            <a:endCxn id="3538" idx="1"/>
          </p:cNvCxnSpPr>
          <p:nvPr/>
        </p:nvCxnSpPr>
        <p:spPr>
          <a:xfrm flipH="1" rot="-5400000">
            <a:off x="1466880" y="3234908"/>
            <a:ext cx="221700" cy="261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9" name="Google Shape;3539;p155"/>
          <p:cNvCxnSpPr/>
          <p:nvPr/>
        </p:nvCxnSpPr>
        <p:spPr>
          <a:xfrm>
            <a:off x="6908204" y="2978412"/>
            <a:ext cx="53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0" name="Google Shape;3540;p155"/>
          <p:cNvSpPr/>
          <p:nvPr/>
        </p:nvSpPr>
        <p:spPr>
          <a:xfrm>
            <a:off x="696279" y="2587064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1" name="Google Shape;3541;p155"/>
          <p:cNvSpPr/>
          <p:nvPr/>
        </p:nvSpPr>
        <p:spPr>
          <a:xfrm>
            <a:off x="772329" y="2721120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2" name="Google Shape;3542;p155"/>
          <p:cNvSpPr/>
          <p:nvPr/>
        </p:nvSpPr>
        <p:spPr>
          <a:xfrm>
            <a:off x="6930927" y="2638564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3" name="Google Shape;3543;p155"/>
          <p:cNvSpPr/>
          <p:nvPr/>
        </p:nvSpPr>
        <p:spPr>
          <a:xfrm>
            <a:off x="7006978" y="2772620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4" name="Google Shape;3544;p155"/>
          <p:cNvSpPr txBox="1"/>
          <p:nvPr/>
        </p:nvSpPr>
        <p:spPr>
          <a:xfrm>
            <a:off x="330561" y="3810325"/>
            <a:ext cx="5064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Material not QM Relevant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545" name="Google Shape;3545;p155"/>
          <p:cNvSpPr txBox="1"/>
          <p:nvPr/>
        </p:nvSpPr>
        <p:spPr>
          <a:xfrm>
            <a:off x="981357" y="2260622"/>
            <a:ext cx="5064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Material QM Relevant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538" name="Google Shape;3538;p155"/>
          <p:cNvSpPr/>
          <p:nvPr/>
        </p:nvSpPr>
        <p:spPr>
          <a:xfrm>
            <a:off x="1708552" y="3142531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Assign Inspection Types</a:t>
            </a:r>
            <a:endParaRPr sz="900"/>
          </a:p>
        </p:txBody>
      </p:sp>
      <p:sp>
        <p:nvSpPr>
          <p:cNvPr id="3546" name="Google Shape;3546;p155"/>
          <p:cNvSpPr/>
          <p:nvPr/>
        </p:nvSpPr>
        <p:spPr>
          <a:xfrm>
            <a:off x="2453935" y="3142537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7" name="Google Shape;3547;p155"/>
          <p:cNvSpPr/>
          <p:nvPr/>
        </p:nvSpPr>
        <p:spPr>
          <a:xfrm>
            <a:off x="2529985" y="3276593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48" name="Google Shape;3548;p155"/>
          <p:cNvCxnSpPr>
            <a:stCxn id="3538" idx="3"/>
            <a:endCxn id="3546" idx="1"/>
          </p:cNvCxnSpPr>
          <p:nvPr/>
        </p:nvCxnSpPr>
        <p:spPr>
          <a:xfrm>
            <a:off x="2331352" y="3476431"/>
            <a:ext cx="12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9" name="Google Shape;3549;p155"/>
          <p:cNvSpPr/>
          <p:nvPr/>
        </p:nvSpPr>
        <p:spPr>
          <a:xfrm>
            <a:off x="3002719" y="3142512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50" name="Google Shape;3550;p155"/>
          <p:cNvCxnSpPr>
            <a:stCxn id="3546" idx="3"/>
            <a:endCxn id="3549" idx="1"/>
          </p:cNvCxnSpPr>
          <p:nvPr/>
        </p:nvCxnSpPr>
        <p:spPr>
          <a:xfrm>
            <a:off x="2870635" y="3476437"/>
            <a:ext cx="13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51" name="Google Shape;3551;p155"/>
          <p:cNvSpPr/>
          <p:nvPr/>
        </p:nvSpPr>
        <p:spPr>
          <a:xfrm>
            <a:off x="3100178" y="3317880"/>
            <a:ext cx="221400" cy="31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2" name="Google Shape;3552;p155"/>
          <p:cNvSpPr/>
          <p:nvPr/>
        </p:nvSpPr>
        <p:spPr>
          <a:xfrm>
            <a:off x="3493127" y="1569037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Quality Work Center</a:t>
            </a:r>
            <a:endParaRPr sz="900"/>
          </a:p>
        </p:txBody>
      </p:sp>
      <p:sp>
        <p:nvSpPr>
          <p:cNvPr id="3553" name="Google Shape;3553;p155"/>
          <p:cNvSpPr/>
          <p:nvPr/>
        </p:nvSpPr>
        <p:spPr>
          <a:xfrm>
            <a:off x="3483756" y="2474733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Create Inspection Characteristic</a:t>
            </a:r>
            <a:endParaRPr sz="600"/>
          </a:p>
        </p:txBody>
      </p:sp>
      <p:sp>
        <p:nvSpPr>
          <p:cNvPr id="3554" name="Google Shape;3554;p155"/>
          <p:cNvSpPr/>
          <p:nvPr/>
        </p:nvSpPr>
        <p:spPr>
          <a:xfrm>
            <a:off x="3493127" y="3254855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Create Dynamic Modification Rule</a:t>
            </a:r>
            <a:endParaRPr sz="600"/>
          </a:p>
        </p:txBody>
      </p:sp>
      <p:sp>
        <p:nvSpPr>
          <p:cNvPr id="3555" name="Google Shape;3555;p155"/>
          <p:cNvSpPr/>
          <p:nvPr/>
        </p:nvSpPr>
        <p:spPr>
          <a:xfrm>
            <a:off x="3493127" y="4109327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Task: Create Sampling Scheme</a:t>
            </a:r>
            <a:endParaRPr sz="900"/>
          </a:p>
        </p:txBody>
      </p:sp>
      <p:sp>
        <p:nvSpPr>
          <p:cNvPr id="3556" name="Google Shape;3556;p155"/>
          <p:cNvSpPr/>
          <p:nvPr/>
        </p:nvSpPr>
        <p:spPr>
          <a:xfrm>
            <a:off x="4267059" y="4109327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Sampling Procedure</a:t>
            </a:r>
            <a:endParaRPr sz="700"/>
          </a:p>
        </p:txBody>
      </p:sp>
      <p:sp>
        <p:nvSpPr>
          <p:cNvPr id="3557" name="Google Shape;3557;p155"/>
          <p:cNvSpPr/>
          <p:nvPr/>
        </p:nvSpPr>
        <p:spPr>
          <a:xfrm>
            <a:off x="4670530" y="2067435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Create Inspection Method</a:t>
            </a:r>
            <a:endParaRPr sz="800"/>
          </a:p>
        </p:txBody>
      </p:sp>
      <p:sp>
        <p:nvSpPr>
          <p:cNvPr id="3558" name="Google Shape;3558;p155"/>
          <p:cNvSpPr/>
          <p:nvPr/>
        </p:nvSpPr>
        <p:spPr>
          <a:xfrm>
            <a:off x="4686896" y="2838282"/>
            <a:ext cx="7185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Production Resource/Tool</a:t>
            </a:r>
            <a:endParaRPr sz="700"/>
          </a:p>
        </p:txBody>
      </p:sp>
      <p:sp>
        <p:nvSpPr>
          <p:cNvPr id="3559" name="Google Shape;3559;p155"/>
          <p:cNvSpPr/>
          <p:nvPr/>
        </p:nvSpPr>
        <p:spPr>
          <a:xfrm>
            <a:off x="6189270" y="2644508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Task: Create Inspection plan</a:t>
            </a:r>
            <a:endParaRPr sz="800"/>
          </a:p>
        </p:txBody>
      </p:sp>
      <p:sp>
        <p:nvSpPr>
          <p:cNvPr id="3560" name="Google Shape;3560;p155"/>
          <p:cNvSpPr/>
          <p:nvPr/>
        </p:nvSpPr>
        <p:spPr>
          <a:xfrm>
            <a:off x="4188407" y="2474739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1" name="Google Shape;3561;p155"/>
          <p:cNvSpPr/>
          <p:nvPr/>
        </p:nvSpPr>
        <p:spPr>
          <a:xfrm>
            <a:off x="4285866" y="2650108"/>
            <a:ext cx="221400" cy="31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2" name="Google Shape;3562;p155"/>
          <p:cNvSpPr/>
          <p:nvPr/>
        </p:nvSpPr>
        <p:spPr>
          <a:xfrm>
            <a:off x="5405423" y="2474739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3" name="Google Shape;3563;p155"/>
          <p:cNvSpPr/>
          <p:nvPr/>
        </p:nvSpPr>
        <p:spPr>
          <a:xfrm>
            <a:off x="5502882" y="2650108"/>
            <a:ext cx="221400" cy="31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64" name="Google Shape;3564;p155"/>
          <p:cNvCxnSpPr>
            <a:stCxn id="3549" idx="0"/>
            <a:endCxn id="3552" idx="1"/>
          </p:cNvCxnSpPr>
          <p:nvPr/>
        </p:nvCxnSpPr>
        <p:spPr>
          <a:xfrm rot="-5400000">
            <a:off x="2732269" y="2381712"/>
            <a:ext cx="1239600" cy="282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5" name="Google Shape;3565;p155"/>
          <p:cNvCxnSpPr>
            <a:stCxn id="3549" idx="0"/>
            <a:endCxn id="3553" idx="1"/>
          </p:cNvCxnSpPr>
          <p:nvPr/>
        </p:nvCxnSpPr>
        <p:spPr>
          <a:xfrm rot="-5400000">
            <a:off x="3180469" y="2839212"/>
            <a:ext cx="333900" cy="27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6" name="Google Shape;3566;p155"/>
          <p:cNvCxnSpPr>
            <a:stCxn id="3549" idx="3"/>
            <a:endCxn id="3554" idx="1"/>
          </p:cNvCxnSpPr>
          <p:nvPr/>
        </p:nvCxnSpPr>
        <p:spPr>
          <a:xfrm>
            <a:off x="3419419" y="3476412"/>
            <a:ext cx="73800" cy="1122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7" name="Google Shape;3567;p155"/>
          <p:cNvCxnSpPr>
            <a:stCxn id="3549" idx="2"/>
            <a:endCxn id="3555" idx="1"/>
          </p:cNvCxnSpPr>
          <p:nvPr/>
        </p:nvCxnSpPr>
        <p:spPr>
          <a:xfrm flipH="1" rot="-5400000">
            <a:off x="3035569" y="3985812"/>
            <a:ext cx="633000" cy="282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8" name="Google Shape;3568;p155"/>
          <p:cNvCxnSpPr>
            <a:stCxn id="3555" idx="3"/>
            <a:endCxn id="3556" idx="1"/>
          </p:cNvCxnSpPr>
          <p:nvPr/>
        </p:nvCxnSpPr>
        <p:spPr>
          <a:xfrm>
            <a:off x="4115927" y="4443227"/>
            <a:ext cx="15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9" name="Google Shape;3569;p155"/>
          <p:cNvCxnSpPr>
            <a:stCxn id="3553" idx="3"/>
            <a:endCxn id="3560" idx="1"/>
          </p:cNvCxnSpPr>
          <p:nvPr/>
        </p:nvCxnSpPr>
        <p:spPr>
          <a:xfrm>
            <a:off x="4106556" y="2808633"/>
            <a:ext cx="8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0" name="Google Shape;3570;p155"/>
          <p:cNvCxnSpPr>
            <a:stCxn id="3560" idx="0"/>
            <a:endCxn id="3557" idx="1"/>
          </p:cNvCxnSpPr>
          <p:nvPr/>
        </p:nvCxnSpPr>
        <p:spPr>
          <a:xfrm rot="-5400000">
            <a:off x="4496957" y="2301039"/>
            <a:ext cx="73500" cy="27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1" name="Google Shape;3571;p155"/>
          <p:cNvCxnSpPr>
            <a:stCxn id="3560" idx="2"/>
            <a:endCxn id="3558" idx="1"/>
          </p:cNvCxnSpPr>
          <p:nvPr/>
        </p:nvCxnSpPr>
        <p:spPr>
          <a:xfrm flipH="1" rot="-5400000">
            <a:off x="4526957" y="3012339"/>
            <a:ext cx="29700" cy="290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2" name="Google Shape;3572;p155"/>
          <p:cNvCxnSpPr>
            <a:stCxn id="3557" idx="3"/>
            <a:endCxn id="3562" idx="0"/>
          </p:cNvCxnSpPr>
          <p:nvPr/>
        </p:nvCxnSpPr>
        <p:spPr>
          <a:xfrm>
            <a:off x="5293330" y="2401335"/>
            <a:ext cx="320400" cy="73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3" name="Google Shape;3573;p155"/>
          <p:cNvCxnSpPr>
            <a:stCxn id="3558" idx="3"/>
            <a:endCxn id="3562" idx="2"/>
          </p:cNvCxnSpPr>
          <p:nvPr/>
        </p:nvCxnSpPr>
        <p:spPr>
          <a:xfrm flipH="1" rot="10800000">
            <a:off x="5405396" y="3142482"/>
            <a:ext cx="208500" cy="29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74" name="Google Shape;3574;p155"/>
          <p:cNvSpPr/>
          <p:nvPr/>
        </p:nvSpPr>
        <p:spPr>
          <a:xfrm>
            <a:off x="5706321" y="3306361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5" name="Google Shape;3575;p155"/>
          <p:cNvSpPr/>
          <p:nvPr/>
        </p:nvSpPr>
        <p:spPr>
          <a:xfrm>
            <a:off x="5803781" y="3481730"/>
            <a:ext cx="221400" cy="31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76" name="Google Shape;3576;p155"/>
          <p:cNvCxnSpPr>
            <a:stCxn id="3552" idx="3"/>
            <a:endCxn id="3574" idx="0"/>
          </p:cNvCxnSpPr>
          <p:nvPr/>
        </p:nvCxnSpPr>
        <p:spPr>
          <a:xfrm>
            <a:off x="4115927" y="1902937"/>
            <a:ext cx="1798800" cy="1403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7" name="Google Shape;3577;p155"/>
          <p:cNvCxnSpPr>
            <a:stCxn id="3554" idx="3"/>
            <a:endCxn id="3575" idx="2"/>
          </p:cNvCxnSpPr>
          <p:nvPr/>
        </p:nvCxnSpPr>
        <p:spPr>
          <a:xfrm>
            <a:off x="4115927" y="3588755"/>
            <a:ext cx="1687800" cy="51600"/>
          </a:xfrm>
          <a:prstGeom prst="bentConnector3">
            <a:avLst>
              <a:gd fmla="val 5025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8" name="Google Shape;3578;p155"/>
          <p:cNvCxnSpPr>
            <a:stCxn id="3562" idx="3"/>
            <a:endCxn id="3574" idx="0"/>
          </p:cNvCxnSpPr>
          <p:nvPr/>
        </p:nvCxnSpPr>
        <p:spPr>
          <a:xfrm>
            <a:off x="5822123" y="2808639"/>
            <a:ext cx="92400" cy="497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9" name="Google Shape;3579;p155"/>
          <p:cNvCxnSpPr>
            <a:stCxn id="3556" idx="3"/>
            <a:endCxn id="3574" idx="2"/>
          </p:cNvCxnSpPr>
          <p:nvPr/>
        </p:nvCxnSpPr>
        <p:spPr>
          <a:xfrm flipH="1" rot="10800000">
            <a:off x="4889859" y="3974027"/>
            <a:ext cx="1024800" cy="469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0" name="Google Shape;3580;p155"/>
          <p:cNvCxnSpPr>
            <a:stCxn id="3574" idx="3"/>
            <a:endCxn id="3559" idx="1"/>
          </p:cNvCxnSpPr>
          <p:nvPr/>
        </p:nvCxnSpPr>
        <p:spPr>
          <a:xfrm flipH="1" rot="10800000">
            <a:off x="6123021" y="2978461"/>
            <a:ext cx="66300" cy="661800"/>
          </a:xfrm>
          <a:prstGeom prst="bentConnector3">
            <a:avLst>
              <a:gd fmla="val 5002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1" name="Google Shape;3581;p155"/>
          <p:cNvCxnSpPr>
            <a:stCxn id="3559" idx="3"/>
            <a:endCxn id="3542" idx="1"/>
          </p:cNvCxnSpPr>
          <p:nvPr/>
        </p:nvCxnSpPr>
        <p:spPr>
          <a:xfrm flipH="1" rot="10800000">
            <a:off x="6812070" y="2972408"/>
            <a:ext cx="1188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2" name="Google Shape;3582;p155"/>
          <p:cNvCxnSpPr>
            <a:stCxn id="3546" idx="0"/>
            <a:endCxn id="3542" idx="0"/>
          </p:cNvCxnSpPr>
          <p:nvPr/>
        </p:nvCxnSpPr>
        <p:spPr>
          <a:xfrm rot="-5400000">
            <a:off x="4648735" y="652087"/>
            <a:ext cx="504000" cy="4476900"/>
          </a:xfrm>
          <a:prstGeom prst="bentConnector3">
            <a:avLst>
              <a:gd fmla="val 3456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3" name="Google Shape;3583;p155"/>
          <p:cNvSpPr/>
          <p:nvPr/>
        </p:nvSpPr>
        <p:spPr>
          <a:xfrm>
            <a:off x="7483455" y="2638533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4" name="Google Shape;3584;p155"/>
          <p:cNvSpPr/>
          <p:nvPr/>
        </p:nvSpPr>
        <p:spPr>
          <a:xfrm>
            <a:off x="7531148" y="2786695"/>
            <a:ext cx="321000" cy="3714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5" name="Google Shape;3585;p155"/>
          <p:cNvSpPr/>
          <p:nvPr/>
        </p:nvSpPr>
        <p:spPr>
          <a:xfrm>
            <a:off x="8027491" y="2644489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6" name="Google Shape;3586;p155"/>
          <p:cNvSpPr/>
          <p:nvPr/>
        </p:nvSpPr>
        <p:spPr>
          <a:xfrm>
            <a:off x="8103541" y="2778545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87" name="Google Shape;3587;p155"/>
          <p:cNvCxnSpPr>
            <a:stCxn id="3583" idx="3"/>
            <a:endCxn id="3585" idx="1"/>
          </p:cNvCxnSpPr>
          <p:nvPr/>
        </p:nvCxnSpPr>
        <p:spPr>
          <a:xfrm>
            <a:off x="7900155" y="2972433"/>
            <a:ext cx="1272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8" name="Google Shape;3588;p155"/>
          <p:cNvCxnSpPr>
            <a:stCxn id="3585" idx="3"/>
            <a:endCxn id="3532" idx="2"/>
          </p:cNvCxnSpPr>
          <p:nvPr/>
        </p:nvCxnSpPr>
        <p:spPr>
          <a:xfrm>
            <a:off x="8444191" y="2978389"/>
            <a:ext cx="12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9" name="Google Shape;3589;p155"/>
          <p:cNvCxnSpPr>
            <a:stCxn id="3540" idx="2"/>
            <a:endCxn id="3585" idx="2"/>
          </p:cNvCxnSpPr>
          <p:nvPr/>
        </p:nvCxnSpPr>
        <p:spPr>
          <a:xfrm flipH="1" rot="-5400000">
            <a:off x="4541529" y="-382036"/>
            <a:ext cx="57300" cy="7331100"/>
          </a:xfrm>
          <a:prstGeom prst="bentConnector3">
            <a:avLst>
              <a:gd fmla="val 310835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0" name="Google Shape;3590;p155"/>
          <p:cNvSpPr txBox="1"/>
          <p:nvPr/>
        </p:nvSpPr>
        <p:spPr>
          <a:xfrm>
            <a:off x="2109449" y="2130888"/>
            <a:ext cx="5661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Inspection Plan Not Relevant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591" name="Google Shape;3591;p155"/>
          <p:cNvSpPr txBox="1"/>
          <p:nvPr/>
        </p:nvSpPr>
        <p:spPr>
          <a:xfrm>
            <a:off x="2687525" y="2916800"/>
            <a:ext cx="622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Inspection Plan Relevant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592" name="Google Shape;3592;p155"/>
          <p:cNvSpPr/>
          <p:nvPr/>
        </p:nvSpPr>
        <p:spPr>
          <a:xfrm>
            <a:off x="1670624" y="2869025"/>
            <a:ext cx="616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MM02</a:t>
            </a:r>
            <a:endParaRPr sz="1000"/>
          </a:p>
        </p:txBody>
      </p:sp>
      <p:sp>
        <p:nvSpPr>
          <p:cNvPr id="3593" name="Google Shape;3593;p155"/>
          <p:cNvSpPr/>
          <p:nvPr/>
        </p:nvSpPr>
        <p:spPr>
          <a:xfrm>
            <a:off x="3496424" y="1317325"/>
            <a:ext cx="616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CR01</a:t>
            </a:r>
            <a:endParaRPr sz="1000"/>
          </a:p>
        </p:txBody>
      </p:sp>
      <p:sp>
        <p:nvSpPr>
          <p:cNvPr id="3594" name="Google Shape;3594;p155"/>
          <p:cNvSpPr/>
          <p:nvPr/>
        </p:nvSpPr>
        <p:spPr>
          <a:xfrm>
            <a:off x="3487049" y="2286100"/>
            <a:ext cx="616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QS21</a:t>
            </a:r>
            <a:endParaRPr sz="1000"/>
          </a:p>
        </p:txBody>
      </p:sp>
      <p:sp>
        <p:nvSpPr>
          <p:cNvPr id="3595" name="Google Shape;3595;p155"/>
          <p:cNvSpPr/>
          <p:nvPr/>
        </p:nvSpPr>
        <p:spPr>
          <a:xfrm>
            <a:off x="3496399" y="3142475"/>
            <a:ext cx="616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QDR1</a:t>
            </a:r>
            <a:endParaRPr sz="1000"/>
          </a:p>
        </p:txBody>
      </p:sp>
      <p:sp>
        <p:nvSpPr>
          <p:cNvPr id="3596" name="Google Shape;3596;p155"/>
          <p:cNvSpPr/>
          <p:nvPr/>
        </p:nvSpPr>
        <p:spPr>
          <a:xfrm>
            <a:off x="3496424" y="3857625"/>
            <a:ext cx="616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QDP1</a:t>
            </a:r>
            <a:endParaRPr sz="1000"/>
          </a:p>
        </p:txBody>
      </p:sp>
      <p:sp>
        <p:nvSpPr>
          <p:cNvPr id="3597" name="Google Shape;3597;p155"/>
          <p:cNvSpPr/>
          <p:nvPr/>
        </p:nvSpPr>
        <p:spPr>
          <a:xfrm>
            <a:off x="4651724" y="1815725"/>
            <a:ext cx="616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QS31</a:t>
            </a:r>
            <a:endParaRPr sz="1000"/>
          </a:p>
        </p:txBody>
      </p:sp>
      <p:sp>
        <p:nvSpPr>
          <p:cNvPr id="3598" name="Google Shape;3598;p155"/>
          <p:cNvSpPr/>
          <p:nvPr/>
        </p:nvSpPr>
        <p:spPr>
          <a:xfrm>
            <a:off x="4738424" y="3406650"/>
            <a:ext cx="616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IE25</a:t>
            </a:r>
            <a:endParaRPr sz="1000"/>
          </a:p>
        </p:txBody>
      </p:sp>
      <p:sp>
        <p:nvSpPr>
          <p:cNvPr id="3599" name="Google Shape;3599;p155"/>
          <p:cNvSpPr/>
          <p:nvPr/>
        </p:nvSpPr>
        <p:spPr>
          <a:xfrm>
            <a:off x="4291599" y="3840050"/>
            <a:ext cx="616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QDV1</a:t>
            </a:r>
            <a:endParaRPr sz="1000"/>
          </a:p>
        </p:txBody>
      </p:sp>
      <p:sp>
        <p:nvSpPr>
          <p:cNvPr id="3600" name="Google Shape;3600;p155"/>
          <p:cNvSpPr/>
          <p:nvPr/>
        </p:nvSpPr>
        <p:spPr>
          <a:xfrm>
            <a:off x="6236399" y="2386825"/>
            <a:ext cx="616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QP01</a:t>
            </a:r>
            <a:endParaRPr sz="1000"/>
          </a:p>
        </p:txBody>
      </p:sp>
      <p:sp>
        <p:nvSpPr>
          <p:cNvPr id="3601" name="Google Shape;3601;p155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5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" name="Google Shape;3606;p156"/>
          <p:cNvSpPr txBox="1"/>
          <p:nvPr>
            <p:ph type="title"/>
          </p:nvPr>
        </p:nvSpPr>
        <p:spPr>
          <a:xfrm>
            <a:off x="-29950" y="-212325"/>
            <a:ext cx="38985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7181"/>
              <a:buNone/>
            </a:pPr>
            <a:r>
              <a:rPr lang="en" sz="1135"/>
              <a:t>M-160-050:</a:t>
            </a:r>
            <a:r>
              <a:rPr lang="en" sz="3035"/>
              <a:t> </a:t>
            </a:r>
            <a:r>
              <a:rPr lang="en" sz="875">
                <a:solidFill>
                  <a:schemeClr val="dk2"/>
                </a:solidFill>
              </a:rPr>
              <a:t>Process QM Master Data</a:t>
            </a:r>
            <a:endParaRPr sz="87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3070"/>
              <a:buNone/>
            </a:pPr>
            <a:r>
              <a:rPr lang="en" sz="875"/>
              <a:t>Role = Quality Planner</a:t>
            </a:r>
            <a:endParaRPr sz="87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3070"/>
              <a:buNone/>
            </a:pPr>
            <a:r>
              <a:t/>
            </a:r>
            <a:endParaRPr sz="87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3070"/>
              <a:buNone/>
            </a:pPr>
            <a:r>
              <a:rPr lang="en" sz="875">
                <a:highlight>
                  <a:srgbClr val="FCE5CD"/>
                </a:highlight>
              </a:rPr>
              <a:t>Part two</a:t>
            </a:r>
            <a:endParaRPr sz="875">
              <a:highlight>
                <a:srgbClr val="FCE5CD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t/>
            </a:r>
            <a:endParaRPr sz="1520">
              <a:highlight>
                <a:srgbClr val="CC0000"/>
              </a:highlight>
            </a:endParaRPr>
          </a:p>
        </p:txBody>
      </p:sp>
      <p:sp>
        <p:nvSpPr>
          <p:cNvPr id="3607" name="Google Shape;3607;p156"/>
          <p:cNvSpPr/>
          <p:nvPr/>
        </p:nvSpPr>
        <p:spPr>
          <a:xfrm>
            <a:off x="0" y="2529607"/>
            <a:ext cx="622800" cy="78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Start: need to process QM master data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608" name="Google Shape;3608;p156"/>
          <p:cNvSpPr/>
          <p:nvPr/>
        </p:nvSpPr>
        <p:spPr>
          <a:xfrm>
            <a:off x="8571523" y="2644504"/>
            <a:ext cx="533400" cy="66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End: QM master data processed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609" name="Google Shape;3609;p156"/>
          <p:cNvSpPr/>
          <p:nvPr/>
        </p:nvSpPr>
        <p:spPr>
          <a:xfrm>
            <a:off x="1238580" y="2587058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10" name="Google Shape;3610;p156"/>
          <p:cNvCxnSpPr>
            <a:stCxn id="3607" idx="6"/>
            <a:endCxn id="3609" idx="1"/>
          </p:cNvCxnSpPr>
          <p:nvPr/>
        </p:nvCxnSpPr>
        <p:spPr>
          <a:xfrm>
            <a:off x="622800" y="2920957"/>
            <a:ext cx="61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1" name="Google Shape;3611;p156"/>
          <p:cNvSpPr/>
          <p:nvPr/>
        </p:nvSpPr>
        <p:spPr>
          <a:xfrm>
            <a:off x="44652" y="4736725"/>
            <a:ext cx="10092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App name</a:t>
            </a:r>
            <a:endParaRPr sz="1000"/>
          </a:p>
        </p:txBody>
      </p:sp>
      <p:sp>
        <p:nvSpPr>
          <p:cNvPr id="3612" name="Google Shape;3612;p156"/>
          <p:cNvSpPr/>
          <p:nvPr/>
        </p:nvSpPr>
        <p:spPr>
          <a:xfrm>
            <a:off x="1286273" y="2735220"/>
            <a:ext cx="321000" cy="3714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13" name="Google Shape;3613;p156"/>
          <p:cNvCxnSpPr/>
          <p:nvPr/>
        </p:nvCxnSpPr>
        <p:spPr>
          <a:xfrm>
            <a:off x="6908204" y="2978412"/>
            <a:ext cx="53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4" name="Google Shape;3614;p156"/>
          <p:cNvSpPr/>
          <p:nvPr/>
        </p:nvSpPr>
        <p:spPr>
          <a:xfrm>
            <a:off x="696279" y="2587064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5" name="Google Shape;3615;p156"/>
          <p:cNvSpPr/>
          <p:nvPr/>
        </p:nvSpPr>
        <p:spPr>
          <a:xfrm>
            <a:off x="772329" y="2721120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6" name="Google Shape;3616;p156"/>
          <p:cNvSpPr/>
          <p:nvPr/>
        </p:nvSpPr>
        <p:spPr>
          <a:xfrm>
            <a:off x="6930927" y="2638564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7" name="Google Shape;3617;p156"/>
          <p:cNvSpPr/>
          <p:nvPr/>
        </p:nvSpPr>
        <p:spPr>
          <a:xfrm>
            <a:off x="7006978" y="2772620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8" name="Google Shape;3618;p156"/>
          <p:cNvSpPr txBox="1"/>
          <p:nvPr/>
        </p:nvSpPr>
        <p:spPr>
          <a:xfrm>
            <a:off x="330561" y="3810325"/>
            <a:ext cx="5064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Material not QM Relevant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619" name="Google Shape;3619;p156"/>
          <p:cNvSpPr txBox="1"/>
          <p:nvPr/>
        </p:nvSpPr>
        <p:spPr>
          <a:xfrm>
            <a:off x="981357" y="2260622"/>
            <a:ext cx="5064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Material QM Relevant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620" name="Google Shape;3620;p156"/>
          <p:cNvSpPr/>
          <p:nvPr/>
        </p:nvSpPr>
        <p:spPr>
          <a:xfrm>
            <a:off x="6316296" y="2644511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1" name="Google Shape;3621;p156"/>
          <p:cNvSpPr/>
          <p:nvPr/>
        </p:nvSpPr>
        <p:spPr>
          <a:xfrm>
            <a:off x="6413756" y="2819880"/>
            <a:ext cx="221400" cy="31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2" name="Google Shape;3622;p156"/>
          <p:cNvCxnSpPr>
            <a:stCxn id="3620" idx="3"/>
            <a:endCxn id="3616" idx="1"/>
          </p:cNvCxnSpPr>
          <p:nvPr/>
        </p:nvCxnSpPr>
        <p:spPr>
          <a:xfrm flipH="1" rot="10800000">
            <a:off x="6732996" y="2972411"/>
            <a:ext cx="198000" cy="6000"/>
          </a:xfrm>
          <a:prstGeom prst="bentConnector3">
            <a:avLst>
              <a:gd fmla="val 499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3" name="Google Shape;3623;p156"/>
          <p:cNvSpPr/>
          <p:nvPr/>
        </p:nvSpPr>
        <p:spPr>
          <a:xfrm>
            <a:off x="7483455" y="2638533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4" name="Google Shape;3624;p156"/>
          <p:cNvSpPr/>
          <p:nvPr/>
        </p:nvSpPr>
        <p:spPr>
          <a:xfrm>
            <a:off x="7531148" y="2786695"/>
            <a:ext cx="321000" cy="3714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5" name="Google Shape;3625;p156"/>
          <p:cNvSpPr/>
          <p:nvPr/>
        </p:nvSpPr>
        <p:spPr>
          <a:xfrm>
            <a:off x="8027491" y="2644489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6" name="Google Shape;3626;p156"/>
          <p:cNvSpPr/>
          <p:nvPr/>
        </p:nvSpPr>
        <p:spPr>
          <a:xfrm>
            <a:off x="8103541" y="2778545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7" name="Google Shape;3627;p156"/>
          <p:cNvCxnSpPr>
            <a:stCxn id="3623" idx="3"/>
            <a:endCxn id="3625" idx="1"/>
          </p:cNvCxnSpPr>
          <p:nvPr/>
        </p:nvCxnSpPr>
        <p:spPr>
          <a:xfrm>
            <a:off x="7900155" y="2972433"/>
            <a:ext cx="1272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8" name="Google Shape;3628;p156"/>
          <p:cNvCxnSpPr>
            <a:stCxn id="3625" idx="3"/>
            <a:endCxn id="3608" idx="2"/>
          </p:cNvCxnSpPr>
          <p:nvPr/>
        </p:nvCxnSpPr>
        <p:spPr>
          <a:xfrm>
            <a:off x="8444191" y="2978389"/>
            <a:ext cx="12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9" name="Google Shape;3629;p156"/>
          <p:cNvCxnSpPr>
            <a:stCxn id="3614" idx="2"/>
            <a:endCxn id="3625" idx="2"/>
          </p:cNvCxnSpPr>
          <p:nvPr/>
        </p:nvCxnSpPr>
        <p:spPr>
          <a:xfrm flipH="1" rot="-5400000">
            <a:off x="4541529" y="-382036"/>
            <a:ext cx="57300" cy="7331100"/>
          </a:xfrm>
          <a:prstGeom prst="bentConnector3">
            <a:avLst>
              <a:gd fmla="val 310835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0" name="Google Shape;3630;p156"/>
          <p:cNvSpPr/>
          <p:nvPr/>
        </p:nvSpPr>
        <p:spPr>
          <a:xfrm>
            <a:off x="5885485" y="1205812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1" name="Google Shape;3631;p156"/>
          <p:cNvSpPr/>
          <p:nvPr/>
        </p:nvSpPr>
        <p:spPr>
          <a:xfrm>
            <a:off x="5961535" y="1339868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2" name="Google Shape;3632;p156"/>
          <p:cNvSpPr/>
          <p:nvPr/>
        </p:nvSpPr>
        <p:spPr>
          <a:xfrm>
            <a:off x="1710960" y="1976712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3" name="Google Shape;3633;p156"/>
          <p:cNvSpPr/>
          <p:nvPr/>
        </p:nvSpPr>
        <p:spPr>
          <a:xfrm>
            <a:off x="1787010" y="2110768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4" name="Google Shape;3634;p156"/>
          <p:cNvSpPr/>
          <p:nvPr/>
        </p:nvSpPr>
        <p:spPr>
          <a:xfrm>
            <a:off x="2245721" y="1143086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5" name="Google Shape;3635;p156"/>
          <p:cNvSpPr/>
          <p:nvPr/>
        </p:nvSpPr>
        <p:spPr>
          <a:xfrm>
            <a:off x="2343181" y="1318455"/>
            <a:ext cx="221400" cy="31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6" name="Google Shape;3636;p156"/>
          <p:cNvSpPr/>
          <p:nvPr/>
        </p:nvSpPr>
        <p:spPr>
          <a:xfrm>
            <a:off x="2286502" y="3503956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Supplier Quality Info Record</a:t>
            </a:r>
            <a:endParaRPr sz="700"/>
          </a:p>
        </p:txBody>
      </p:sp>
      <p:sp>
        <p:nvSpPr>
          <p:cNvPr id="3637" name="Google Shape;3637;p156"/>
          <p:cNvSpPr/>
          <p:nvPr/>
        </p:nvSpPr>
        <p:spPr>
          <a:xfrm>
            <a:off x="2662427" y="2638506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Sales Quality Info Record</a:t>
            </a:r>
            <a:endParaRPr sz="700"/>
          </a:p>
        </p:txBody>
      </p:sp>
      <p:cxnSp>
        <p:nvCxnSpPr>
          <p:cNvPr id="3638" name="Google Shape;3638;p156"/>
          <p:cNvCxnSpPr>
            <a:stCxn id="3609" idx="0"/>
            <a:endCxn id="3632" idx="1"/>
          </p:cNvCxnSpPr>
          <p:nvPr/>
        </p:nvCxnSpPr>
        <p:spPr>
          <a:xfrm rot="-5400000">
            <a:off x="1440780" y="2316908"/>
            <a:ext cx="276300" cy="26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9" name="Google Shape;3639;p156"/>
          <p:cNvCxnSpPr>
            <a:stCxn id="3632" idx="0"/>
            <a:endCxn id="3634" idx="1"/>
          </p:cNvCxnSpPr>
          <p:nvPr/>
        </p:nvCxnSpPr>
        <p:spPr>
          <a:xfrm rot="-5400000">
            <a:off x="1832610" y="1563612"/>
            <a:ext cx="499800" cy="326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0" name="Google Shape;3640;p156"/>
          <p:cNvSpPr txBox="1"/>
          <p:nvPr/>
        </p:nvSpPr>
        <p:spPr>
          <a:xfrm>
            <a:off x="1607282" y="1116634"/>
            <a:ext cx="5064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Make </a:t>
            </a:r>
            <a:r>
              <a:rPr lang="en" sz="700">
                <a:solidFill>
                  <a:schemeClr val="dk2"/>
                </a:solidFill>
              </a:rPr>
              <a:t>Material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3641" name="Google Shape;3641;p156"/>
          <p:cNvCxnSpPr>
            <a:stCxn id="3632" idx="2"/>
            <a:endCxn id="3636" idx="1"/>
          </p:cNvCxnSpPr>
          <p:nvPr/>
        </p:nvCxnSpPr>
        <p:spPr>
          <a:xfrm flipH="1" rot="-5400000">
            <a:off x="1506210" y="3057612"/>
            <a:ext cx="1193400" cy="36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2" name="Google Shape;3642;p156"/>
          <p:cNvSpPr txBox="1"/>
          <p:nvPr/>
        </p:nvSpPr>
        <p:spPr>
          <a:xfrm>
            <a:off x="1905657" y="2933534"/>
            <a:ext cx="5064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Buy </a:t>
            </a:r>
            <a:r>
              <a:rPr lang="en" sz="700">
                <a:solidFill>
                  <a:schemeClr val="dk2"/>
                </a:solidFill>
              </a:rPr>
              <a:t>Material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643" name="Google Shape;3643;p156"/>
          <p:cNvSpPr/>
          <p:nvPr/>
        </p:nvSpPr>
        <p:spPr>
          <a:xfrm>
            <a:off x="3146885" y="1008187"/>
            <a:ext cx="416700" cy="667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4" name="Google Shape;3644;p156"/>
          <p:cNvSpPr/>
          <p:nvPr/>
        </p:nvSpPr>
        <p:spPr>
          <a:xfrm>
            <a:off x="3222935" y="1142243"/>
            <a:ext cx="264300" cy="3996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5" name="Google Shape;3645;p156"/>
          <p:cNvSpPr/>
          <p:nvPr/>
        </p:nvSpPr>
        <p:spPr>
          <a:xfrm>
            <a:off x="3777327" y="538006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Certificate Profile</a:t>
            </a:r>
            <a:endParaRPr sz="700"/>
          </a:p>
        </p:txBody>
      </p:sp>
      <p:sp>
        <p:nvSpPr>
          <p:cNvPr id="3646" name="Google Shape;3646;p156"/>
          <p:cNvSpPr/>
          <p:nvPr/>
        </p:nvSpPr>
        <p:spPr>
          <a:xfrm>
            <a:off x="4507002" y="537981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Task: Create Certificate Assignment</a:t>
            </a:r>
            <a:endParaRPr sz="700"/>
          </a:p>
        </p:txBody>
      </p:sp>
      <p:sp>
        <p:nvSpPr>
          <p:cNvPr id="3647" name="Google Shape;3647;p156"/>
          <p:cNvSpPr/>
          <p:nvPr/>
        </p:nvSpPr>
        <p:spPr>
          <a:xfrm>
            <a:off x="5262677" y="538006"/>
            <a:ext cx="6228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Task: Create batch strategy for batch determination</a:t>
            </a:r>
            <a:endParaRPr sz="600"/>
          </a:p>
        </p:txBody>
      </p:sp>
      <p:cxnSp>
        <p:nvCxnSpPr>
          <p:cNvPr id="3648" name="Google Shape;3648;p156"/>
          <p:cNvCxnSpPr>
            <a:stCxn id="3634" idx="2"/>
            <a:endCxn id="3637" idx="1"/>
          </p:cNvCxnSpPr>
          <p:nvPr/>
        </p:nvCxnSpPr>
        <p:spPr>
          <a:xfrm flipH="1" rot="-5400000">
            <a:off x="1977521" y="2287436"/>
            <a:ext cx="1161600" cy="208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9" name="Google Shape;3649;p156"/>
          <p:cNvCxnSpPr>
            <a:stCxn id="3634" idx="3"/>
            <a:endCxn id="3643" idx="1"/>
          </p:cNvCxnSpPr>
          <p:nvPr/>
        </p:nvCxnSpPr>
        <p:spPr>
          <a:xfrm flipH="1" rot="10800000">
            <a:off x="2662421" y="1341986"/>
            <a:ext cx="484500" cy="1350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0" name="Google Shape;3650;p156"/>
          <p:cNvCxnSpPr>
            <a:stCxn id="3643" idx="0"/>
            <a:endCxn id="3645" idx="1"/>
          </p:cNvCxnSpPr>
          <p:nvPr/>
        </p:nvCxnSpPr>
        <p:spPr>
          <a:xfrm rot="-5400000">
            <a:off x="3498185" y="729037"/>
            <a:ext cx="136200" cy="422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1" name="Google Shape;3651;p156"/>
          <p:cNvCxnSpPr>
            <a:stCxn id="3645" idx="3"/>
            <a:endCxn id="3646" idx="1"/>
          </p:cNvCxnSpPr>
          <p:nvPr/>
        </p:nvCxnSpPr>
        <p:spPr>
          <a:xfrm>
            <a:off x="4400127" y="871906"/>
            <a:ext cx="106800" cy="600"/>
          </a:xfrm>
          <a:prstGeom prst="bentConnector3">
            <a:avLst>
              <a:gd fmla="val 5003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2" name="Google Shape;3652;p156"/>
          <p:cNvCxnSpPr>
            <a:stCxn id="3646" idx="3"/>
            <a:endCxn id="3647" idx="1"/>
          </p:cNvCxnSpPr>
          <p:nvPr/>
        </p:nvCxnSpPr>
        <p:spPr>
          <a:xfrm>
            <a:off x="5129802" y="871881"/>
            <a:ext cx="1329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3" name="Google Shape;3653;p156"/>
          <p:cNvCxnSpPr>
            <a:stCxn id="3647" idx="3"/>
            <a:endCxn id="3630" idx="0"/>
          </p:cNvCxnSpPr>
          <p:nvPr/>
        </p:nvCxnSpPr>
        <p:spPr>
          <a:xfrm>
            <a:off x="5885477" y="871906"/>
            <a:ext cx="208500" cy="33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4" name="Google Shape;3654;p156"/>
          <p:cNvSpPr txBox="1"/>
          <p:nvPr/>
        </p:nvSpPr>
        <p:spPr>
          <a:xfrm>
            <a:off x="3101874" y="488900"/>
            <a:ext cx="5823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COA Required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3655" name="Google Shape;3655;p156"/>
          <p:cNvCxnSpPr>
            <a:stCxn id="3643" idx="3"/>
            <a:endCxn id="3630" idx="1"/>
          </p:cNvCxnSpPr>
          <p:nvPr/>
        </p:nvCxnSpPr>
        <p:spPr>
          <a:xfrm>
            <a:off x="3563585" y="1342087"/>
            <a:ext cx="2322000" cy="1977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6" name="Google Shape;3656;p156"/>
          <p:cNvSpPr txBox="1"/>
          <p:nvPr/>
        </p:nvSpPr>
        <p:spPr>
          <a:xfrm>
            <a:off x="3812462" y="1336300"/>
            <a:ext cx="5823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COA Not Required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3657" name="Google Shape;3657;p156"/>
          <p:cNvCxnSpPr>
            <a:stCxn id="3630" idx="3"/>
            <a:endCxn id="3620" idx="0"/>
          </p:cNvCxnSpPr>
          <p:nvPr/>
        </p:nvCxnSpPr>
        <p:spPr>
          <a:xfrm>
            <a:off x="6302185" y="1539712"/>
            <a:ext cx="222600" cy="1104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8" name="Google Shape;3658;p156"/>
          <p:cNvCxnSpPr>
            <a:stCxn id="3637" idx="3"/>
            <a:endCxn id="3620" idx="1"/>
          </p:cNvCxnSpPr>
          <p:nvPr/>
        </p:nvCxnSpPr>
        <p:spPr>
          <a:xfrm>
            <a:off x="3285227" y="2972406"/>
            <a:ext cx="3031200" cy="60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9" name="Google Shape;3659;p156"/>
          <p:cNvCxnSpPr>
            <a:stCxn id="3636" idx="3"/>
            <a:endCxn id="3616" idx="2"/>
          </p:cNvCxnSpPr>
          <p:nvPr/>
        </p:nvCxnSpPr>
        <p:spPr>
          <a:xfrm flipH="1" rot="10800000">
            <a:off x="2909302" y="3306256"/>
            <a:ext cx="4230000" cy="531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0" name="Google Shape;3660;p156"/>
          <p:cNvSpPr/>
          <p:nvPr/>
        </p:nvSpPr>
        <p:spPr>
          <a:xfrm>
            <a:off x="2278424" y="4275450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QI01</a:t>
            </a:r>
            <a:endParaRPr sz="1000"/>
          </a:p>
        </p:txBody>
      </p:sp>
      <p:sp>
        <p:nvSpPr>
          <p:cNvPr id="3661" name="Google Shape;3661;p156"/>
          <p:cNvSpPr/>
          <p:nvPr/>
        </p:nvSpPr>
        <p:spPr>
          <a:xfrm>
            <a:off x="2693924" y="2298200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QV51</a:t>
            </a:r>
            <a:endParaRPr sz="1000"/>
          </a:p>
        </p:txBody>
      </p:sp>
      <p:sp>
        <p:nvSpPr>
          <p:cNvPr id="3662" name="Google Shape;3662;p156"/>
          <p:cNvSpPr/>
          <p:nvPr/>
        </p:nvSpPr>
        <p:spPr>
          <a:xfrm>
            <a:off x="3808824" y="237200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QC01</a:t>
            </a:r>
            <a:endParaRPr sz="1000"/>
          </a:p>
        </p:txBody>
      </p:sp>
      <p:sp>
        <p:nvSpPr>
          <p:cNvPr id="3663" name="Google Shape;3663;p156"/>
          <p:cNvSpPr/>
          <p:nvPr/>
        </p:nvSpPr>
        <p:spPr>
          <a:xfrm>
            <a:off x="4520924" y="237200"/>
            <a:ext cx="559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QC15</a:t>
            </a:r>
            <a:endParaRPr sz="1000"/>
          </a:p>
        </p:txBody>
      </p:sp>
      <p:sp>
        <p:nvSpPr>
          <p:cNvPr id="3664" name="Google Shape;3664;p156"/>
          <p:cNvSpPr/>
          <p:nvPr/>
        </p:nvSpPr>
        <p:spPr>
          <a:xfrm>
            <a:off x="5294175" y="237200"/>
            <a:ext cx="622800" cy="251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MBC1</a:t>
            </a:r>
            <a:endParaRPr sz="1000"/>
          </a:p>
        </p:txBody>
      </p:sp>
      <p:sp>
        <p:nvSpPr>
          <p:cNvPr id="3665" name="Google Shape;3665;p156"/>
          <p:cNvSpPr/>
          <p:nvPr/>
        </p:nvSpPr>
        <p:spPr>
          <a:xfrm>
            <a:off x="8091100" y="89775"/>
            <a:ext cx="833400" cy="448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66AB8D4095E434AAD3F64AC48696A76" ma:contentTypeVersion="19" ma:contentTypeDescription="Skapa ett nytt dokument." ma:contentTypeScope="" ma:versionID="1c2739762313bddaadd1f8e01b64ae35">
  <xsd:schema xmlns:xsd="http://www.w3.org/2001/XMLSchema" xmlns:xs="http://www.w3.org/2001/XMLSchema" xmlns:p="http://schemas.microsoft.com/office/2006/metadata/properties" xmlns:ns2="8071b00d-169a-4403-a466-ef851835948e" xmlns:ns3="315b5453-8dcd-4c39-8cc3-24adc0c558d5" targetNamespace="http://schemas.microsoft.com/office/2006/metadata/properties" ma:root="true" ma:fieldsID="8e840cb0192f4c4e884b15a99451dd5d" ns2:_="" ns3:_="">
    <xsd:import namespace="8071b00d-169a-4403-a466-ef851835948e"/>
    <xsd:import namespace="315b5453-8dcd-4c39-8cc3-24adc0c558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1b00d-169a-4403-a466-ef8518359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b2a6239-36ed-4ed1-a895-3ca8a7215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b5453-8dcd-4c39-8cc3-24adc0c558d5" elementFormDefault="qualified">
    <xsd:import namespace="http://schemas.microsoft.com/office/2006/documentManagement/types"/>
    <xsd:import namespace="http://schemas.microsoft.com/office/infopath/2007/PartnerControls"/>
    <xsd:element name="SharedWithUsers" ma:index="7" nillable="true" ma:displayName="Delat med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8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94384b00-5830-4b7e-916c-25e38e08925b}" ma:internalName="TaxCatchAll" ma:showField="CatchAllData" ma:web="315b5453-8dcd-4c39-8cc3-24adc0c558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71b00d-169a-4403-a466-ef851835948e">
      <Terms xmlns="http://schemas.microsoft.com/office/infopath/2007/PartnerControls"/>
    </lcf76f155ced4ddcb4097134ff3c332f>
    <TaxCatchAll xmlns="315b5453-8dcd-4c39-8cc3-24adc0c558d5" xsi:nil="true"/>
  </documentManagement>
</p:properties>
</file>

<file path=customXml/itemProps1.xml><?xml version="1.0" encoding="utf-8"?>
<ds:datastoreItem xmlns:ds="http://schemas.openxmlformats.org/officeDocument/2006/customXml" ds:itemID="{4A2EF2C7-0122-40CA-9FAF-AB243F9F6A78}"/>
</file>

<file path=customXml/itemProps2.xml><?xml version="1.0" encoding="utf-8"?>
<ds:datastoreItem xmlns:ds="http://schemas.openxmlformats.org/officeDocument/2006/customXml" ds:itemID="{5706B200-CA7A-4446-B1CC-C409599896CA}"/>
</file>

<file path=customXml/itemProps3.xml><?xml version="1.0" encoding="utf-8"?>
<ds:datastoreItem xmlns:ds="http://schemas.openxmlformats.org/officeDocument/2006/customXml" ds:itemID="{5AC51832-B425-45B1-BFF5-CA10C91137CA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0x010100066AB8D4095E434AAD3F64AC48696A76</vt:lpwstr>
  </property>
  <property fmtid="{D5CDD505-2E9C-101B-9397-08002B2CF9AE}" pid="3" name="Order">
    <vt:r8>3200</vt:r8>
  </property>
  <property fmtid="{D5CDD505-2E9C-101B-9397-08002B2CF9AE}" pid="4" name="MediaServiceImageTags">
    <vt:lpwstr/>
  </property>
</Properties>
</file>